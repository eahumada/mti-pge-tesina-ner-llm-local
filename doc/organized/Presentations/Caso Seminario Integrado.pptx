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jRT+DlqvKqLRFVqB+LuRTWIMrm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19" name="Google Shape;19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27440" y="221906"/>
            <a:ext cx="3131599" cy="60714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8"/>
          <p:cNvSpPr/>
          <p:nvPr/>
        </p:nvSpPr>
        <p:spPr>
          <a:xfrm>
            <a:off x="0" y="6228522"/>
            <a:ext cx="12192000" cy="629478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8"/>
          <p:cNvSpPr txBox="1"/>
          <p:nvPr>
            <p:ph idx="10" type="dt"/>
          </p:nvPr>
        </p:nvSpPr>
        <p:spPr>
          <a:xfrm>
            <a:off x="838200" y="6356350"/>
            <a:ext cx="206141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1" type="ftr"/>
          </p:nvPr>
        </p:nvSpPr>
        <p:spPr>
          <a:xfrm>
            <a:off x="3128211" y="6356350"/>
            <a:ext cx="611204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2" type="sldNum"/>
          </p:nvPr>
        </p:nvSpPr>
        <p:spPr>
          <a:xfrm>
            <a:off x="9781674" y="6356350"/>
            <a:ext cx="15721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24" name="Google Shape;2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040" y="0"/>
            <a:ext cx="3954297" cy="11487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8" name="Google Shape;28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0" name="Google Shape;30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9"/>
          <p:cNvSpPr/>
          <p:nvPr/>
        </p:nvSpPr>
        <p:spPr>
          <a:xfrm>
            <a:off x="0" y="6228522"/>
            <a:ext cx="12192000" cy="629478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9"/>
          <p:cNvSpPr txBox="1"/>
          <p:nvPr>
            <p:ph idx="10" type="dt"/>
          </p:nvPr>
        </p:nvSpPr>
        <p:spPr>
          <a:xfrm>
            <a:off x="838200" y="6356350"/>
            <a:ext cx="184484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1" type="ftr"/>
          </p:nvPr>
        </p:nvSpPr>
        <p:spPr>
          <a:xfrm>
            <a:off x="3140243" y="6356350"/>
            <a:ext cx="63165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10034336" y="6356350"/>
            <a:ext cx="1319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35" name="Google Shape;35;p9"/>
          <p:cNvPicPr preferRelativeResize="0"/>
          <p:nvPr/>
        </p:nvPicPr>
        <p:blipFill rotWithShape="1">
          <a:blip r:embed="rId2">
            <a:alphaModFix/>
          </a:blip>
          <a:srcRect b="0" l="0" r="43116" t="0"/>
          <a:stretch/>
        </p:blipFill>
        <p:spPr>
          <a:xfrm>
            <a:off x="10566400" y="16913"/>
            <a:ext cx="1524000" cy="519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0"/>
          <p:cNvSpPr/>
          <p:nvPr/>
        </p:nvSpPr>
        <p:spPr>
          <a:xfrm>
            <a:off x="0" y="6228522"/>
            <a:ext cx="12192000" cy="629478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0"/>
          <p:cNvSpPr txBox="1"/>
          <p:nvPr>
            <p:ph idx="10" type="dt"/>
          </p:nvPr>
        </p:nvSpPr>
        <p:spPr>
          <a:xfrm>
            <a:off x="838200" y="6356350"/>
            <a:ext cx="206141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1" type="ftr"/>
          </p:nvPr>
        </p:nvSpPr>
        <p:spPr>
          <a:xfrm>
            <a:off x="3296653" y="6356350"/>
            <a:ext cx="59917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9817768" y="6356350"/>
            <a:ext cx="15360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43" name="Google Shape;43;p10"/>
          <p:cNvPicPr preferRelativeResize="0"/>
          <p:nvPr/>
        </p:nvPicPr>
        <p:blipFill rotWithShape="1">
          <a:blip r:embed="rId2">
            <a:alphaModFix/>
          </a:blip>
          <a:srcRect b="0" l="0" r="43116" t="0"/>
          <a:stretch/>
        </p:blipFill>
        <p:spPr>
          <a:xfrm>
            <a:off x="10566400" y="16913"/>
            <a:ext cx="1524000" cy="519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/>
          <p:nvPr/>
        </p:nvSpPr>
        <p:spPr>
          <a:xfrm>
            <a:off x="0" y="6228522"/>
            <a:ext cx="12192000" cy="629478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51" name="Google Shape;5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27440" y="221906"/>
            <a:ext cx="3131599" cy="607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040" y="0"/>
            <a:ext cx="3954297" cy="11487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contenidos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2"/>
          <p:cNvSpPr/>
          <p:nvPr/>
        </p:nvSpPr>
        <p:spPr>
          <a:xfrm>
            <a:off x="0" y="6228522"/>
            <a:ext cx="12192000" cy="629478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838200" y="6356350"/>
            <a:ext cx="1880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3200401" y="6356350"/>
            <a:ext cx="62564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10046368" y="6356350"/>
            <a:ext cx="13074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61" name="Google Shape;61;p12"/>
          <p:cNvPicPr preferRelativeResize="0"/>
          <p:nvPr/>
        </p:nvPicPr>
        <p:blipFill rotWithShape="1">
          <a:blip r:embed="rId2">
            <a:alphaModFix/>
          </a:blip>
          <a:srcRect b="0" l="0" r="43116" t="0"/>
          <a:stretch/>
        </p:blipFill>
        <p:spPr>
          <a:xfrm>
            <a:off x="10566400" y="16913"/>
            <a:ext cx="1524000" cy="519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1" sz="36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/>
          <p:nvPr/>
        </p:nvSpPr>
        <p:spPr>
          <a:xfrm>
            <a:off x="0" y="6228522"/>
            <a:ext cx="12192000" cy="629478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838200" y="6356350"/>
            <a:ext cx="19531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3248525" y="6356350"/>
            <a:ext cx="626845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10022304" y="6356350"/>
            <a:ext cx="13314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68" name="Google Shape;68;p13"/>
          <p:cNvPicPr preferRelativeResize="0"/>
          <p:nvPr/>
        </p:nvPicPr>
        <p:blipFill rotWithShape="1">
          <a:blip r:embed="rId2">
            <a:alphaModFix/>
          </a:blip>
          <a:srcRect b="0" l="0" r="43116" t="0"/>
          <a:stretch/>
        </p:blipFill>
        <p:spPr>
          <a:xfrm>
            <a:off x="10566400" y="16913"/>
            <a:ext cx="1524000" cy="519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/>
          <p:nvPr/>
        </p:nvSpPr>
        <p:spPr>
          <a:xfrm>
            <a:off x="0" y="6228522"/>
            <a:ext cx="12192000" cy="629478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 rotWithShape="1">
          <a:blip r:embed="rId2">
            <a:alphaModFix/>
          </a:blip>
          <a:srcRect b="0" l="0" r="43116" t="0"/>
          <a:stretch/>
        </p:blipFill>
        <p:spPr>
          <a:xfrm>
            <a:off x="10566400" y="16913"/>
            <a:ext cx="1524000" cy="519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7"/>
          <p:cNvSpPr/>
          <p:nvPr/>
        </p:nvSpPr>
        <p:spPr>
          <a:xfrm>
            <a:off x="0" y="6228522"/>
            <a:ext cx="12192000" cy="629478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7"/>
          <p:cNvSpPr txBox="1"/>
          <p:nvPr>
            <p:ph idx="10" type="dt"/>
          </p:nvPr>
        </p:nvSpPr>
        <p:spPr>
          <a:xfrm>
            <a:off x="838200" y="6356350"/>
            <a:ext cx="22329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1" type="ftr"/>
          </p:nvPr>
        </p:nvSpPr>
        <p:spPr>
          <a:xfrm>
            <a:off x="3365499" y="6356350"/>
            <a:ext cx="6172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7"/>
          <p:cNvSpPr txBox="1"/>
          <p:nvPr>
            <p:ph idx="12" type="sldNum"/>
          </p:nvPr>
        </p:nvSpPr>
        <p:spPr>
          <a:xfrm>
            <a:off x="9626600" y="6356350"/>
            <a:ext cx="17271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s-CL" sz="3259"/>
              <a:t>Trabajo grupal:</a:t>
            </a:r>
            <a:br>
              <a:rPr lang="es-CL" sz="3259"/>
            </a:br>
            <a:r>
              <a:rPr lang="es-CL" sz="3259"/>
              <a:t>“</a:t>
            </a:r>
            <a:r>
              <a:rPr lang="es-CL" sz="3259"/>
              <a:t>Clasificación y Extracción de Entidades Nombradas (NER) en Noticias de Cumplimiento Normativo en Empresas Mediante RAG y un Modelo de Lenguaje Grande (LLM) usando ollama</a:t>
            </a:r>
            <a:r>
              <a:rPr lang="es-CL" sz="3259"/>
              <a:t>”</a:t>
            </a:r>
            <a:endParaRPr sz="3259"/>
          </a:p>
        </p:txBody>
      </p:sp>
      <p:sp>
        <p:nvSpPr>
          <p:cNvPr id="80" name="Google Shape;80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CL" u="sng"/>
              <a:t>INTEGRANTES DE GRUPO: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CL"/>
              <a:t>Eduardo Ahumada, Francisco Cristi, Hugo Jara, Amador Zamora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CL"/>
              <a:t>18 de octubre de 2025</a:t>
            </a:r>
            <a:endParaRPr/>
          </a:p>
        </p:txBody>
      </p:sp>
      <p:sp>
        <p:nvSpPr>
          <p:cNvPr id="81" name="Google Shape;81;p1"/>
          <p:cNvSpPr txBox="1"/>
          <p:nvPr>
            <p:ph idx="10" type="dt"/>
          </p:nvPr>
        </p:nvSpPr>
        <p:spPr>
          <a:xfrm>
            <a:off x="838200" y="6356350"/>
            <a:ext cx="206141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Prof. RMA &amp; MVZ</a:t>
            </a:r>
            <a:endParaRPr/>
          </a:p>
        </p:txBody>
      </p:sp>
      <p:sp>
        <p:nvSpPr>
          <p:cNvPr id="82" name="Google Shape;82;p1"/>
          <p:cNvSpPr txBox="1"/>
          <p:nvPr>
            <p:ph idx="12" type="sldNum"/>
          </p:nvPr>
        </p:nvSpPr>
        <p:spPr>
          <a:xfrm>
            <a:off x="9781674" y="6356350"/>
            <a:ext cx="15721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83" name="Google Shape;83;p1"/>
          <p:cNvSpPr txBox="1"/>
          <p:nvPr>
            <p:ph idx="11" type="ftr"/>
          </p:nvPr>
        </p:nvSpPr>
        <p:spPr>
          <a:xfrm>
            <a:off x="3056021" y="6356350"/>
            <a:ext cx="64128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Seminario Integrado de Investigación &amp; Graduación 2025 - PGE-25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 txBox="1"/>
          <p:nvPr>
            <p:ph type="title"/>
          </p:nvPr>
        </p:nvSpPr>
        <p:spPr>
          <a:xfrm>
            <a:off x="839788" y="365125"/>
            <a:ext cx="10515600" cy="9766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CL"/>
              <a:t>1 Problema: </a:t>
            </a:r>
            <a:endParaRPr/>
          </a:p>
        </p:txBody>
      </p:sp>
      <p:sp>
        <p:nvSpPr>
          <p:cNvPr id="89" name="Google Shape;89;p2"/>
          <p:cNvSpPr txBox="1"/>
          <p:nvPr>
            <p:ph idx="1" type="body"/>
          </p:nvPr>
        </p:nvSpPr>
        <p:spPr>
          <a:xfrm>
            <a:off x="836612" y="1350546"/>
            <a:ext cx="5157787" cy="4845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CL"/>
              <a:t>Dominio de aplicación</a:t>
            </a:r>
            <a:endParaRPr/>
          </a:p>
        </p:txBody>
      </p:sp>
      <p:sp>
        <p:nvSpPr>
          <p:cNvPr id="90" name="Google Shape;90;p2"/>
          <p:cNvSpPr txBox="1"/>
          <p:nvPr>
            <p:ph idx="2" type="body"/>
          </p:nvPr>
        </p:nvSpPr>
        <p:spPr>
          <a:xfrm>
            <a:off x="839788" y="2001754"/>
            <a:ext cx="5157787" cy="4187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00"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s-CL" sz="1800"/>
              <a:t>Instituciones financieras y empresas bajo normativas KYC que requieren identificar riesgos reputacionales y de cumplimiento a partir de información pública. Además de Personas Políticamente Expuestas</a:t>
            </a:r>
            <a:endParaRPr sz="500">
              <a:latin typeface="Arial"/>
              <a:ea typeface="Arial"/>
              <a:cs typeface="Arial"/>
              <a:sym typeface="Arial"/>
            </a:endParaRPr>
          </a:p>
          <a:p>
            <a:pPr indent="0" lvl="0" marL="152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91" name="Google Shape;91;p2"/>
          <p:cNvSpPr txBox="1"/>
          <p:nvPr>
            <p:ph idx="3" type="body"/>
          </p:nvPr>
        </p:nvSpPr>
        <p:spPr>
          <a:xfrm>
            <a:off x="6170612" y="1350546"/>
            <a:ext cx="5183188" cy="4845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CL"/>
              <a:t>Dominio técnico</a:t>
            </a:r>
            <a:endParaRPr/>
          </a:p>
        </p:txBody>
      </p:sp>
      <p:sp>
        <p:nvSpPr>
          <p:cNvPr id="92" name="Google Shape;92;p2"/>
          <p:cNvSpPr txBox="1"/>
          <p:nvPr>
            <p:ph idx="4" type="body"/>
          </p:nvPr>
        </p:nvSpPr>
        <p:spPr>
          <a:xfrm>
            <a:off x="6126750" y="2001754"/>
            <a:ext cx="5183100" cy="41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s-CL" sz="1800"/>
              <a:t>Radica en procesar grandes </a:t>
            </a:r>
            <a:r>
              <a:rPr lang="es-CL" sz="1800"/>
              <a:t>volúmenes</a:t>
            </a:r>
            <a:r>
              <a:rPr lang="es-CL" sz="1800"/>
              <a:t> de </a:t>
            </a:r>
            <a:r>
              <a:rPr lang="es-CL" sz="1800"/>
              <a:t>noticias</a:t>
            </a:r>
            <a:r>
              <a:rPr lang="es-CL" sz="1800"/>
              <a:t> provenientes de fuentes </a:t>
            </a:r>
            <a:r>
              <a:rPr lang="es-CL" sz="1800"/>
              <a:t>públicas</a:t>
            </a:r>
            <a:r>
              <a:rPr lang="es-CL" sz="1800"/>
              <a:t> y extraer de manera </a:t>
            </a:r>
            <a:r>
              <a:rPr lang="es-CL" sz="1800"/>
              <a:t>automática</a:t>
            </a:r>
            <a:r>
              <a:rPr lang="es-CL" sz="1800"/>
              <a:t> entidades </a:t>
            </a:r>
            <a:r>
              <a:rPr lang="es-CL" sz="1800"/>
              <a:t>relevantes</a:t>
            </a:r>
            <a:r>
              <a:rPr lang="es-CL" sz="1800"/>
              <a:t> con alta precisión, superior a la </a:t>
            </a:r>
            <a:r>
              <a:rPr lang="es-CL" sz="1800"/>
              <a:t>extracción</a:t>
            </a:r>
            <a:r>
              <a:rPr lang="es-CL" sz="1800"/>
              <a:t> humana manual actual.</a:t>
            </a:r>
            <a:endParaRPr sz="1800"/>
          </a:p>
        </p:txBody>
      </p:sp>
      <p:sp>
        <p:nvSpPr>
          <p:cNvPr id="93" name="Google Shape;93;p2"/>
          <p:cNvSpPr txBox="1"/>
          <p:nvPr>
            <p:ph idx="10" type="dt"/>
          </p:nvPr>
        </p:nvSpPr>
        <p:spPr>
          <a:xfrm>
            <a:off x="838200" y="6356350"/>
            <a:ext cx="184484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Prof. RMA &amp; MVZ</a:t>
            </a:r>
            <a:endParaRPr/>
          </a:p>
        </p:txBody>
      </p:sp>
      <p:sp>
        <p:nvSpPr>
          <p:cNvPr id="94" name="Google Shape;94;p2"/>
          <p:cNvSpPr txBox="1"/>
          <p:nvPr>
            <p:ph idx="11" type="ftr"/>
          </p:nvPr>
        </p:nvSpPr>
        <p:spPr>
          <a:xfrm>
            <a:off x="3140243" y="6356350"/>
            <a:ext cx="63165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Seminario Integrado de Investigación &amp; Graduación 2025 - PGE-25</a:t>
            </a:r>
            <a:endParaRPr/>
          </a:p>
        </p:txBody>
      </p:sp>
      <p:sp>
        <p:nvSpPr>
          <p:cNvPr id="95" name="Google Shape;95;p2"/>
          <p:cNvSpPr txBox="1"/>
          <p:nvPr>
            <p:ph idx="12" type="sldNum"/>
          </p:nvPr>
        </p:nvSpPr>
        <p:spPr>
          <a:xfrm>
            <a:off x="10034336" y="6356350"/>
            <a:ext cx="1319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839788" y="365125"/>
            <a:ext cx="10515600" cy="9766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CL"/>
              <a:t>2. Propuesta de solución: </a:t>
            </a:r>
            <a:endParaRPr/>
          </a:p>
        </p:txBody>
      </p:sp>
      <p:sp>
        <p:nvSpPr>
          <p:cNvPr id="101" name="Google Shape;101;p3"/>
          <p:cNvSpPr txBox="1"/>
          <p:nvPr>
            <p:ph idx="1" type="body"/>
          </p:nvPr>
        </p:nvSpPr>
        <p:spPr>
          <a:xfrm>
            <a:off x="836612" y="1350546"/>
            <a:ext cx="5157787" cy="4845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L"/>
              <a:t>Estrategia y objetivo de la solución</a:t>
            </a:r>
            <a:endParaRPr/>
          </a:p>
        </p:txBody>
      </p:sp>
      <p:sp>
        <p:nvSpPr>
          <p:cNvPr id="102" name="Google Shape;102;p3"/>
          <p:cNvSpPr txBox="1"/>
          <p:nvPr>
            <p:ph idx="2" type="body"/>
          </p:nvPr>
        </p:nvSpPr>
        <p:spPr>
          <a:xfrm>
            <a:off x="839788" y="2001754"/>
            <a:ext cx="5157787" cy="4187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s-CL" sz="1800">
                <a:latin typeface="Arial"/>
                <a:ea typeface="Arial"/>
                <a:cs typeface="Arial"/>
                <a:sym typeface="Arial"/>
              </a:rPr>
              <a:t>Diseñar, implementar y validar una arquitectura RAG/LLM en Python, basada en modelos de código abierto ejecutados con Ollama, que permita analizar noticias en español y realizar extracción automatizada de entidades (NER).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s-CL" sz="1800">
                <a:latin typeface="Arial"/>
                <a:ea typeface="Arial"/>
                <a:cs typeface="Arial"/>
                <a:sym typeface="Arial"/>
              </a:rPr>
              <a:t>El objetivo es superar el rendimiento humano en precisión y exhaustividad, habilitando la automatización confiable de tareas de cumplimiento normativo.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 txBox="1"/>
          <p:nvPr>
            <p:ph idx="3" type="body"/>
          </p:nvPr>
        </p:nvSpPr>
        <p:spPr>
          <a:xfrm>
            <a:off x="6170612" y="1350546"/>
            <a:ext cx="5183188" cy="4845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L"/>
              <a:t>Producto esperado e innovación de la tesina</a:t>
            </a:r>
            <a:endParaRPr/>
          </a:p>
        </p:txBody>
      </p:sp>
      <p:sp>
        <p:nvSpPr>
          <p:cNvPr id="104" name="Google Shape;104;p3"/>
          <p:cNvSpPr txBox="1"/>
          <p:nvPr>
            <p:ph idx="4" type="body"/>
          </p:nvPr>
        </p:nvSpPr>
        <p:spPr>
          <a:xfrm>
            <a:off x="6172200" y="2001754"/>
            <a:ext cx="5183188" cy="4187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s-CL" sz="1800">
                <a:latin typeface="Arial"/>
                <a:ea typeface="Arial"/>
                <a:cs typeface="Arial"/>
                <a:sym typeface="Arial"/>
              </a:rPr>
              <a:t>Un sistema distribuido que procese noticias y entregue resultados estructurados con entidades identificadas y vinculadas, listos para comparación automática con bases internas de instituciones financieras.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s-CL" sz="1800">
                <a:latin typeface="Arial"/>
                <a:ea typeface="Arial"/>
                <a:cs typeface="Arial"/>
                <a:sym typeface="Arial"/>
              </a:rPr>
              <a:t>La innovación radica en el uso de LLMs open source combinados con RAG, logrando precisión contextual sin depender de datos privados o modelos propietarios, aplicable a escenarios reales de </a:t>
            </a:r>
            <a:r>
              <a:rPr i="1" lang="es-CL" sz="1800">
                <a:latin typeface="Arial"/>
                <a:ea typeface="Arial"/>
                <a:cs typeface="Arial"/>
                <a:sym typeface="Arial"/>
              </a:rPr>
              <a:t>compliance</a:t>
            </a:r>
            <a:r>
              <a:rPr lang="es-CL" sz="1800"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 txBox="1"/>
          <p:nvPr>
            <p:ph idx="10" type="dt"/>
          </p:nvPr>
        </p:nvSpPr>
        <p:spPr>
          <a:xfrm>
            <a:off x="838200" y="6356350"/>
            <a:ext cx="184484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Prof. RMA &amp; MVZ</a:t>
            </a:r>
            <a:endParaRPr/>
          </a:p>
        </p:txBody>
      </p:sp>
      <p:sp>
        <p:nvSpPr>
          <p:cNvPr id="106" name="Google Shape;106;p3"/>
          <p:cNvSpPr txBox="1"/>
          <p:nvPr>
            <p:ph idx="11" type="ftr"/>
          </p:nvPr>
        </p:nvSpPr>
        <p:spPr>
          <a:xfrm>
            <a:off x="3248526" y="6356350"/>
            <a:ext cx="62443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Seminario Integrado de Investigación &amp; Graduación 2025 - PGE-25</a:t>
            </a:r>
            <a:endParaRPr/>
          </a:p>
        </p:txBody>
      </p:sp>
      <p:sp>
        <p:nvSpPr>
          <p:cNvPr id="107" name="Google Shape;107;p3"/>
          <p:cNvSpPr txBox="1"/>
          <p:nvPr>
            <p:ph idx="12" type="sldNum"/>
          </p:nvPr>
        </p:nvSpPr>
        <p:spPr>
          <a:xfrm>
            <a:off x="10034336" y="6356350"/>
            <a:ext cx="1319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>
            <p:ph type="title"/>
          </p:nvPr>
        </p:nvSpPr>
        <p:spPr>
          <a:xfrm>
            <a:off x="839788" y="365125"/>
            <a:ext cx="10515600" cy="9766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CL"/>
              <a:t>3. Fundamentación teórica: </a:t>
            </a:r>
            <a:endParaRPr/>
          </a:p>
        </p:txBody>
      </p:sp>
      <p:sp>
        <p:nvSpPr>
          <p:cNvPr id="113" name="Google Shape;113;p4"/>
          <p:cNvSpPr txBox="1"/>
          <p:nvPr>
            <p:ph idx="1" type="body"/>
          </p:nvPr>
        </p:nvSpPr>
        <p:spPr>
          <a:xfrm>
            <a:off x="836612" y="1350546"/>
            <a:ext cx="5157787" cy="4845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CL"/>
              <a:t>Marco teórico</a:t>
            </a:r>
            <a:endParaRPr/>
          </a:p>
        </p:txBody>
      </p:sp>
      <p:sp>
        <p:nvSpPr>
          <p:cNvPr id="114" name="Google Shape;114;p4"/>
          <p:cNvSpPr txBox="1"/>
          <p:nvPr>
            <p:ph idx="2" type="body"/>
          </p:nvPr>
        </p:nvSpPr>
        <p:spPr>
          <a:xfrm>
            <a:off x="839788" y="2001754"/>
            <a:ext cx="5157787" cy="4187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Los temas te</a:t>
            </a:r>
            <a:r>
              <a:rPr lang="es-CL"/>
              <a:t>ó</a:t>
            </a:r>
            <a:r>
              <a:rPr lang="es-CL"/>
              <a:t>ricos a desarrollar son: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s-CL"/>
              <a:t>Reconocimiento de Entidades nombradas (NER)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s-CL"/>
              <a:t>Modelo de Lenguaje Grande (LLM)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s-CL"/>
              <a:t>Generaci</a:t>
            </a:r>
            <a:r>
              <a:rPr lang="es-CL"/>
              <a:t>ó</a:t>
            </a:r>
            <a:r>
              <a:rPr lang="es-CL"/>
              <a:t>n Aumentada por Recuperaci</a:t>
            </a:r>
            <a:r>
              <a:rPr lang="es-CL"/>
              <a:t>ó</a:t>
            </a:r>
            <a:r>
              <a:rPr lang="es-CL"/>
              <a:t>n (RAG)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 txBox="1"/>
          <p:nvPr>
            <p:ph idx="3" type="body"/>
          </p:nvPr>
        </p:nvSpPr>
        <p:spPr>
          <a:xfrm>
            <a:off x="6170612" y="1350546"/>
            <a:ext cx="5183188" cy="4845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CL"/>
              <a:t>Estado del arte/práctica</a:t>
            </a:r>
            <a:endParaRPr/>
          </a:p>
        </p:txBody>
      </p:sp>
      <p:sp>
        <p:nvSpPr>
          <p:cNvPr id="116" name="Google Shape;116;p4"/>
          <p:cNvSpPr txBox="1"/>
          <p:nvPr>
            <p:ph idx="4" type="body"/>
          </p:nvPr>
        </p:nvSpPr>
        <p:spPr>
          <a:xfrm>
            <a:off x="6172200" y="2001754"/>
            <a:ext cx="5183188" cy="4187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52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CL"/>
              <a:t>Existen empresas que brindan el servicio de compliance, a trav</a:t>
            </a:r>
            <a:r>
              <a:rPr lang="es-CL"/>
              <a:t>és del análisis de noticias a través de conocimiento experto (humano).</a:t>
            </a:r>
            <a:endParaRPr/>
          </a:p>
        </p:txBody>
      </p:sp>
      <p:sp>
        <p:nvSpPr>
          <p:cNvPr id="117" name="Google Shape;117;p4"/>
          <p:cNvSpPr txBox="1"/>
          <p:nvPr>
            <p:ph idx="10" type="dt"/>
          </p:nvPr>
        </p:nvSpPr>
        <p:spPr>
          <a:xfrm>
            <a:off x="838200" y="6356350"/>
            <a:ext cx="184484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Prof. RMA &amp; MVZ</a:t>
            </a:r>
            <a:endParaRPr/>
          </a:p>
        </p:txBody>
      </p:sp>
      <p:sp>
        <p:nvSpPr>
          <p:cNvPr id="118" name="Google Shape;118;p4"/>
          <p:cNvSpPr txBox="1"/>
          <p:nvPr>
            <p:ph idx="11" type="ftr"/>
          </p:nvPr>
        </p:nvSpPr>
        <p:spPr>
          <a:xfrm>
            <a:off x="3128211" y="6356350"/>
            <a:ext cx="60278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Seminario Integrado de Investigación &amp; Graduación 2025 - PGE-25</a:t>
            </a:r>
            <a:endParaRPr/>
          </a:p>
        </p:txBody>
      </p:sp>
      <p:sp>
        <p:nvSpPr>
          <p:cNvPr id="119" name="Google Shape;119;p4"/>
          <p:cNvSpPr txBox="1"/>
          <p:nvPr>
            <p:ph idx="12" type="sldNum"/>
          </p:nvPr>
        </p:nvSpPr>
        <p:spPr>
          <a:xfrm>
            <a:off x="10034336" y="6356350"/>
            <a:ext cx="1319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CL"/>
              <a:t>4. Hipótesis de trabajo</a:t>
            </a:r>
            <a:endParaRPr/>
          </a:p>
        </p:txBody>
      </p:sp>
      <p:sp>
        <p:nvSpPr>
          <p:cNvPr id="125" name="Google Shape;125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CL" sz="1800"/>
              <a:t>La implementación de un sistema de Generación Aumentada por Recuperación (RAG) con un Modelo de Lenguaje Grande (LLM), utilizando cada noticia como fuente de contexto, logrará una precisión y confiabilidad en la Extracción de Entidades Nombradas (NER) que es superior a la obtenida por los métodos de extracción manual humana, haciendo viable la automatización de alto riesgo en tareas de compliance</a:t>
            </a:r>
            <a:endParaRPr sz="1800"/>
          </a:p>
        </p:txBody>
      </p:sp>
      <p:sp>
        <p:nvSpPr>
          <p:cNvPr id="126" name="Google Shape;126;p5"/>
          <p:cNvSpPr txBox="1"/>
          <p:nvPr>
            <p:ph idx="10" type="dt"/>
          </p:nvPr>
        </p:nvSpPr>
        <p:spPr>
          <a:xfrm>
            <a:off x="838200" y="6356350"/>
            <a:ext cx="206141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Prof. RMA &amp; MVZ</a:t>
            </a:r>
            <a:endParaRPr/>
          </a:p>
        </p:txBody>
      </p:sp>
      <p:sp>
        <p:nvSpPr>
          <p:cNvPr id="127" name="Google Shape;127;p5"/>
          <p:cNvSpPr txBox="1"/>
          <p:nvPr>
            <p:ph idx="11" type="ftr"/>
          </p:nvPr>
        </p:nvSpPr>
        <p:spPr>
          <a:xfrm>
            <a:off x="3296653" y="6356350"/>
            <a:ext cx="59917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Seminario Integrado de Investigación &amp; Graduación 2025 - PGE-25</a:t>
            </a:r>
            <a:endParaRPr/>
          </a:p>
        </p:txBody>
      </p:sp>
      <p:sp>
        <p:nvSpPr>
          <p:cNvPr id="128" name="Google Shape;128;p5"/>
          <p:cNvSpPr txBox="1"/>
          <p:nvPr>
            <p:ph idx="12" type="sldNum"/>
          </p:nvPr>
        </p:nvSpPr>
        <p:spPr>
          <a:xfrm>
            <a:off x="9817768" y="6356350"/>
            <a:ext cx="15360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/>
          <p:nvPr>
            <p:ph type="title"/>
          </p:nvPr>
        </p:nvSpPr>
        <p:spPr>
          <a:xfrm>
            <a:off x="4527467" y="2766218"/>
            <a:ext cx="443444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CL"/>
              <a:t>¿Preguntas?</a:t>
            </a:r>
            <a:endParaRPr/>
          </a:p>
        </p:txBody>
      </p:sp>
      <p:sp>
        <p:nvSpPr>
          <p:cNvPr id="134" name="Google Shape;134;p6"/>
          <p:cNvSpPr txBox="1"/>
          <p:nvPr>
            <p:ph idx="10" type="dt"/>
          </p:nvPr>
        </p:nvSpPr>
        <p:spPr>
          <a:xfrm>
            <a:off x="838200" y="6356350"/>
            <a:ext cx="206141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Prof. RMA &amp; MVZ</a:t>
            </a:r>
            <a:endParaRPr/>
          </a:p>
        </p:txBody>
      </p:sp>
      <p:sp>
        <p:nvSpPr>
          <p:cNvPr id="135" name="Google Shape;135;p6"/>
          <p:cNvSpPr txBox="1"/>
          <p:nvPr>
            <p:ph idx="12" type="sldNum"/>
          </p:nvPr>
        </p:nvSpPr>
        <p:spPr>
          <a:xfrm>
            <a:off x="9817768" y="6356350"/>
            <a:ext cx="15360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136" name="Google Shape;136;p6"/>
          <p:cNvSpPr txBox="1"/>
          <p:nvPr>
            <p:ph idx="11" type="ftr"/>
          </p:nvPr>
        </p:nvSpPr>
        <p:spPr>
          <a:xfrm>
            <a:off x="3296653" y="6356350"/>
            <a:ext cx="59917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Seminario Integrado de Investigación &amp; Graduación 2025 - PGE-25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2018-03-27T22:25:44Z</dcterms:created>
  <dc:creator>Raul Monge</dc:creator>
</cp:coreProperties>
</file>