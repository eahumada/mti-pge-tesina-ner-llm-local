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94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69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Clasificación y Extracción de Entidades Nombradas (NER)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79141" y="2377440"/>
            <a:ext cx="86310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 err="1">
                <a:solidFill>
                  <a:srgbClr val="FFFFFF"/>
                </a:solidFill>
              </a:rPr>
              <a:t>en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contenido</a:t>
            </a:r>
            <a:r>
              <a:rPr lang="en-US" sz="2800" dirty="0">
                <a:solidFill>
                  <a:srgbClr val="FFFFFF"/>
                </a:solidFill>
              </a:rPr>
              <a:t> de </a:t>
            </a:r>
            <a:r>
              <a:rPr lang="en-US" sz="2800" dirty="0" err="1">
                <a:solidFill>
                  <a:srgbClr val="FFFFFF"/>
                </a:solidFill>
              </a:rPr>
              <a:t>cumplimiento</a:t>
            </a:r>
            <a:r>
              <a:rPr lang="en-US" sz="2800" dirty="0">
                <a:solidFill>
                  <a:srgbClr val="FFFFFF"/>
                </a:solidFill>
              </a:rPr>
              <a:t> </a:t>
            </a:r>
            <a:r>
              <a:rPr lang="en-US" sz="2800" dirty="0" err="1">
                <a:solidFill>
                  <a:srgbClr val="FFFFFF"/>
                </a:solidFill>
              </a:rPr>
              <a:t>normativo</a:t>
            </a:r>
            <a:br>
              <a:rPr lang="en-US" sz="2800" dirty="0">
                <a:solidFill>
                  <a:srgbClr val="FFFFFF"/>
                </a:solidFill>
              </a:rPr>
            </a:br>
            <a:r>
              <a:rPr lang="en-US" sz="2800" dirty="0">
                <a:solidFill>
                  <a:srgbClr val="FFFFFF"/>
                </a:solidFill>
              </a:rPr>
              <a:t> mediante RAG y LLM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108958"/>
            <a:ext cx="8229600" cy="2743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2F2F2"/>
                </a:solidFill>
              </a:rPr>
              <a:t>Eduardo Mauricio Ahumada Gallardo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2F2"/>
                </a:solidFill>
              </a:rPr>
              <a:t>Profesor Guía: José Luis Martí Lara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2F2"/>
                </a:solidFill>
              </a:rPr>
              <a:t>Organización Vinculada: </a:t>
            </a:r>
            <a:r>
              <a:rPr lang="en-US" sz="1400" dirty="0" err="1">
                <a:solidFill>
                  <a:srgbClr val="F2F2F2"/>
                </a:solidFill>
              </a:rPr>
              <a:t>AustraNet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D7D31"/>
                </a:solidFill>
              </a:rPr>
              <a:t>Seminario Integrado de Investigación y Graduación 2025 | Abril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0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Magíster en Tecnologías de la Información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3333"/>
                </a:solidFill>
              </a:rPr>
              <a:t>Diapositiva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199" y="731520"/>
            <a:ext cx="85158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5B6"/>
                </a:solidFill>
              </a:rPr>
              <a:t>Introducción, Problema y Propuesta de Solución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4572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3864"/>
                </a:solidFill>
              </a:rPr>
              <a:t>Ámbito del Problema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</a:rPr>
              <a:t>• Instituciones financieras chilenas necesitan automatizar cumplimiento normativo (Compliance)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</a:rPr>
              <a:t>• Gran volumen de noticias públicas requiere revisión manual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</a:rPr>
              <a:t>• Problema: extraer entidades (personas, organizaciones) con contexto semántico complejo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4572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3864"/>
                </a:solidFill>
              </a:rPr>
              <a:t>Solución Propuesta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</a:rPr>
              <a:t>• Sistema RAG (Retrieval-Augmented Generation)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</a:rPr>
              <a:t>• LLMs de código abierto (Gemma, DeepSeek, Llama)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</a:rPr>
              <a:t>• Ollama para ejecución local (sin fuga de datos)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</a:rPr>
              <a:t>• Enfoque innovador: 'contexto único' por noticia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4572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864"/>
                </a:solidFill>
              </a:rPr>
              <a:t>Importancia de Tecnologías de la Información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</a:rPr>
              <a:t>PLN (Procesamiento de Lenguaje Natural) • Sistemas Distribuidos • Inteligencia Artificial • Arquitectura RAG • Ingeniería de Prompts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8229600" cy="4572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864"/>
                </a:solidFill>
              </a:rPr>
              <a:t>Principales Contribuciones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546724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✓ Pipeline RAG para NER en compliance (español/LatAm)  ✓ Validación vs línea base humana  ✓ Comparación de 3 LLMs abiertos  ✓ Prototipo funcional para producción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0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Magíster en Tecnologías de la Información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3333"/>
                </a:solidFill>
              </a:rPr>
              <a:t>Diapositiva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5B6"/>
                </a:solidFill>
              </a:rPr>
              <a:t>Marco Teórico y Estado del Arte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4572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864"/>
                </a:solidFill>
              </a:rPr>
              <a:t>Conceptos Técnicos Fundamentales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</a:rPr>
              <a:t>NER (Named Entity Recognition):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</a:rPr>
              <a:t>Extracción de personas, organizaciones, ubicaciones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</a:rPr>
              <a:t>Transformers &amp; LLMs: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</a:rPr>
              <a:t>Arquitectura de atención, modelos generativos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</a:rPr>
              <a:t>RAG (Retrieval-Augmented Generation):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</a:rPr>
              <a:t>Lewis et al. (2020) - Mitigación de alucinaciones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4572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864"/>
                </a:solidFill>
              </a:rPr>
              <a:t>Estado del Arte vs Propuesta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</a:rPr>
              <a:t>Métodos previos: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</a:rPr>
              <a:t>✗ CRF (frágiles a variabilidad)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</a:rPr>
              <a:t>✗ BERT (requieren datos etiquetados)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</a:rPr>
              <a:t>✗ APIs propietarias (privacidad, costos)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</a:rPr>
              <a:t>Propuesta innovadora: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</a:rPr>
              <a:t>✓ LLMs locales + RAG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</a:rPr>
              <a:t>✓ Validación contra humanos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</a:rPr>
              <a:t>✓ Código abierto (Gemma, DeepSeek, Llama)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8229600" cy="4572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864"/>
                </a:solidFill>
              </a:rPr>
              <a:t>Referencias Clave (Últimos 3-4 años)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225964"/>
              </p:ext>
            </p:extLst>
          </p:nvPr>
        </p:nvGraphicFramePr>
        <p:xfrm>
          <a:off x="457200" y="3954037"/>
          <a:ext cx="8229600" cy="1189463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Lewis et al. (2020)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RAG for Knowledge-Intensive NLP Tasks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NeurIPS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Wu et al. (2023)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BloombergGPT - LLM para Finanzas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arXiv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Chang et al. (2024)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RAG para análisis financiero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Journal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0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Magíster en Tecnologías de la Información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3333"/>
                </a:solidFill>
              </a:rPr>
              <a:t>Diapositiva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5B6"/>
                </a:solidFill>
              </a:rPr>
              <a:t>Hipótesis de Trabajo y Metodología de Validación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4572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864"/>
                </a:solidFill>
              </a:rPr>
              <a:t>Hipótesis Principal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solidFill>
            <a:srgbClr val="F2F2F2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03864"/>
                </a:solidFill>
              </a:rPr>
              <a:t>Un sistema RAG + LLM logrará F1-Score SUPERIOR a la extracción manual humana en reconocimiento de entidades de compliance, haciendo viable la automatización de alto riesgo regulatorio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72C4"/>
                </a:solidFill>
              </a:rPr>
              <a:t>Variables Independientes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• Método de extracción: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  - Extracción manual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  - Gemma + RAG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  - DeepSeek + RAG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  - Llama + RAG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2834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72C4"/>
                </a:solidFill>
              </a:rPr>
              <a:t>Variables Dependientes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1546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• Precisión (% de aciertos)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• Recall (cobertura de entidades)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• F1-Score (métrica balanceada)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• Tasa de alucinación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• Tiempo de procesamiento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8229600" cy="4572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864"/>
                </a:solidFill>
              </a:rPr>
              <a:t>Metodología de Validación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3003" y="4343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</a:rPr>
              <a:t>1. Ground Truth: 100-150 noticias etiquetadas por 2 expertos (Cohen's Kappa &gt;0.75)  |  2. Línea Base Manual: Análisis por especialista compliance  |  3. Evaluación Comparativa: 3 LLMs vs Ground Truth  |  4. Análisis Estadístico: ANOVA + Tukey post-hoc (p&lt;0.05)  |  5. Validación en Producción: Feedback de stakeholders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0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Magíster en Tecnologías de la Información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3333"/>
                </a:solidFill>
              </a:rPr>
              <a:t>Diapositiva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5B6"/>
                </a:solidFill>
              </a:rPr>
              <a:t>Plan de Trabajo 2026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286000" cy="228600"/>
          </a:xfrm>
          <a:prstGeom prst="rect">
            <a:avLst/>
          </a:prstGeom>
          <a:solidFill>
            <a:srgbClr val="20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9047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Ene-Mar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1463040"/>
            <a:ext cx="1828800" cy="228600"/>
          </a:xfrm>
          <a:prstGeom prst="rect">
            <a:avLst/>
          </a:prstGeom>
          <a:solidFill>
            <a:srgbClr val="70AD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63240" y="149047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</a:rPr>
              <a:t>Preparación de Datos &amp; Ground Truth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2286000" cy="228600"/>
          </a:xfrm>
          <a:prstGeom prst="rect">
            <a:avLst/>
          </a:prstGeom>
          <a:solidFill>
            <a:srgbClr val="20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85623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Abr-May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1828800"/>
            <a:ext cx="3657600" cy="22860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63240" y="185623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</a:rPr>
              <a:t>Implementación RAG &amp; Optimización LLM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2286000" cy="228600"/>
          </a:xfrm>
          <a:prstGeom prst="rect">
            <a:avLst/>
          </a:prstGeom>
          <a:solidFill>
            <a:srgbClr val="20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22199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Jun-Jul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0" y="2194560"/>
            <a:ext cx="5486400" cy="22860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63240" y="2221992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</a:rPr>
              <a:t>Evaluación Comparativa &amp; Validación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60320"/>
            <a:ext cx="2286000" cy="228600"/>
          </a:xfrm>
          <a:prstGeom prst="rect">
            <a:avLst/>
          </a:prstGeom>
          <a:solidFill>
            <a:srgbClr val="20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58775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Ago-Sep 2026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0" y="2560320"/>
            <a:ext cx="7315200" cy="228600"/>
          </a:xfrm>
          <a:prstGeom prst="rect">
            <a:avLst/>
          </a:prstGeom>
          <a:solidFill>
            <a:srgbClr val="20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63240" y="2587752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</a:rPr>
              <a:t>Integración Prototipo &amp; Documentación Final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550548"/>
            <a:ext cx="8229600" cy="4572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6804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Estimación de Esfuerzo Total: ~350 horas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678454"/>
              </p:ext>
            </p:extLst>
          </p:nvPr>
        </p:nvGraphicFramePr>
        <p:xfrm>
          <a:off x="457200" y="4000500"/>
          <a:ext cx="7315200" cy="6400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Fase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Preparación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Implementación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Evaluación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Integración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Horas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03864"/>
                          </a:solidFill>
                        </a:rPr>
                        <a:t>120h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03864"/>
                          </a:solidFill>
                        </a:rPr>
                        <a:t>100h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03864"/>
                          </a:solidFill>
                        </a:rPr>
                        <a:t>80h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03864"/>
                          </a:solidFill>
                        </a:rPr>
                        <a:t>50h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457200" y="5212080"/>
            <a:ext cx="8229600" cy="4572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57200" y="5303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864"/>
                </a:solidFill>
              </a:rPr>
              <a:t>Trabajo Adelantado a la Fecha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5623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✓ Viabilidad técnica confirmada: Ejecución nativa de LLMs en Apple M4  ✓ Código piloto funcional: NER en noticias públicas  ✓ Integración inicial: Streamlit para visualización  ✓ Diseño RAG: Mitigación de alucinaciones mediante context injection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0386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Magíster en Tecnologías de la Información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3333"/>
                </a:solidFill>
              </a:rPr>
              <a:t>Diapositiva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5B6"/>
                </a:solidFill>
              </a:rPr>
              <a:t>Conclusión e Impacto Esperado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4572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864"/>
                </a:solidFill>
              </a:rPr>
              <a:t>Impacto Nacional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</a:rPr>
              <a:t>Sector FinTech &amp; RegTech chileno: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</a:rPr>
              <a:t>• Reducción 60-80% en costos de compliance manual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</a:rPr>
              <a:t>• Escalabilidad a nuevos mercados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</a:rPr>
              <a:t>• Mejora en detección de riesgos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</a:rPr>
              <a:t>• Viabilidad de IA abierta en contextos regulados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45720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864"/>
                </a:solidFill>
              </a:rPr>
              <a:t>Impacto Internacional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</a:rPr>
              <a:t>Contribución a IA abierta y equitativa: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</a:rPr>
              <a:t>• Alternativa a soluciones propietarias costosas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</a:rPr>
              <a:t>• LLMs abiertos para NLP regulado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</a:rPr>
              <a:t>• Transferible a América Latina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</a:rPr>
              <a:t>• Blueprint para IA responsable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4572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3864"/>
                </a:solidFill>
              </a:rPr>
              <a:t>Recursos Comprometidos y Disponibles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8229600" cy="711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✓ Hardware: Apple M4 disponible  ✓ Software: Todo código abierto ($0)  ✓ Datos: Acceso a base de </a:t>
            </a:r>
            <a:r>
              <a:rPr lang="en-US" sz="1000" dirty="0" err="1">
                <a:solidFill>
                  <a:srgbClr val="333333"/>
                </a:solidFill>
              </a:rPr>
              <a:t>noticias</a:t>
            </a:r>
            <a:r>
              <a:rPr lang="en-US" sz="1000" dirty="0">
                <a:solidFill>
                  <a:srgbClr val="333333"/>
                </a:solidFill>
              </a:rPr>
              <a:t> </a:t>
            </a:r>
            <a:r>
              <a:rPr lang="en-US" sz="1000" dirty="0" err="1">
                <a:solidFill>
                  <a:srgbClr val="333333"/>
                </a:solidFill>
              </a:rPr>
              <a:t>OpenSanctions</a:t>
            </a:r>
            <a:r>
              <a:rPr lang="en-US" sz="1000" dirty="0">
                <a:solidFill>
                  <a:srgbClr val="333333"/>
                </a:solidFill>
              </a:rPr>
              <a:t> y </a:t>
            </a:r>
            <a:r>
              <a:rPr lang="en-US" sz="1000" dirty="0" err="1">
                <a:solidFill>
                  <a:srgbClr val="333333"/>
                </a:solidFill>
              </a:rPr>
              <a:t>AustraNet</a:t>
            </a:r>
            <a:r>
              <a:rPr lang="en-US" sz="1000" dirty="0">
                <a:solidFill>
                  <a:srgbClr val="333333"/>
                </a:solidFill>
              </a:rPr>
              <a:t> ✓ Expertos: 2 especialistas compliance  ✓ Profesor guía: José Luis Martí Lara (bi-semanales)  ✓ NDA: Compromiso de confidencialidad con </a:t>
            </a:r>
            <a:r>
              <a:rPr lang="en-US" sz="1000" dirty="0" err="1">
                <a:solidFill>
                  <a:srgbClr val="333333"/>
                </a:solidFill>
              </a:rPr>
              <a:t>AustraNet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5577840"/>
            <a:ext cx="8229600" cy="1005840"/>
          </a:xfrm>
          <a:prstGeom prst="rect">
            <a:avLst/>
          </a:prstGeom>
          <a:solidFill>
            <a:srgbClr val="F2F2F2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571500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3864"/>
                </a:solidFill>
              </a:rPr>
              <a:t>Proyecto de alto impacto que combina rigor científico con pragmatismo industrial, contribuyendo tanto al estado del arte en IA/NLP como a resolución de problema crítico para sector financiero nacional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788</Words>
  <Application>Microsoft Macintosh PowerPoint</Application>
  <PresentationFormat>On-screen Show (16:9)</PresentationFormat>
  <Paragraphs>129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Eduardo Ahumada</cp:lastModifiedBy>
  <cp:revision>2</cp:revision>
  <dcterms:created xsi:type="dcterms:W3CDTF">2026-04-17T23:34:34Z</dcterms:created>
  <dcterms:modified xsi:type="dcterms:W3CDTF">2026-04-25T14:52:54Z</dcterms:modified>
</cp:coreProperties>
</file>