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5f6701ed-a97d-5b8e-717c-a24c9d3c9c7e}">
          <p14:sldIdLst>
            <p14:sldId id="256"/>
            <p14:sldId id="257"/>
            <p14:sldId id="258"/>
            <p14:sldId id="259"/>
            <p14:sldId id="260"/>
          </p14:sldIdLst>
        </p14:section>
        <p14:section name="1. Problema" id="{ce6a74f0-c94d-3c98-cb3e-ff4784392657}">
          <p14:sldIdLst>
            <p14:sldId id="261"/>
            <p14:sldId id="262"/>
            <p14:sldId id="263"/>
            <p14:sldId id="264"/>
            <p14:sldId id="265"/>
          </p14:sldIdLst>
        </p14:section>
        <p14:section name="2. Marco teórico" id="{b84d9714-dbb0-1ae9-8703-38877ac9752b}">
          <p14:sldIdLst>
            <p14:sldId id="266"/>
            <p14:sldId id="267"/>
            <p14:sldId id="268"/>
            <p14:sldId id="269"/>
          </p14:sldIdLst>
        </p14:section>
        <p14:section name="3. Arquitectura" id="{a1cad753-aac6-2e7b-01c6-110134a4d6e8}">
          <p14:sldIdLst>
            <p14:sldId id="270"/>
            <p14:sldId id="271"/>
            <p14:sldId id="272"/>
          </p14:sldIdLst>
        </p14:section>
        <p14:section name="4. Diseño experimental" id="{3256232a-71e6-556f-9e32-ebc238d92a0c}">
          <p14:sldIdLst>
            <p14:sldId id="273"/>
            <p14:sldId id="274"/>
            <p14:sldId id="275"/>
          </p14:sldIdLst>
        </p14:section>
        <p14:section name="5. Resultados" id="{83200cb7-2f0c-8dc6-7af3-bf29646998c9}">
          <p14:sldIdLst>
            <p14:sldId id="276"/>
            <p14:sldId id="277"/>
            <p14:sldId id="278"/>
            <p14:sldId id="279"/>
            <p14:sldId id="280"/>
            <p14:sldId id="281"/>
          </p14:sldIdLst>
        </p14:section>
        <p14:section name="6. Conclusiones" id="{7a64f950-ede7-6766-3365-213b8f78eb74}">
          <p14:sldIdLst>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761"/>
                </a:solidFill>
                <a:latin typeface="+mn-lt"/>
              </a:defRPr>
            </a:pPr>
            <a:r>
              <a:rPr sz="1100" b="0" i="0" u="none" strike="noStrike">
                <a:solidFill>
                  <a:srgbClr val="1E2761"/>
                </a:solidFill>
                <a:latin typeface="+mn-lt"/>
              </a:rPr>
              <a:t>Porcentaje de F1, extracción directa</a:t>
            </a:r>
          </a:p>
        </c:rich>
      </c:tx>
      <c:layout/>
      <c:overlay val="0"/>
    </c:title>
    <c:autoTitleDeleted val="0"/>
    <c:plotArea>
      <c:layout/>
      <c:barChart>
        <c:barDir val="bar"/>
        <c:grouping val="clustered"/>
        <c:varyColors val="0"/>
        <c:ser>
          <c:idx val="0"/>
          <c:order val="0"/>
          <c:tx>
            <c:strRef>
              <c:f>Sheet1!$B$1</c:f>
              <c:strCache>
                <c:ptCount val="1"/>
                <c:pt idx="0">
                  <c:v>F1 baseline</c:v>
                </c:pt>
              </c:strCache>
            </c:strRef>
          </c:tx>
          <c:spPr>
            <a:solidFill>
              <a:srgbClr val="0C6E6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llama3.2:latest   63,25 %</c:v>
                  </c:pt>
                  <c:pt idx="1">
                    <c:v>gemma4:latest   75,33 %</c:v>
                  </c:pt>
                  <c:pt idx="2">
                    <c:v>gpt-oss:20b   75,41 %</c:v>
                  </c:pt>
                  <c:pt idx="3">
                    <c:v>gemma4:12b-mlx   77,67 %</c:v>
                  </c:pt>
                  <c:pt idx="4">
                    <c:v>gemma4:31b-mlx   81,47 %</c:v>
                  </c:pt>
                  <c:pt idx="5">
                    <c:v>gemma4:31b-cloud   82,13 %</c:v>
                  </c:pt>
                </c:lvl>
              </c:multiLvlStrCache>
            </c:multiLvlStrRef>
          </c:cat>
          <c:val>
            <c:numRef>
              <c:f>Sheet1!$B$2:$B$7</c:f>
              <c:numCache>
                <c:formatCode>General</c:formatCode>
                <c:ptCount val="6"/>
                <c:pt idx="0">
                  <c:v>63.25</c:v>
                </c:pt>
                <c:pt idx="1">
                  <c:v>75.33</c:v>
                </c:pt>
                <c:pt idx="2">
                  <c:v>75.41</c:v>
                </c:pt>
                <c:pt idx="3">
                  <c:v>77.67</c:v>
                </c:pt>
                <c:pt idx="4">
                  <c:v>81.47</c:v>
                </c:pt>
                <c:pt idx="5">
                  <c:v>82.13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E276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D9E2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1708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761"/>
                </a:solidFill>
                <a:latin typeface="+mn-lt"/>
              </a:defRPr>
            </a:pPr>
            <a:r>
              <a:rPr sz="1100" b="0" i="0" u="none" strike="noStrike">
                <a:solidFill>
                  <a:srgbClr val="1E2761"/>
                </a:solidFill>
                <a:latin typeface="+mn-lt"/>
              </a:rPr>
              <a:t>Porcentaje de F1 del mismo modelo</a:t>
            </a:r>
          </a:p>
        </c:rich>
      </c:tx>
      <c:layout/>
      <c:overlay val="0"/>
    </c:title>
    <c:autoTitleDeleted val="0"/>
    <c:plotArea>
      <c:layout/>
      <c:barChart>
        <c:barDir val="bar"/>
        <c:grouping val="clustered"/>
        <c:varyColors val="0"/>
        <c:ser>
          <c:idx val="0"/>
          <c:order val="0"/>
          <c:tx>
            <c:strRef>
              <c:f>Sheet1!$B$1</c:f>
              <c:strCache>
                <c:ptCount val="1"/>
                <c:pt idx="0">
                  <c:v>En local</c:v>
                </c:pt>
              </c:strCache>
            </c:strRef>
          </c:tx>
          <c:spPr>
            <a:solidFill>
              <a:srgbClr val="0C6E6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N=120 principal
local 81,47 % · nube 82,13 %</c:v>
                  </c:pt>
                  <c:pt idx="1">
                    <c:v>N=15 exploratorio
local 69,12 % · nube 66,99 %</c:v>
                  </c:pt>
                </c:lvl>
              </c:multiLvlStrCache>
            </c:multiLvlStrRef>
          </c:cat>
          <c:val>
            <c:numRef>
              <c:f>Sheet1!$B$2:$B$3</c:f>
              <c:numCache>
                <c:formatCode>General</c:formatCode>
                <c:ptCount val="2"/>
                <c:pt idx="0">
                  <c:v>81.47</c:v>
                </c:pt>
                <c:pt idx="1">
                  <c:v>69.12</c:v>
                </c:pt>
              </c:numCache>
            </c:numRef>
          </c:val>
        </c:ser>
        <c:ser>
          <c:idx val="1"/>
          <c:order val="1"/>
          <c:tx>
            <c:strRef>
              <c:f>Sheet1!$C$1</c:f>
              <c:strCache>
                <c:ptCount val="1"/>
                <c:pt idx="0">
                  <c:v>En la nube</c:v>
                </c:pt>
              </c:strCache>
            </c:strRef>
          </c:tx>
          <c:spPr>
            <a:solidFill>
              <a:srgbClr val="C129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N=120 principal
local 81,47 % · nube 82,13 %</c:v>
                  </c:pt>
                  <c:pt idx="1">
                    <c:v>N=15 exploratorio
local 69,12 % · nube 66,99 %</c:v>
                  </c:pt>
                </c:lvl>
              </c:multiLvlStrCache>
            </c:multiLvlStrRef>
          </c:cat>
          <c:val>
            <c:numRef>
              <c:f>Sheet1!$C$2:$C$3</c:f>
              <c:numCache>
                <c:formatCode>General</c:formatCode>
                <c:ptCount val="2"/>
                <c:pt idx="0">
                  <c:v>82.13</c:v>
                </c:pt>
                <c:pt idx="1">
                  <c:v>66.99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E276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D9E2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1708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1E276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761"/>
                </a:solidFill>
                <a:latin typeface="+mn-lt"/>
              </a:defRPr>
            </a:pPr>
            <a:r>
              <a:rPr sz="1100" b="0" i="0" u="none" strike="noStrike">
                <a:solidFill>
                  <a:srgbClr val="1E2761"/>
                </a:solidFill>
                <a:latin typeface="+mn-lt"/>
              </a:rPr>
              <a:t>Puntos porcentuales de F1 ganados o perdidos</a:t>
            </a:r>
          </a:p>
        </c:rich>
      </c:tx>
      <c:layout/>
      <c:overlay val="0"/>
    </c:title>
    <c:autoTitleDeleted val="0"/>
    <c:plotArea>
      <c:layout/>
      <c:barChart>
        <c:barDir val="bar"/>
        <c:grouping val="clustered"/>
        <c:varyColors val="0"/>
        <c:ser>
          <c:idx val="0"/>
          <c:order val="0"/>
          <c:tx>
            <c:strRef>
              <c:f>Sheet1!$B$1</c:f>
              <c:strCache>
                <c:ptCount val="1"/>
                <c:pt idx="0">
                  <c:v>Δ F1 con RAG contextual</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1292E"/>
              </a:solidFill>
              <a:effectLst/>
            </c:spPr>
          </c:dPt>
          <c:dPt>
            <c:idx val="1"/>
            <c:invertIfNegative val="0"/>
            <c:bubble3D val="0"/>
            <c:spPr>
              <a:solidFill>
                <a:srgbClr val="2A9D8F"/>
              </a:solidFill>
              <a:effectLst/>
            </c:spPr>
          </c:dPt>
          <c:dPt>
            <c:idx val="2"/>
            <c:invertIfNegative val="0"/>
            <c:bubble3D val="0"/>
            <c:spPr>
              <a:solidFill>
                <a:srgbClr val="2A9D8F"/>
              </a:solidFill>
              <a:effectLst/>
            </c:spPr>
          </c:dPt>
          <c:dPt>
            <c:idx val="3"/>
            <c:invertIfNegative val="0"/>
            <c:bubble3D val="0"/>
            <c:spPr>
              <a:solidFill>
                <a:srgbClr val="2A9D8F"/>
              </a:solidFill>
              <a:effectLst/>
            </c:spPr>
          </c:dPt>
          <c:dPt>
            <c:idx val="4"/>
            <c:invertIfNegative val="0"/>
            <c:bubble3D val="0"/>
            <c:spPr>
              <a:solidFill>
                <a:srgbClr val="2A9D8F"/>
              </a:solidFill>
              <a:effectLst/>
            </c:spPr>
          </c:dPt>
          <c:dPt>
            <c:idx val="5"/>
            <c:invertIfNegative val="0"/>
            <c:bubble3D val="0"/>
            <c:spPr>
              <a:solidFill>
                <a:srgbClr val="2A9D8F"/>
              </a:solidFill>
              <a:effectLst/>
            </c:spPr>
          </c:dPt>
          <c:dPt>
            <c:idx val="6"/>
            <c:invertIfNegative val="0"/>
            <c:bubble3D val="0"/>
            <c:spPr>
              <a:solidFill>
                <a:srgbClr val="2A9D8F"/>
              </a:solidFill>
              <a:effectLst/>
            </c:spPr>
          </c:dPt>
          <c:cat>
            <c:multiLvlStrRef>
              <c:f>Sheet1!$A$2:$A$8</c:f>
              <c:multiLvlStrCache>
                <c:ptCount val="7"/>
                <c:lvl>
                  <c:pt idx="0">
                    <c:v>mistral-nemo   −4,29</c:v>
                  </c:pt>
                  <c:pt idx="1">
                    <c:v>gemma4:31b-cloud   +0,81</c:v>
                  </c:pt>
                  <c:pt idx="2">
                    <c:v>gemma4:31b-mlx   +0,97</c:v>
                  </c:pt>
                  <c:pt idx="3">
                    <c:v>gemma4:12b-mlx   +2,29</c:v>
                  </c:pt>
                  <c:pt idx="4">
                    <c:v>gemma4:latest   +2,53</c:v>
                  </c:pt>
                  <c:pt idx="5">
                    <c:v>llama3.2:latest   +6,73</c:v>
                  </c:pt>
                  <c:pt idx="6">
                    <c:v>nemotron-mini:4b   +12,26</c:v>
                  </c:pt>
                </c:lvl>
              </c:multiLvlStrCache>
            </c:multiLvlStrRef>
          </c:cat>
          <c:val>
            <c:numRef>
              <c:f>Sheet1!$B$2:$B$8</c:f>
              <c:numCache>
                <c:formatCode>General</c:formatCode>
                <c:ptCount val="7"/>
                <c:pt idx="0">
                  <c:v>-4.29</c:v>
                </c:pt>
                <c:pt idx="1">
                  <c:v>0.81</c:v>
                </c:pt>
                <c:pt idx="2">
                  <c:v>0.97</c:v>
                </c:pt>
                <c:pt idx="3">
                  <c:v>2.29</c:v>
                </c:pt>
                <c:pt idx="4">
                  <c:v>2.53</c:v>
                </c:pt>
                <c:pt idx="5">
                  <c:v>6.73</c:v>
                </c:pt>
                <c:pt idx="6">
                  <c:v>12.26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E2761"/>
                </a:solidFill>
                <a:latin typeface="+mn-lt"/>
              </a:defRPr>
            </a:pPr>
            <a:endParaRPr lang="en-US"/>
          </a:p>
        </c:txPr>
        <c:crossAx val="2094734552"/>
        <c:crosses val="autoZero"/>
        <c:auto val="1"/>
        <c:lblAlgn val="ctr"/>
        <c:noMultiLvlLbl val="1"/>
      </c:catAx>
      <c:valAx>
        <c:axId val="2094734552"/>
        <c:scaling>
          <c:orientation val="minMax"/>
          <c:max val="14"/>
          <c:min val="-8"/>
        </c:scaling>
        <c:delete val="0"/>
        <c:axPos val="b"/>
        <c:majorGridlines>
          <c:spPr>
            <a:ln w="12700" cap="flat">
              <a:solidFill>
                <a:srgbClr val="D9E2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1708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 recorrido] Apertura en treinta segundos. Presentarse, decir que esto es el borrador del proyecto final y que el MVP ya corre. Anunciar el recorrido: problema, solución, evidencia, conclusiones. Reservar los últimos cinco minutos para preguntas.
PLAN DE TIEMPOS. Veintidós láminas de recorrido suman unos catorce minutos, con un minuto de holgura antes de los cinco de preguntas. Las ocho restantes son de respaldo y cada una lleva en su nota la pregunta que la justifica; se saltan en la pasada normal.
Recorrido: 1 a 8, 10, 12 a 16, 18, 21 a 24, 27, 29 y 30.
Respaldo: 9 objetivos, 11 familias de técnicas, 17 pila tecnológica, 19 catálogo de modelos, 20 métricas y convenciones, 25 alucinaciones, 26 eficiencia y costo, 28 limitaciones.
Si el tiempo se acorta a diez minutos, recortar por este orden: 5 aplicabilidad, 16 capas, 13 factorial del prompt y 23 soberanía, que queda cubierta por la lámina 21.
Si sobra tiempo, añadir 25 alucinaciones y 28 limitaciones: son las que más credibilidad aportan ante un tribunal.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[0:30–1:15 · recorrido] Encuadre para el curso: tema de interés general, aplicable a cualquier empresa que procese texto sensible. El MVP está construido, no es una propuesta en papel. Si el grupo presenta en conjunto, añadir aquí a los coexpositores.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[1:15–1:45 · recorrido] Mostrar la pregunta y anunciar la respuesta de entrada: así la audiencia escucha la evidencia sabiendo adónde 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[1:45–2:35 · recorrido] Esta es la lámina que responde al requisito de MVP del curso: lo construido, con su alcance y sus límites dichos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[2:35–3:15 · recorrido] Conectar con la audiencia: cada asistente trabaja en una empresa distinta. El patrón es el mismo, cambia el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[3:15–4:00 · recorrido] Punto de partida: una obligación regulatoria que no se puede desatender y un costo que escala con el volumen.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[4:00–4:45 · recorrido] El trilema es el argumento central del capítulo 1: cada alternativa resuelve una arista y rompe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[4:45–5:20 · recorrido] La soberanía no es un extra: en entidades reguladas condiciona si la solución es siquiera adoptable.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solo si preguntan por los objetivos formales] Los cinco objetivos específicos se cumplen; el quinto, con la salvedad de que las cifras de costo son estimaciones y de que el umbral de alucinación se cumple en el modelo recomendado, no en todo el catálogo.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[5:20–6:00 · recorrido] La hipótesis fija un umbral falsable y declara qué se mide, de modo que el resultado puede contradecirla.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solo si preguntan por qué no BERT] Esta tabla justifica la decisión técnica de fondo. Si alguien pregunta por BERT, la respuesta es el corpus que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[6:00–6:40 · recorrido] Aquí conviene ser preciso: el aprendizaje en contexto no es entrenamiento. No hay gradientes ni pesos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[6:40–7:30 · recorrido] Decir la inversión en voz alta suma credibilidad: el trabajo publica el dato que contradice su propia explicación inicial.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[7:30–8:20 · recorrido] Hallazgo conceptual del trabajo: proveer reglas funciona, proveer listas estorba. El pie de la imagen se reemplazó porque el original afirmaba que el RAG elimina las alucinaciones, lo que los datos no sostienen.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[8:20–9:00 · recorrido] La restricción de hardware es parte del aporte: el sistema debe correr en un equipo que la organización ya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[9:00–9:45 · recorrido] El AIMD reacciona a límites de tasa del proveedor y a rachas de error. No recibe telemetría de memoria: esa salvedad se declara en la lámina de limitaciones.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solo si preguntan por la implementación] Lámina de respaldo: útil si preguntan por la implementación. En la pasada rápida basta nombrar Ollama, AIMD y el esquema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[9:45–10:25 · recorrido] El corpus sintético no es el resultado: sirve para tener potencia estadística. La validación principal es sobre texto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solo si preguntan por el catálogo de modelos] Lámina de respaldo. En la pasada rápida basta decir trece modelos, de 1,5B a 31B, en siete familias.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solo si preguntan por las métricas o las convenciones] Si preguntan por qué las cifras difieren de otras publicadas, la respuesta está aquí: la convención de agregación y la del vacío cambian el número.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[10:25–11:15 · recorrido] Esta es la tabla madre del trabajo. Señalar solo tres filas: la nube arriba, el mejor local a menos de un punto, y nemotron abajo como único delta significativo.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[11:15–12:00 · recorrido] El umbral de la hipótesis se supera en los dos corpus, y directamente, sin corrección alguna, en el periodístico.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[12:00–12:40 · recorrido] Este es el resultado que responde la pregunta del encuadre: la privacidad total no se paga con precisión.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[12:40–13:20 · recorrido] Resistir la tentación de generalizar: retirado nemotron de la muestra, la correlación se desvanece. El trabajo lo dice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usarla si sobra tiempo; sostiene la honestidad del trabajo] La taxonomía es honesta en los dos sentidos: parte de los errores contados son defectos de la anotación de origen, no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solo si preguntan por costos o por el hardware] Ochenta a uno es la cifra que justifica la arquitectura de producción de la lámina de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[13:20–14:00 · recorrido] Separar el 99,4 % del costo unitario directo del 60-80 % del costo operativo total, que incluye al analista.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usarla si sobra tiempo o en la ronda de preguntas] Lámina deliberada: adelantarse a las preguntas difíciles vale más que esperarlas. Si el tiempo aprieta, dejarla para la ronda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[14:00–14:40 · recorrido] Cierre: volver al encuadre del curso. Una función organizacional automatizada, con el dato bajo control y un camino de mejora ya trazado.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[14:40–15:00 · recorrido] Cerrar con la frase del título y abrir preguntas. Preguntas probables: por qué no BERT, si el dato de costo está medido, qué pasa con la fuga de ejemplares, y si esto corre en un equipo corriente.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F1C3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10515600" cy="411480"/>
          </a:xfrm>
          <a:prstGeom prst="rect">
            <a:avLst/>
          </a:prstGeom>
          <a:noFill/>
          <a:ln/>
        </p:spPr>
        <p:txBody>
          <a:bodyPr wrap="square" rtlCol="0"/>
          <a:lstStyle>
            <a:lvl1pPr algn="l" indent="0" marL="0">
              <a:buNone/>
              <a:defRPr lang="en-US" sz="1400" b="1" spc="200" kern="0" dirty="0">
                <a:solidFill>
                  <a:srgbClr val="2A9D8F"/>
                </a:solidFill>
              </a:defRPr>
            </a:lvl1pPr>
          </a:lstStyle>
          <a:p>
            <a:pPr algn="l" indent="0" marL="0">
              <a:buNone/>
            </a:pPr>
            <a:r>
              <a:rPr lang="en-US" sz="1400" b="1" spc="200" kern="0" dirty="0">
                <a:solidFill>
                  <a:srgbClr val="2A9D8F"/>
                </a:solidFill>
              </a:rPr>
              <a:t> </a:t>
            </a:r>
            <a:endParaRPr lang="en-US" sz="1400" dirty="0"/>
          </a:p>
        </p:txBody>
      </p:sp>
      <p:sp>
        <p:nvSpPr>
          <p:cNvPr id="3" name="Text 0"/>
          <p:cNvSpPr/>
          <p:nvPr>
            <p:ph idx="101" type="title" hasCustomPrompt="1"/>
          </p:nvPr>
        </p:nvSpPr>
        <p:spPr>
          <a:xfrm>
            <a:off x="822960" y="1874520"/>
            <a:ext cx="1051560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 </a:t>
            </a:r>
            <a:endParaRPr lang="en-US" sz="4000" dirty="0"/>
          </a:p>
        </p:txBody>
      </p:sp>
      <p:sp>
        <p:nvSpPr>
          <p:cNvPr id="4" name="Text 0"/>
          <p:cNvSpPr/>
          <p:nvPr>
            <p:ph idx="102" type="body" hasCustomPrompt="1"/>
          </p:nvPr>
        </p:nvSpPr>
        <p:spPr>
          <a:xfrm>
            <a:off x="822960" y="3840480"/>
            <a:ext cx="10515600" cy="914400"/>
          </a:xfrm>
          <a:prstGeom prst="rect">
            <a:avLst/>
          </a:prstGeom>
          <a:noFill/>
          <a:ln/>
        </p:spPr>
        <p:txBody>
          <a:bodyPr wrap="square" rtlCol="0"/>
          <a:lstStyle>
            <a:lvl1pPr algn="l" indent="0" marL="0">
              <a:buNone/>
              <a:defRPr lang="en-US" sz="1700" dirty="0">
                <a:solidFill>
                  <a:srgbClr val="EEF3F9"/>
                </a:solidFill>
              </a:defRPr>
            </a:lvl1pPr>
          </a:lstStyle>
          <a:p>
            <a:pPr algn="l" indent="0" marL="0">
              <a:buNone/>
            </a:pPr>
            <a:r>
              <a:rPr lang="en-US" sz="1700" dirty="0">
                <a:solidFill>
                  <a:srgbClr val="EEF3F9"/>
                </a:solidFill>
              </a:rPr>
              <a:t> </a:t>
            </a:r>
            <a:endParaRPr lang="en-US" sz="1700" dirty="0"/>
          </a:p>
        </p:txBody>
      </p:sp>
      <p:sp>
        <p:nvSpPr>
          <p:cNvPr id="5" name="Text 0"/>
          <p:cNvSpPr/>
          <p:nvPr>
            <p:ph idx="103" type="body" hasCustomPrompt="1"/>
          </p:nvPr>
        </p:nvSpPr>
        <p:spPr>
          <a:xfrm>
            <a:off x="822960" y="5212080"/>
            <a:ext cx="10515600" cy="1005840"/>
          </a:xfrm>
          <a:prstGeom prst="rect">
            <a:avLst/>
          </a:prstGeom>
          <a:noFill/>
          <a:ln/>
        </p:spPr>
        <p:txBody>
          <a:bodyPr wrap="square" rtlCol="0"/>
          <a:lstStyle>
            <a:lvl1pPr algn="l" indent="0" marL="0">
              <a:buNone/>
              <a:defRPr lang="en-US" sz="1300" dirty="0">
                <a:solidFill>
                  <a:srgbClr val="8FA9C4"/>
                </a:solidFill>
              </a:defRPr>
            </a:lvl1pPr>
          </a:lstStyle>
          <a:p>
            <a:pPr algn="l" indent="0" marL="0">
              <a:buNone/>
            </a:pPr>
            <a:r>
              <a:rPr lang="en-US" sz="1300" dirty="0">
                <a:solidFill>
                  <a:srgbClr val="8FA9C4"/>
                </a:solidFill>
              </a:rPr>
              <a:t> </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88720" cy="384048"/>
          </a:xfrm>
          <a:prstGeom prst="rect">
            <a:avLst/>
          </a:prstGeom>
          <a:noFill/>
          <a:ln/>
        </p:spPr>
        <p:txBody>
          <a:bodyPr wrap="square" rtlCol="0"/>
          <a:lstStyle>
            <a:lvl1pPr algn="ctr" indent="0" marL="0">
              <a:buNone/>
              <a:defRPr lang="en-US" sz="1200" b="1" dirty="0">
                <a:solidFill>
                  <a:schemeClr val="bg1"/>
                </a:solidFill>
              </a:defRPr>
            </a:lvl1pPr>
          </a:lstStyle>
          <a:p>
            <a:pPr algn="ctr" indent="0" marL="0">
              <a:buNone/>
            </a:pPr>
            <a:r>
              <a:rPr lang="en-US" sz="1200" b="1" dirty="0">
                <a:solidFill>
                  <a:schemeClr val="bg1"/>
                </a:solidFill>
              </a:rPr>
              <a:t> </a:t>
            </a:r>
            <a:endParaRPr lang="en-US" sz="1200" dirty="0"/>
          </a:p>
        </p:txBody>
      </p:sp>
      <p:sp>
        <p:nvSpPr>
          <p:cNvPr id="3" name="Text 0"/>
          <p:cNvSpPr/>
          <p:nvPr>
            <p:ph idx="101" type="title" hasCustomPrompt="1"/>
          </p:nvPr>
        </p:nvSpPr>
        <p:spPr>
          <a:xfrm>
            <a:off x="1874520" y="310896"/>
            <a:ext cx="9738360" cy="65836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r>
              <a:rPr lang="en-US" sz="2600" b="1" dirty="0">
                <a:solidFill>
                  <a:schemeClr val="tx1"/>
                </a:solidFill>
              </a:rPr>
              <a:t> </a:t>
            </a:r>
            <a:endParaRPr lang="en-US" sz="2600" dirty="0"/>
          </a:p>
        </p:txBody>
      </p:sp>
      <p:sp>
        <p:nvSpPr>
          <p:cNvPr id="4" name="Text 0"/>
          <p:cNvSpPr/>
          <p:nvPr>
            <p:ph idx="102" type="body" hasCustomPrompt="1"/>
          </p:nvPr>
        </p:nvSpPr>
        <p:spPr>
          <a:xfrm>
            <a:off x="548640" y="1280160"/>
            <a:ext cx="5257800" cy="35661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r>
              <a:rPr lang="en-US" sz="1400" dirty="0">
                <a:solidFill>
                  <a:schemeClr val="tx1"/>
                </a:solidFill>
              </a:rPr>
              <a:t> </a:t>
            </a:r>
            <a:endParaRPr lang="en-US" sz="1400" dirty="0"/>
          </a:p>
        </p:txBody>
      </p:sp>
      <p:sp>
        <p:nvSpPr>
          <p:cNvPr id="5" name="Text 0"/>
          <p:cNvSpPr/>
          <p:nvPr>
            <p:ph idx="103" hasCustomPrompt="1"/>
          </p:nvPr>
        </p:nvSpPr>
        <p:spPr>
          <a:xfrm>
            <a:off x="6172200" y="1188720"/>
            <a:ext cx="5486400" cy="4078224"/>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 </a:t>
            </a:r>
            <a:endParaRPr lang="en-US" dirty="0"/>
          </a:p>
        </p:txBody>
      </p:sp>
      <p:sp>
        <p:nvSpPr>
          <p:cNvPr id="6" name="Text 0"/>
          <p:cNvSpPr txBox="1"/>
          <p:nvPr/>
        </p:nvSpPr>
        <p:spPr>
          <a:xfrm>
            <a:off x="548640" y="6355080"/>
            <a:ext cx="8778240" cy="274320"/>
          </a:xfrm>
          <a:prstGeom prst="rect">
            <a:avLst/>
          </a:prstGeom>
          <a:noFill/>
          <a:ln/>
        </p:spPr>
        <p:txBody>
          <a:bodyPr wrap="square" lIns="0" tIns="0" rIns="0" bIns="0" rtlCol="0" anchor="ctr"/>
          <a:lstStyle/>
          <a:p>
            <a:pPr indent="0" marL="0">
              <a:buNone/>
            </a:pPr>
            <a:r>
              <a:rPr lang="en-US" sz="900" dirty="0">
                <a:solidFill>
                  <a:srgbClr val="51708D"/>
                </a:solidFill>
              </a:rPr>
              <a:t>MTI · Aplicaciones de inteligencia artificial · E. Ahumada G. · 3 de octubre de 2026</a:t>
            </a:r>
            <a:endParaRPr lang="en-US" sz="9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CH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88720" cy="384048"/>
          </a:xfrm>
          <a:prstGeom prst="rect">
            <a:avLst/>
          </a:prstGeom>
          <a:noFill/>
          <a:ln/>
        </p:spPr>
        <p:txBody>
          <a:bodyPr wrap="square" rtlCol="0"/>
          <a:lstStyle>
            <a:lvl1pPr algn="ctr" indent="0" marL="0">
              <a:buNone/>
              <a:defRPr lang="en-US" sz="1200" b="1" dirty="0">
                <a:solidFill>
                  <a:schemeClr val="bg1"/>
                </a:solidFill>
              </a:defRPr>
            </a:lvl1pPr>
          </a:lstStyle>
          <a:p>
            <a:pPr algn="ctr" indent="0" marL="0">
              <a:buNone/>
            </a:pPr>
            <a:r>
              <a:rPr lang="en-US" sz="1200" b="1" dirty="0">
                <a:solidFill>
                  <a:schemeClr val="bg1"/>
                </a:solidFill>
              </a:rPr>
              <a:t> </a:t>
            </a:r>
            <a:endParaRPr lang="en-US" sz="1200" dirty="0"/>
          </a:p>
        </p:txBody>
      </p:sp>
      <p:sp>
        <p:nvSpPr>
          <p:cNvPr id="3" name="Text 0"/>
          <p:cNvSpPr/>
          <p:nvPr>
            <p:ph idx="101" type="title" hasCustomPrompt="1"/>
          </p:nvPr>
        </p:nvSpPr>
        <p:spPr>
          <a:xfrm>
            <a:off x="1874520" y="310896"/>
            <a:ext cx="9738360" cy="65836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r>
              <a:rPr lang="en-US" sz="2600" b="1" dirty="0">
                <a:solidFill>
                  <a:schemeClr val="tx1"/>
                </a:solidFill>
              </a:rPr>
              <a:t> </a:t>
            </a:r>
            <a:endParaRPr lang="en-US" sz="2600" dirty="0"/>
          </a:p>
        </p:txBody>
      </p:sp>
      <p:sp>
        <p:nvSpPr>
          <p:cNvPr id="4" name="Text 0"/>
          <p:cNvSpPr/>
          <p:nvPr>
            <p:ph idx="102" type="body" hasCustomPrompt="1"/>
          </p:nvPr>
        </p:nvSpPr>
        <p:spPr>
          <a:xfrm>
            <a:off x="548640" y="1188720"/>
            <a:ext cx="11064240" cy="4937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r>
              <a:rPr lang="en-US" sz="1400" dirty="0">
                <a:solidFill>
                  <a:schemeClr val="tx1"/>
                </a:solidFill>
              </a:rPr>
              <a:t> </a:t>
            </a:r>
            <a:endParaRPr lang="en-US" sz="1400" dirty="0"/>
          </a:p>
        </p:txBody>
      </p:sp>
      <p:sp>
        <p:nvSpPr>
          <p:cNvPr id="5" name="Text 0"/>
          <p:cNvSpPr txBox="1"/>
          <p:nvPr/>
        </p:nvSpPr>
        <p:spPr>
          <a:xfrm>
            <a:off x="548640" y="6355080"/>
            <a:ext cx="8778240" cy="274320"/>
          </a:xfrm>
          <a:prstGeom prst="rect">
            <a:avLst/>
          </a:prstGeom>
          <a:noFill/>
          <a:ln/>
        </p:spPr>
        <p:txBody>
          <a:bodyPr wrap="square" lIns="0" tIns="0" rIns="0" bIns="0" rtlCol="0" anchor="ctr"/>
          <a:lstStyle/>
          <a:p>
            <a:pPr indent="0" marL="0">
              <a:buNone/>
            </a:pPr>
            <a:r>
              <a:rPr lang="en-US" sz="900" dirty="0">
                <a:solidFill>
                  <a:srgbClr val="51708D"/>
                </a:solidFill>
              </a:rPr>
              <a:t>MTI · Aplicaciones de inteligencia artificial · E. Ahumada G. · 3 de octubre de 2026</a:t>
            </a:r>
            <a:endParaRPr lang="en-US" sz="9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SCURA">
    <p:bg>
      <p:bgPr>
        <a:solidFill>
          <a:srgbClr val="0F1C3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88720" cy="384048"/>
          </a:xfrm>
          <a:prstGeom prst="rect">
            <a:avLst/>
          </a:prstGeom>
          <a:noFill/>
          <a:ln/>
        </p:spPr>
        <p:txBody>
          <a:bodyPr wrap="square" rtlCol="0"/>
          <a:lstStyle>
            <a:lvl1pPr algn="ctr" indent="0" marL="0">
              <a:buNone/>
              <a:defRPr lang="en-US" sz="1200" b="1" dirty="0">
                <a:solidFill>
                  <a:srgbClr val="0F1C3F"/>
                </a:solidFill>
              </a:defRPr>
            </a:lvl1pPr>
          </a:lstStyle>
          <a:p>
            <a:pPr algn="ctr" indent="0" marL="0">
              <a:buNone/>
            </a:pPr>
            <a:r>
              <a:rPr lang="en-US" sz="1200" b="1" dirty="0">
                <a:solidFill>
                  <a:srgbClr val="0F1C3F"/>
                </a:solidFill>
              </a:rPr>
              <a:t> </a:t>
            </a:r>
            <a:endParaRPr lang="en-US" sz="1200" dirty="0"/>
          </a:p>
        </p:txBody>
      </p:sp>
      <p:sp>
        <p:nvSpPr>
          <p:cNvPr id="3" name="Text 0"/>
          <p:cNvSpPr/>
          <p:nvPr>
            <p:ph idx="101" type="title" hasCustomPrompt="1"/>
          </p:nvPr>
        </p:nvSpPr>
        <p:spPr>
          <a:xfrm>
            <a:off x="1874520" y="310896"/>
            <a:ext cx="9738360" cy="658368"/>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r>
              <a:rPr lang="en-US" sz="2600" b="1" dirty="0">
                <a:solidFill>
                  <a:schemeClr val="bg1"/>
                </a:solidFill>
              </a:rPr>
              <a:t> </a:t>
            </a:r>
            <a:endParaRPr lang="en-US" sz="2600" dirty="0"/>
          </a:p>
        </p:txBody>
      </p:sp>
      <p:sp>
        <p:nvSpPr>
          <p:cNvPr id="4" name="Text 0"/>
          <p:cNvSpPr/>
          <p:nvPr>
            <p:ph idx="102" type="body" hasCustomPrompt="1"/>
          </p:nvPr>
        </p:nvSpPr>
        <p:spPr>
          <a:xfrm>
            <a:off x="548640" y="1280160"/>
            <a:ext cx="11064240" cy="1737360"/>
          </a:xfrm>
          <a:prstGeom prst="rect">
            <a:avLst/>
          </a:prstGeom>
          <a:noFill/>
          <a:ln/>
        </p:spPr>
        <p:txBody>
          <a:bodyPr wrap="square" rtlCol="0"/>
          <a:lstStyle>
            <a:lvl1pPr algn="l" indent="0" marL="0">
              <a:buNone/>
              <a:defRPr lang="en-US" sz="1400" dirty="0">
                <a:solidFill>
                  <a:srgbClr val="EEF3F9"/>
                </a:solidFill>
              </a:defRPr>
            </a:lvl1pPr>
          </a:lstStyle>
          <a:p>
            <a:pPr algn="l" indent="0" marL="0">
              <a:buNone/>
            </a:pPr>
            <a:r>
              <a:rPr lang="en-US" sz="1400" dirty="0">
                <a:solidFill>
                  <a:srgbClr val="EEF3F9"/>
                </a:solidFill>
              </a:rPr>
              <a:t> </a:t>
            </a:r>
            <a:endParaRPr lang="en-US" sz="1400" dirty="0"/>
          </a:p>
        </p:txBody>
      </p:sp>
      <p:sp>
        <p:nvSpPr>
          <p:cNvPr id="5" name="Text 0"/>
          <p:cNvSpPr txBox="1"/>
          <p:nvPr/>
        </p:nvSpPr>
        <p:spPr>
          <a:xfrm>
            <a:off x="548640" y="6355080"/>
            <a:ext cx="8778240" cy="274320"/>
          </a:xfrm>
          <a:prstGeom prst="rect">
            <a:avLst/>
          </a:prstGeom>
          <a:noFill/>
          <a:ln/>
        </p:spPr>
        <p:txBody>
          <a:bodyPr wrap="square" lIns="0" tIns="0" rIns="0" bIns="0" rtlCol="0" anchor="ctr"/>
          <a:lstStyle/>
          <a:p>
            <a:pPr indent="0" marL="0">
              <a:buNone/>
            </a:pPr>
            <a:r>
              <a:rPr lang="en-US" sz="900" dirty="0">
                <a:solidFill>
                  <a:srgbClr val="8FA9C4"/>
                </a:solidFill>
              </a:rPr>
              <a:t>MTI · Aplicaciones de inteligencia artificial · E. Ahumada G. · 3 de octubre de 2026</a:t>
            </a:r>
            <a:endParaRPr lang="en-US" sz="9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9C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10515600" cy="411480"/>
          </a:xfrm>
          <a:prstGeom prst="rect">
            <a:avLst/>
          </a:prstGeom>
          <a:noFill/>
          <a:ln/>
        </p:spPr>
        <p:txBody>
          <a:bodyPr wrap="square" rtlCol="0"/>
          <a:lstStyle/>
          <a:p>
            <a:pPr algn="l" indent="0" marL="0">
              <a:buNone/>
            </a:pPr>
            <a:r>
              <a:rPr lang="en-US" sz="1400" b="1" spc="200" kern="0" dirty="0">
                <a:solidFill>
                  <a:srgbClr val="2A9D8F"/>
                </a:solidFill>
              </a:rPr>
              <a:t>BORRADOR DE PROYECTO FINAL · MVP FUNCIONAL · UN CASO DE IA APLICADA</a:t>
            </a:r>
            <a:endParaRPr lang="en-US" sz="1400" dirty="0"/>
          </a:p>
        </p:txBody>
      </p:sp>
      <p:sp>
        <p:nvSpPr>
          <p:cNvPr id="3" name="Text 0"/>
          <p:cNvSpPr/>
          <p:nvPr>
            <p:ph idx="101" type="title" hasCustomPrompt="1"/>
          </p:nvPr>
        </p:nvSpPr>
        <p:spPr>
          <a:xfrm>
            <a:off x="822960" y="1874520"/>
            <a:ext cx="10515600" cy="1828800"/>
          </a:xfrm>
          <a:prstGeom prst="rect">
            <a:avLst/>
          </a:prstGeom>
          <a:noFill/>
          <a:ln/>
        </p:spPr>
        <p:txBody>
          <a:bodyPr wrap="square" rtlCol="0" anchor="t"/>
          <a:lstStyle/>
          <a:p>
            <a:pPr algn="l" indent="0" marL="0">
              <a:buNone/>
            </a:pPr>
            <a:r>
              <a:rPr lang="en-US" sz="4000" b="1" dirty="0">
                <a:solidFill>
                  <a:schemeClr val="bg1"/>
                </a:solidFill>
              </a:rPr>
              <a:t>Extracción de entidades con soberanía de datos</a:t>
            </a:r>
            <a:endParaRPr lang="en-US" sz="4000" dirty="0"/>
          </a:p>
        </p:txBody>
      </p:sp>
      <p:sp>
        <p:nvSpPr>
          <p:cNvPr id="4" name="Text 0"/>
          <p:cNvSpPr/>
          <p:nvPr>
            <p:ph idx="102" type="body" hasCustomPrompt="1"/>
          </p:nvPr>
        </p:nvSpPr>
        <p:spPr>
          <a:xfrm>
            <a:off x="822960" y="3840480"/>
            <a:ext cx="10515600" cy="914400"/>
          </a:xfrm>
          <a:prstGeom prst="rect">
            <a:avLst/>
          </a:prstGeom>
          <a:noFill/>
          <a:ln/>
        </p:spPr>
        <p:txBody>
          <a:bodyPr wrap="square" rtlCol="0"/>
          <a:lstStyle/>
          <a:p>
            <a:pPr algn="l" indent="0" marL="0">
              <a:buNone/>
            </a:pPr>
            <a:r>
              <a:rPr lang="en-US" sz="1700" dirty="0">
                <a:solidFill>
                  <a:srgbClr val="EEF3F9"/>
                </a:solidFill>
              </a:rPr>
              <a:t>Modelos de lenguaje abiertos, ejecutados 100 % en local, para cumplimiento AML/KYC</a:t>
            </a:r>
            <a:endParaRPr lang="en-US" sz="1700" dirty="0"/>
          </a:p>
          <a:p>
            <a:pPr algn="l" indent="0" marL="0">
              <a:buNone/>
            </a:pPr>
            <a:r>
              <a:rPr lang="en-US" sz="1300" dirty="0">
                <a:solidFill>
                  <a:srgbClr val="8FA9C4"/>
                </a:solidFill>
              </a:rPr>
              <a:t>Clasificación y extracción de entidades nombradas (NER) en noticias de cumplimiento normativo corporativo</a:t>
            </a:r>
            <a:endParaRPr lang="en-US" sz="1700" dirty="0"/>
          </a:p>
        </p:txBody>
      </p:sp>
      <p:sp>
        <p:nvSpPr>
          <p:cNvPr id="5" name="Text 0"/>
          <p:cNvSpPr/>
          <p:nvPr>
            <p:ph idx="103" type="body" hasCustomPrompt="1"/>
          </p:nvPr>
        </p:nvSpPr>
        <p:spPr>
          <a:xfrm>
            <a:off x="822960" y="5212080"/>
            <a:ext cx="10515600" cy="1005840"/>
          </a:xfrm>
          <a:prstGeom prst="rect">
            <a:avLst/>
          </a:prstGeom>
          <a:noFill/>
          <a:ln/>
        </p:spPr>
        <p:txBody>
          <a:bodyPr wrap="square" rtlCol="0"/>
          <a:lstStyle/>
          <a:p>
            <a:pPr algn="l" indent="0" marL="0">
              <a:buNone/>
            </a:pPr>
            <a:r>
              <a:rPr lang="en-US" sz="1300" b="1" dirty="0">
                <a:solidFill>
                  <a:srgbClr val="FFFFFF"/>
                </a:solidFill>
              </a:rPr>
              <a:t>Eduardo Mauricio Ahumada Gallardo</a:t>
            </a:r>
            <a:endParaRPr lang="en-US" sz="1300" dirty="0"/>
          </a:p>
          <a:p>
            <a:pPr algn="l" indent="0" marL="0">
              <a:buNone/>
            </a:pPr>
            <a:r>
              <a:rPr lang="en-US" sz="1300" dirty="0">
                <a:solidFill>
                  <a:srgbClr val="8FA9C4"/>
                </a:solidFill>
              </a:rPr>
              <a:t>Universidad Técnica Federico Santa María · Departamento de Informática · Magíster en Tecnologías de la Información</a:t>
            </a:r>
            <a:endParaRPr lang="en-US" sz="1300" dirty="0"/>
          </a:p>
          <a:p>
            <a:pPr algn="l" indent="0" marL="0">
              <a:buNone/>
            </a:pPr>
            <a:r>
              <a:rPr lang="en-US" sz="1300" dirty="0">
                <a:solidFill>
                  <a:srgbClr val="8FA9C4"/>
                </a:solidFill>
              </a:rPr>
              <a:t>Aplicaciones de inteligencia artificial · Sesión del sábado 3 de octubre de 2026, 09:00 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hip-INICIO"/>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INICIO</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Quién presenta, qué se presenta y cómo</a:t>
            </a:r>
            <a:endParaRPr lang="en-US" sz="2600" dirty="0"/>
          </a:p>
        </p:txBody>
      </p:sp>
      <p:sp>
        <p:nvSpPr>
          <p:cNvPr id="5" name="pres-0"/>
          <p:cNvSpPr/>
          <p:nvPr/>
        </p:nvSpPr>
        <p:spPr>
          <a:xfrm>
            <a:off x="548640" y="1280160"/>
            <a:ext cx="3566160" cy="2057400"/>
          </a:xfrm>
          <a:prstGeom prst="roundRect">
            <a:avLst>
              <a:gd name="adj" fmla="val 3111"/>
            </a:avLst>
          </a:prstGeom>
          <a:solidFill>
            <a:srgbClr val="EEF3F9"/>
          </a:solidFill>
          <a:ln w="12700">
            <a:solidFill>
              <a:srgbClr val="EEF3F9"/>
            </a:solidFill>
            <a:prstDash val="solid"/>
          </a:ln>
        </p:spPr>
      </p:sp>
      <p:sp>
        <p:nvSpPr>
          <p:cNvPr id="6" name="Text 4"/>
          <p:cNvSpPr txBox="1"/>
          <p:nvPr/>
        </p:nvSpPr>
        <p:spPr>
          <a:xfrm>
            <a:off x="749808" y="1444752"/>
            <a:ext cx="3163824" cy="237744"/>
          </a:xfrm>
          <a:prstGeom prst="rect">
            <a:avLst/>
          </a:prstGeom>
          <a:noFill/>
          <a:ln/>
        </p:spPr>
        <p:txBody>
          <a:bodyPr wrap="square" lIns="0" tIns="0" rIns="0" bIns="0" rtlCol="0" anchor="ctr"/>
          <a:lstStyle/>
          <a:p>
            <a:pPr indent="0" marL="0">
              <a:buNone/>
            </a:pPr>
            <a:r>
              <a:rPr lang="en-US" sz="1000" b="1" spc="120" kern="0" dirty="0">
                <a:solidFill>
                  <a:srgbClr val="0C6E6D"/>
                </a:solidFill>
              </a:rPr>
              <a:t>EXPOSITOR</a:t>
            </a:r>
            <a:endParaRPr lang="en-US" sz="1000" dirty="0"/>
          </a:p>
        </p:txBody>
      </p:sp>
      <p:sp>
        <p:nvSpPr>
          <p:cNvPr id="7" name="Text 5"/>
          <p:cNvSpPr txBox="1"/>
          <p:nvPr/>
        </p:nvSpPr>
        <p:spPr>
          <a:xfrm>
            <a:off x="749808" y="1700784"/>
            <a:ext cx="3163824" cy="384048"/>
          </a:xfrm>
          <a:prstGeom prst="rect">
            <a:avLst/>
          </a:prstGeom>
          <a:noFill/>
          <a:ln/>
        </p:spPr>
        <p:txBody>
          <a:bodyPr wrap="square" lIns="0" tIns="0" rIns="0" bIns="0" rtlCol="0" anchor="ctr"/>
          <a:lstStyle/>
          <a:p>
            <a:pPr indent="0" marL="0">
              <a:buNone/>
            </a:pPr>
            <a:r>
              <a:rPr lang="en-US" sz="1550" b="1" dirty="0">
                <a:solidFill>
                  <a:schemeClr val="tx1"/>
                </a:solidFill>
              </a:rPr>
              <a:t>Eduardo M. Ahumada G.</a:t>
            </a:r>
            <a:endParaRPr lang="en-US" sz="1550" dirty="0"/>
          </a:p>
        </p:txBody>
      </p:sp>
      <p:sp>
        <p:nvSpPr>
          <p:cNvPr id="8" name="Text 6"/>
          <p:cNvSpPr txBox="1"/>
          <p:nvPr/>
        </p:nvSpPr>
        <p:spPr>
          <a:xfrm>
            <a:off x="749808" y="2121408"/>
            <a:ext cx="3163824" cy="1097280"/>
          </a:xfrm>
          <a:prstGeom prst="rect">
            <a:avLst/>
          </a:prstGeom>
          <a:noFill/>
          <a:ln/>
        </p:spPr>
        <p:txBody>
          <a:bodyPr wrap="square" lIns="0" tIns="0" rIns="0" bIns="0" rtlCol="0" anchor="ctr"/>
          <a:lstStyle/>
          <a:p>
            <a:pPr indent="0" marL="0">
              <a:buNone/>
            </a:pPr>
            <a:r>
              <a:rPr lang="en-US" sz="1150" dirty="0">
                <a:solidFill>
                  <a:srgbClr val="51708D"/>
                </a:solidFill>
              </a:rPr>
              <a:t>Estudiante del Magíster en Tecnologías de la Información de la UTFSM. El trabajo se desarrolla sobre un proceso real de cumplimiento normativo.</a:t>
            </a:r>
            <a:endParaRPr lang="en-US" sz="1150" dirty="0"/>
          </a:p>
        </p:txBody>
      </p:sp>
      <p:sp>
        <p:nvSpPr>
          <p:cNvPr id="9" name="pres-1"/>
          <p:cNvSpPr/>
          <p:nvPr/>
        </p:nvSpPr>
        <p:spPr>
          <a:xfrm>
            <a:off x="4297680" y="1280160"/>
            <a:ext cx="3566160" cy="2057400"/>
          </a:xfrm>
          <a:prstGeom prst="roundRect">
            <a:avLst>
              <a:gd name="adj" fmla="val 3111"/>
            </a:avLst>
          </a:prstGeom>
          <a:solidFill>
            <a:srgbClr val="EEF3F9"/>
          </a:solidFill>
          <a:ln w="12700">
            <a:solidFill>
              <a:srgbClr val="EEF3F9"/>
            </a:solidFill>
            <a:prstDash val="solid"/>
          </a:ln>
        </p:spPr>
      </p:sp>
      <p:sp>
        <p:nvSpPr>
          <p:cNvPr id="10" name="Text 8"/>
          <p:cNvSpPr txBox="1"/>
          <p:nvPr/>
        </p:nvSpPr>
        <p:spPr>
          <a:xfrm>
            <a:off x="4498848" y="1444752"/>
            <a:ext cx="3163824" cy="237744"/>
          </a:xfrm>
          <a:prstGeom prst="rect">
            <a:avLst/>
          </a:prstGeom>
          <a:noFill/>
          <a:ln/>
        </p:spPr>
        <p:txBody>
          <a:bodyPr wrap="square" lIns="0" tIns="0" rIns="0" bIns="0" rtlCol="0" anchor="ctr"/>
          <a:lstStyle/>
          <a:p>
            <a:pPr indent="0" marL="0">
              <a:buNone/>
            </a:pPr>
            <a:r>
              <a:rPr lang="en-US" sz="1000" b="1" spc="120" kern="0" dirty="0">
                <a:solidFill>
                  <a:srgbClr val="0C6E6D"/>
                </a:solidFill>
              </a:rPr>
              <a:t>QUÉ SE PRESENTA</a:t>
            </a:r>
            <a:endParaRPr lang="en-US" sz="1000" dirty="0"/>
          </a:p>
        </p:txBody>
      </p:sp>
      <p:sp>
        <p:nvSpPr>
          <p:cNvPr id="11" name="Text 9"/>
          <p:cNvSpPr txBox="1"/>
          <p:nvPr/>
        </p:nvSpPr>
        <p:spPr>
          <a:xfrm>
            <a:off x="4498848" y="1700784"/>
            <a:ext cx="3163824" cy="384048"/>
          </a:xfrm>
          <a:prstGeom prst="rect">
            <a:avLst/>
          </a:prstGeom>
          <a:noFill/>
          <a:ln/>
        </p:spPr>
        <p:txBody>
          <a:bodyPr wrap="square" lIns="0" tIns="0" rIns="0" bIns="0" rtlCol="0" anchor="ctr"/>
          <a:lstStyle/>
          <a:p>
            <a:pPr indent="0" marL="0">
              <a:buNone/>
            </a:pPr>
            <a:r>
              <a:rPr lang="en-US" sz="1550" b="1" dirty="0">
                <a:solidFill>
                  <a:schemeClr val="tx1"/>
                </a:solidFill>
              </a:rPr>
              <a:t>Borrador del proyecto final</a:t>
            </a:r>
            <a:endParaRPr lang="en-US" sz="1550" dirty="0"/>
          </a:p>
        </p:txBody>
      </p:sp>
      <p:sp>
        <p:nvSpPr>
          <p:cNvPr id="12" name="Text 10"/>
          <p:cNvSpPr txBox="1"/>
          <p:nvPr/>
        </p:nvSpPr>
        <p:spPr>
          <a:xfrm>
            <a:off x="4498848" y="2121408"/>
            <a:ext cx="3163824" cy="1097280"/>
          </a:xfrm>
          <a:prstGeom prst="rect">
            <a:avLst/>
          </a:prstGeom>
          <a:noFill/>
          <a:ln/>
        </p:spPr>
        <p:txBody>
          <a:bodyPr wrap="square" lIns="0" tIns="0" rIns="0" bIns="0" rtlCol="0" anchor="ctr"/>
          <a:lstStyle/>
          <a:p>
            <a:pPr indent="0" marL="0">
              <a:buNone/>
            </a:pPr>
            <a:r>
              <a:rPr lang="en-US" sz="1150" dirty="0">
                <a:solidFill>
                  <a:srgbClr val="51708D"/>
                </a:solidFill>
              </a:rPr>
              <a:t>Un MVP construido y medido: código funcionando, tres corpus anotados y resultados estadísticamente contrastados, aún en revisión.</a:t>
            </a:r>
            <a:endParaRPr lang="en-US" sz="1150" dirty="0"/>
          </a:p>
        </p:txBody>
      </p:sp>
      <p:sp>
        <p:nvSpPr>
          <p:cNvPr id="13" name="pres-2"/>
          <p:cNvSpPr/>
          <p:nvPr/>
        </p:nvSpPr>
        <p:spPr>
          <a:xfrm>
            <a:off x="8046720" y="1280160"/>
            <a:ext cx="3566160" cy="2057400"/>
          </a:xfrm>
          <a:prstGeom prst="roundRect">
            <a:avLst>
              <a:gd name="adj" fmla="val 3111"/>
            </a:avLst>
          </a:prstGeom>
          <a:solidFill>
            <a:srgbClr val="EEF3F9"/>
          </a:solidFill>
          <a:ln w="12700">
            <a:solidFill>
              <a:srgbClr val="EEF3F9"/>
            </a:solidFill>
            <a:prstDash val="solid"/>
          </a:ln>
        </p:spPr>
      </p:sp>
      <p:sp>
        <p:nvSpPr>
          <p:cNvPr id="14" name="Text 12"/>
          <p:cNvSpPr txBox="1"/>
          <p:nvPr/>
        </p:nvSpPr>
        <p:spPr>
          <a:xfrm>
            <a:off x="8247888" y="1444752"/>
            <a:ext cx="3163824" cy="237744"/>
          </a:xfrm>
          <a:prstGeom prst="rect">
            <a:avLst/>
          </a:prstGeom>
          <a:noFill/>
          <a:ln/>
        </p:spPr>
        <p:txBody>
          <a:bodyPr wrap="square" lIns="0" tIns="0" rIns="0" bIns="0" rtlCol="0" anchor="ctr"/>
          <a:lstStyle/>
          <a:p>
            <a:pPr indent="0" marL="0">
              <a:buNone/>
            </a:pPr>
            <a:r>
              <a:rPr lang="en-US" sz="1000" b="1" spc="120" kern="0" dirty="0">
                <a:solidFill>
                  <a:srgbClr val="0C6E6D"/>
                </a:solidFill>
              </a:rPr>
              <a:t>FORMATO</a:t>
            </a:r>
            <a:endParaRPr lang="en-US" sz="1000" dirty="0"/>
          </a:p>
        </p:txBody>
      </p:sp>
      <p:sp>
        <p:nvSpPr>
          <p:cNvPr id="15" name="Text 13"/>
          <p:cNvSpPr txBox="1"/>
          <p:nvPr/>
        </p:nvSpPr>
        <p:spPr>
          <a:xfrm>
            <a:off x="8247888" y="1700784"/>
            <a:ext cx="3163824" cy="384048"/>
          </a:xfrm>
          <a:prstGeom prst="rect">
            <a:avLst/>
          </a:prstGeom>
          <a:noFill/>
          <a:ln/>
        </p:spPr>
        <p:txBody>
          <a:bodyPr wrap="square" lIns="0" tIns="0" rIns="0" bIns="0" rtlCol="0" anchor="ctr"/>
          <a:lstStyle/>
          <a:p>
            <a:pPr indent="0" marL="0">
              <a:buNone/>
            </a:pPr>
            <a:r>
              <a:rPr lang="en-US" sz="1550" b="1" dirty="0">
                <a:solidFill>
                  <a:schemeClr val="tx1"/>
                </a:solidFill>
              </a:rPr>
              <a:t>10 a 15 min + 5 de preguntas</a:t>
            </a:r>
            <a:endParaRPr lang="en-US" sz="1550" dirty="0"/>
          </a:p>
        </p:txBody>
      </p:sp>
      <p:sp>
        <p:nvSpPr>
          <p:cNvPr id="16" name="Text 14"/>
          <p:cNvSpPr txBox="1"/>
          <p:nvPr/>
        </p:nvSpPr>
        <p:spPr>
          <a:xfrm>
            <a:off x="8247888" y="2121408"/>
            <a:ext cx="3163824" cy="1097280"/>
          </a:xfrm>
          <a:prstGeom prst="rect">
            <a:avLst/>
          </a:prstGeom>
          <a:noFill/>
          <a:ln/>
        </p:spPr>
        <p:txBody>
          <a:bodyPr wrap="square" lIns="0" tIns="0" rIns="0" bIns="0" rtlCol="0" anchor="ctr"/>
          <a:lstStyle/>
          <a:p>
            <a:pPr indent="0" marL="0">
              <a:buNone/>
            </a:pPr>
            <a:r>
              <a:rPr lang="en-US" sz="1150" dirty="0">
                <a:solidFill>
                  <a:srgbClr val="51708D"/>
                </a:solidFill>
              </a:rPr>
              <a:t>Treinta láminas: el recorrido principal y, al final de cada capítulo, las de detalle reservadas para la ronda de preguntas.</a:t>
            </a:r>
            <a:endParaRPr lang="en-US" sz="1150" dirty="0"/>
          </a:p>
        </p:txBody>
      </p:sp>
      <p:sp>
        <p:nvSpPr>
          <p:cNvPr id="17" name="tema"/>
          <p:cNvSpPr/>
          <p:nvPr/>
        </p:nvSpPr>
        <p:spPr>
          <a:xfrm>
            <a:off x="548640" y="3520440"/>
            <a:ext cx="11064240" cy="1234440"/>
          </a:xfrm>
          <a:prstGeom prst="roundRect">
            <a:avLst>
              <a:gd name="adj" fmla="val 5185"/>
            </a:avLst>
          </a:prstGeom>
          <a:solidFill>
            <a:srgbClr val="1E2761"/>
          </a:solidFill>
          <a:ln w="12700">
            <a:solidFill>
              <a:srgbClr val="333333"/>
            </a:solidFill>
            <a:prstDash val="solid"/>
          </a:ln>
        </p:spPr>
      </p:sp>
      <p:sp>
        <p:nvSpPr>
          <p:cNvPr id="18" name="Text 16"/>
          <p:cNvSpPr txBox="1"/>
          <p:nvPr/>
        </p:nvSpPr>
        <p:spPr>
          <a:xfrm>
            <a:off x="822960" y="3685032"/>
            <a:ext cx="10515600" cy="256032"/>
          </a:xfrm>
          <a:prstGeom prst="rect">
            <a:avLst/>
          </a:prstGeom>
          <a:noFill/>
          <a:ln/>
        </p:spPr>
        <p:txBody>
          <a:bodyPr wrap="square" lIns="0" tIns="0" rIns="0" bIns="0" rtlCol="0" anchor="ctr"/>
          <a:lstStyle/>
          <a:p>
            <a:pPr indent="0" marL="0">
              <a:buNone/>
            </a:pPr>
            <a:r>
              <a:rPr lang="en-US" sz="1000" b="1" spc="120" kern="0" dirty="0">
                <a:solidFill>
                  <a:srgbClr val="35B3A3"/>
                </a:solidFill>
              </a:rPr>
              <a:t>EL TEMA, Y POR QUÉ ES DE INTERÉS GENERAL</a:t>
            </a:r>
            <a:endParaRPr lang="en-US" sz="1000" dirty="0"/>
          </a:p>
        </p:txBody>
      </p:sp>
      <p:sp>
        <p:nvSpPr>
          <p:cNvPr id="19" name="Text 17"/>
          <p:cNvSpPr txBox="1"/>
          <p:nvPr/>
        </p:nvSpPr>
        <p:spPr>
          <a:xfrm>
            <a:off x="822960" y="3959352"/>
            <a:ext cx="10515600" cy="713232"/>
          </a:xfrm>
          <a:prstGeom prst="rect">
            <a:avLst/>
          </a:prstGeom>
          <a:noFill/>
          <a:ln/>
        </p:spPr>
        <p:txBody>
          <a:bodyPr wrap="square" lIns="0" tIns="0" rIns="0" bIns="0" rtlCol="0" anchor="ctr"/>
          <a:lstStyle/>
          <a:p>
            <a:pPr indent="0" marL="0">
              <a:buNone/>
            </a:pPr>
            <a:r>
              <a:rPr lang="en-US" sz="1300" dirty="0">
                <a:solidFill>
                  <a:srgbClr val="FFFFFF"/>
                </a:solidFill>
              </a:rPr>
              <a:t>Cualquier organización que deba revisar texto no estructurado —noticias, contratos, correos, expedientes— enfrenta el mismo dilema: automatizar con una API en la nube es rápido, pero entrega datos de clientes a un tercero. Este trabajo prueba que hoy se puede automatizar sin ceder el dato, con modelos abiertos sobre un equipo que la empresa ya tiene.</a:t>
            </a:r>
            <a:endParaRPr lang="en-US" sz="1300" dirty="0"/>
          </a:p>
        </p:txBody>
      </p:sp>
      <p:sp>
        <p:nvSpPr>
          <p:cNvPr id="20" name="dato-13"/>
          <p:cNvSpPr/>
          <p:nvPr/>
        </p:nvSpPr>
        <p:spPr>
          <a:xfrm>
            <a:off x="548640" y="4937760"/>
            <a:ext cx="2615184" cy="1051560"/>
          </a:xfrm>
          <a:prstGeom prst="roundRect">
            <a:avLst>
              <a:gd name="adj" fmla="val 5217"/>
            </a:avLst>
          </a:prstGeom>
          <a:solidFill>
            <a:srgbClr val="EEF3F9"/>
          </a:solidFill>
          <a:ln w="12700">
            <a:solidFill>
              <a:srgbClr val="EEF3F9"/>
            </a:solidFill>
            <a:prstDash val="solid"/>
          </a:ln>
        </p:spPr>
      </p:sp>
      <p:sp>
        <p:nvSpPr>
          <p:cNvPr id="21" name="Text 19"/>
          <p:cNvSpPr txBox="1"/>
          <p:nvPr/>
        </p:nvSpPr>
        <p:spPr>
          <a:xfrm>
            <a:off x="694944" y="502005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13</a:t>
            </a:r>
            <a:endParaRPr lang="en-US" sz="2400" dirty="0"/>
          </a:p>
        </p:txBody>
      </p:sp>
      <p:sp>
        <p:nvSpPr>
          <p:cNvPr id="22" name="Text 20"/>
          <p:cNvSpPr txBox="1"/>
          <p:nvPr/>
        </p:nvSpPr>
        <p:spPr>
          <a:xfrm>
            <a:off x="694944" y="5468112"/>
            <a:ext cx="2322576" cy="457200"/>
          </a:xfrm>
          <a:prstGeom prst="rect">
            <a:avLst/>
          </a:prstGeom>
          <a:noFill/>
          <a:ln/>
        </p:spPr>
        <p:txBody>
          <a:bodyPr wrap="square" lIns="0" tIns="0" rIns="0" bIns="0" rtlCol="0" anchor="ctr"/>
          <a:lstStyle/>
          <a:p>
            <a:pPr indent="0" marL="0">
              <a:buNone/>
            </a:pPr>
            <a:r>
              <a:rPr lang="en-US" sz="1050" dirty="0">
                <a:solidFill>
                  <a:srgbClr val="51708D"/>
                </a:solidFill>
              </a:rPr>
              <a:t>modelos abiertos evaluados</a:t>
            </a:r>
            <a:endParaRPr lang="en-US" sz="1050" dirty="0"/>
          </a:p>
        </p:txBody>
      </p:sp>
      <p:sp>
        <p:nvSpPr>
          <p:cNvPr id="23" name="dato-120"/>
          <p:cNvSpPr/>
          <p:nvPr/>
        </p:nvSpPr>
        <p:spPr>
          <a:xfrm>
            <a:off x="3364992" y="4937760"/>
            <a:ext cx="2615184" cy="1051560"/>
          </a:xfrm>
          <a:prstGeom prst="roundRect">
            <a:avLst>
              <a:gd name="adj" fmla="val 5217"/>
            </a:avLst>
          </a:prstGeom>
          <a:solidFill>
            <a:srgbClr val="EEF3F9"/>
          </a:solidFill>
          <a:ln w="12700">
            <a:solidFill>
              <a:srgbClr val="EEF3F9"/>
            </a:solidFill>
            <a:prstDash val="solid"/>
          </a:ln>
        </p:spPr>
      </p:sp>
      <p:sp>
        <p:nvSpPr>
          <p:cNvPr id="24" name="Text 22"/>
          <p:cNvSpPr txBox="1"/>
          <p:nvPr/>
        </p:nvSpPr>
        <p:spPr>
          <a:xfrm>
            <a:off x="3511296" y="502005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120</a:t>
            </a:r>
            <a:endParaRPr lang="en-US" sz="2400" dirty="0"/>
          </a:p>
        </p:txBody>
      </p:sp>
      <p:sp>
        <p:nvSpPr>
          <p:cNvPr id="25" name="Text 23"/>
          <p:cNvSpPr txBox="1"/>
          <p:nvPr/>
        </p:nvSpPr>
        <p:spPr>
          <a:xfrm>
            <a:off x="3511296" y="5468112"/>
            <a:ext cx="2322576" cy="457200"/>
          </a:xfrm>
          <a:prstGeom prst="rect">
            <a:avLst/>
          </a:prstGeom>
          <a:noFill/>
          <a:ln/>
        </p:spPr>
        <p:txBody>
          <a:bodyPr wrap="square" lIns="0" tIns="0" rIns="0" bIns="0" rtlCol="0" anchor="ctr"/>
          <a:lstStyle/>
          <a:p>
            <a:pPr indent="0" marL="0">
              <a:buNone/>
            </a:pPr>
            <a:r>
              <a:rPr lang="en-US" sz="1050" dirty="0">
                <a:solidFill>
                  <a:srgbClr val="51708D"/>
                </a:solidFill>
              </a:rPr>
              <a:t>artículos reales anotados</a:t>
            </a:r>
            <a:endParaRPr lang="en-US" sz="1050" dirty="0"/>
          </a:p>
        </p:txBody>
      </p:sp>
      <p:sp>
        <p:nvSpPr>
          <p:cNvPr id="26" name="dato-81,47 %"/>
          <p:cNvSpPr/>
          <p:nvPr/>
        </p:nvSpPr>
        <p:spPr>
          <a:xfrm>
            <a:off x="6181344" y="4937760"/>
            <a:ext cx="2615184" cy="1051560"/>
          </a:xfrm>
          <a:prstGeom prst="roundRect">
            <a:avLst>
              <a:gd name="adj" fmla="val 5217"/>
            </a:avLst>
          </a:prstGeom>
          <a:solidFill>
            <a:srgbClr val="EEF3F9"/>
          </a:solidFill>
          <a:ln w="12700">
            <a:solidFill>
              <a:srgbClr val="EEF3F9"/>
            </a:solidFill>
            <a:prstDash val="solid"/>
          </a:ln>
        </p:spPr>
      </p:sp>
      <p:sp>
        <p:nvSpPr>
          <p:cNvPr id="27" name="Text 25"/>
          <p:cNvSpPr txBox="1"/>
          <p:nvPr/>
        </p:nvSpPr>
        <p:spPr>
          <a:xfrm>
            <a:off x="6327648" y="502005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81,47 %</a:t>
            </a:r>
            <a:endParaRPr lang="en-US" sz="2400" dirty="0"/>
          </a:p>
        </p:txBody>
      </p:sp>
      <p:sp>
        <p:nvSpPr>
          <p:cNvPr id="28" name="Text 26"/>
          <p:cNvSpPr txBox="1"/>
          <p:nvPr/>
        </p:nvSpPr>
        <p:spPr>
          <a:xfrm>
            <a:off x="6327648" y="5468112"/>
            <a:ext cx="2322576" cy="457200"/>
          </a:xfrm>
          <a:prstGeom prst="rect">
            <a:avLst/>
          </a:prstGeom>
          <a:noFill/>
          <a:ln/>
        </p:spPr>
        <p:txBody>
          <a:bodyPr wrap="square" lIns="0" tIns="0" rIns="0" bIns="0" rtlCol="0" anchor="ctr"/>
          <a:lstStyle/>
          <a:p>
            <a:pPr indent="0" marL="0">
              <a:buNone/>
            </a:pPr>
            <a:r>
              <a:rPr lang="en-US" sz="1050" dirty="0">
                <a:solidFill>
                  <a:srgbClr val="51708D"/>
                </a:solidFill>
              </a:rPr>
              <a:t>F1 del mejor modelo local</a:t>
            </a:r>
            <a:endParaRPr lang="en-US" sz="1050" dirty="0"/>
          </a:p>
        </p:txBody>
      </p:sp>
      <p:sp>
        <p:nvSpPr>
          <p:cNvPr id="29" name="dato-0"/>
          <p:cNvSpPr/>
          <p:nvPr/>
        </p:nvSpPr>
        <p:spPr>
          <a:xfrm>
            <a:off x="8997696" y="4937760"/>
            <a:ext cx="2615184" cy="1051560"/>
          </a:xfrm>
          <a:prstGeom prst="roundRect">
            <a:avLst>
              <a:gd name="adj" fmla="val 5217"/>
            </a:avLst>
          </a:prstGeom>
          <a:solidFill>
            <a:srgbClr val="EEF3F9"/>
          </a:solidFill>
          <a:ln w="12700">
            <a:solidFill>
              <a:srgbClr val="EEF3F9"/>
            </a:solidFill>
            <a:prstDash val="solid"/>
          </a:ln>
        </p:spPr>
      </p:sp>
      <p:sp>
        <p:nvSpPr>
          <p:cNvPr id="30" name="Text 28"/>
          <p:cNvSpPr txBox="1"/>
          <p:nvPr/>
        </p:nvSpPr>
        <p:spPr>
          <a:xfrm>
            <a:off x="9144000" y="502005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0</a:t>
            </a:r>
            <a:endParaRPr lang="en-US" sz="2400" dirty="0"/>
          </a:p>
        </p:txBody>
      </p:sp>
      <p:sp>
        <p:nvSpPr>
          <p:cNvPr id="31" name="Text 29"/>
          <p:cNvSpPr txBox="1"/>
          <p:nvPr/>
        </p:nvSpPr>
        <p:spPr>
          <a:xfrm>
            <a:off x="9144000" y="5468112"/>
            <a:ext cx="2322576" cy="457200"/>
          </a:xfrm>
          <a:prstGeom prst="rect">
            <a:avLst/>
          </a:prstGeom>
          <a:noFill/>
          <a:ln/>
        </p:spPr>
        <p:txBody>
          <a:bodyPr wrap="square" lIns="0" tIns="0" rIns="0" bIns="0" rtlCol="0" anchor="ctr"/>
          <a:lstStyle/>
          <a:p>
            <a:pPr indent="0" marL="0">
              <a:buNone/>
            </a:pPr>
            <a:r>
              <a:rPr lang="en-US" sz="1050" dirty="0">
                <a:solidFill>
                  <a:srgbClr val="51708D"/>
                </a:solidFill>
              </a:rPr>
              <a:t>salidas a Internet en operación local</a:t>
            </a:r>
            <a:endParaRPr lang="en-US" sz="1050" dirty="0"/>
          </a:p>
        </p:txBody>
      </p:sp>
      <p:sp>
        <p:nvSpPr>
          <p:cNvPr id="33"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hip-RUTA"/>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RUTA</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El recorrido de los próximos quince minutos</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indent="0" marL="0">
              <a:spcAft>
                <a:spcPts val="600"/>
              </a:spcAft>
              <a:buNone/>
            </a:pPr>
            <a:r>
              <a:rPr lang="en-US" sz="1200" dirty="0">
                <a:solidFill>
                  <a:srgbClr val="51708D"/>
                </a:solidFill>
              </a:rPr>
              <a:t>La pregunta que ordena todo el trabajo:</a:t>
            </a:r>
            <a:endParaRPr lang="en-US" sz="1400" dirty="0"/>
          </a:p>
          <a:p>
            <a:pPr algn="l" indent="0" marL="0">
              <a:spcAft>
                <a:spcPts val="1600"/>
              </a:spcAft>
              <a:buNone/>
            </a:pPr>
            <a:r>
              <a:rPr lang="en-US" sz="1700" b="1" dirty="0">
                <a:solidFill>
                  <a:srgbClr val="0C6E6D"/>
                </a:solidFill>
              </a:rPr>
              <a:t>¿Puede un modelo de lenguaje abierto, corriendo en un equipo de la propia empresa, igualar a una API comercial sin entregarle los datos del cliente?</a:t>
            </a:r>
            <a:endParaRPr lang="en-US" sz="1400" dirty="0"/>
          </a:p>
          <a:p>
            <a:pPr algn="l" indent="0" marL="0">
              <a:buNone/>
            </a:pPr>
            <a:r>
              <a:rPr lang="en-US" sz="1350" dirty="0">
                <a:solidFill>
                  <a:schemeClr val="tx1"/>
                </a:solidFill>
              </a:rPr>
              <a:t>La respuesta corta es que sí, y que la diferencia es menor a un punto porcentual de F1. El resto de la presentación es cómo se midió eso y qué supuestos hay detrás.</a:t>
            </a:r>
            <a:endParaRPr lang="en-US" sz="1400" dirty="0"/>
          </a:p>
        </p:txBody>
      </p:sp>
      <p:sp>
        <p:nvSpPr>
          <p:cNvPr id="6" name="num-1"/>
          <p:cNvSpPr/>
          <p:nvPr/>
        </p:nvSpPr>
        <p:spPr>
          <a:xfrm>
            <a:off x="6309360" y="1380744"/>
            <a:ext cx="384048" cy="384048"/>
          </a:xfrm>
          <a:prstGeom prst="ellipse">
            <a:avLst/>
          </a:prstGeom>
          <a:solidFill>
            <a:srgbClr val="0C6E6D"/>
          </a:solidFill>
          <a:ln w="12700">
            <a:solidFill>
              <a:srgbClr val="333333"/>
            </a:solidFill>
            <a:prstDash val="solid"/>
          </a:ln>
        </p:spPr>
      </p:sp>
      <p:sp>
        <p:nvSpPr>
          <p:cNvPr id="7" name="Text 5"/>
          <p:cNvSpPr txBox="1"/>
          <p:nvPr/>
        </p:nvSpPr>
        <p:spPr>
          <a:xfrm>
            <a:off x="6309360" y="1380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txBox="1"/>
          <p:nvPr/>
        </p:nvSpPr>
        <p:spPr>
          <a:xfrm>
            <a:off x="6858000" y="1325880"/>
            <a:ext cx="4754880" cy="274320"/>
          </a:xfrm>
          <a:prstGeom prst="rect">
            <a:avLst/>
          </a:prstGeom>
          <a:noFill/>
          <a:ln/>
        </p:spPr>
        <p:txBody>
          <a:bodyPr wrap="square" lIns="0" tIns="0" rIns="0" bIns="0" rtlCol="0" anchor="ctr"/>
          <a:lstStyle/>
          <a:p>
            <a:pPr indent="0" marL="0">
              <a:buNone/>
            </a:pPr>
            <a:r>
              <a:rPr lang="en-US" sz="1400" b="1" dirty="0">
                <a:solidFill>
                  <a:schemeClr val="tx1"/>
                </a:solidFill>
              </a:rPr>
              <a:t>Problema y trilema</a:t>
            </a:r>
            <a:endParaRPr lang="en-US" sz="1400" dirty="0"/>
          </a:p>
        </p:txBody>
      </p:sp>
      <p:sp>
        <p:nvSpPr>
          <p:cNvPr id="9" name="Text 7"/>
          <p:cNvSpPr txBox="1"/>
          <p:nvPr/>
        </p:nvSpPr>
        <p:spPr>
          <a:xfrm>
            <a:off x="6858000" y="1600200"/>
            <a:ext cx="4754880" cy="329184"/>
          </a:xfrm>
          <a:prstGeom prst="rect">
            <a:avLst/>
          </a:prstGeom>
          <a:noFill/>
          <a:ln/>
        </p:spPr>
        <p:txBody>
          <a:bodyPr wrap="square" lIns="0" tIns="0" rIns="0" bIns="0" rtlCol="0" anchor="ctr"/>
          <a:lstStyle/>
          <a:p>
            <a:pPr indent="0" marL="0">
              <a:buNone/>
            </a:pPr>
            <a:r>
              <a:rPr lang="en-US" sz="1100" dirty="0">
                <a:solidFill>
                  <a:srgbClr val="51708D"/>
                </a:solidFill>
              </a:rPr>
              <a:t>El costo de vigilar noticias y por qué ninguna vía lo resuelve sola</a:t>
            </a:r>
            <a:endParaRPr lang="en-US" sz="1100" dirty="0"/>
          </a:p>
        </p:txBody>
      </p:sp>
      <p:sp>
        <p:nvSpPr>
          <p:cNvPr id="10" name="num-2"/>
          <p:cNvSpPr/>
          <p:nvPr/>
        </p:nvSpPr>
        <p:spPr>
          <a:xfrm>
            <a:off x="6309360" y="2093976"/>
            <a:ext cx="384048" cy="384048"/>
          </a:xfrm>
          <a:prstGeom prst="ellipse">
            <a:avLst/>
          </a:prstGeom>
          <a:solidFill>
            <a:srgbClr val="0C6E6D"/>
          </a:solidFill>
          <a:ln w="12700">
            <a:solidFill>
              <a:srgbClr val="333333"/>
            </a:solidFill>
            <a:prstDash val="solid"/>
          </a:ln>
        </p:spPr>
      </p:sp>
      <p:sp>
        <p:nvSpPr>
          <p:cNvPr id="11" name="Text 9"/>
          <p:cNvSpPr txBox="1"/>
          <p:nvPr/>
        </p:nvSpPr>
        <p:spPr>
          <a:xfrm>
            <a:off x="6309360" y="2093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858000" y="2039112"/>
            <a:ext cx="4754880" cy="274320"/>
          </a:xfrm>
          <a:prstGeom prst="rect">
            <a:avLst/>
          </a:prstGeom>
          <a:noFill/>
          <a:ln/>
        </p:spPr>
        <p:txBody>
          <a:bodyPr wrap="square" lIns="0" tIns="0" rIns="0" bIns="0" rtlCol="0" anchor="ctr"/>
          <a:lstStyle/>
          <a:p>
            <a:pPr indent="0" marL="0">
              <a:buNone/>
            </a:pPr>
            <a:r>
              <a:rPr lang="en-US" sz="1400" b="1" dirty="0">
                <a:solidFill>
                  <a:schemeClr val="tx1"/>
                </a:solidFill>
              </a:rPr>
              <a:t>Marco teórico</a:t>
            </a:r>
            <a:endParaRPr lang="en-US" sz="1400" dirty="0"/>
          </a:p>
        </p:txBody>
      </p:sp>
      <p:sp>
        <p:nvSpPr>
          <p:cNvPr id="13" name="Text 11"/>
          <p:cNvSpPr txBox="1"/>
          <p:nvPr/>
        </p:nvSpPr>
        <p:spPr>
          <a:xfrm>
            <a:off x="6858000" y="2313432"/>
            <a:ext cx="4754880" cy="329184"/>
          </a:xfrm>
          <a:prstGeom prst="rect">
            <a:avLst/>
          </a:prstGeom>
          <a:noFill/>
          <a:ln/>
        </p:spPr>
        <p:txBody>
          <a:bodyPr wrap="square" lIns="0" tIns="0" rIns="0" bIns="0" rtlCol="0" anchor="ctr"/>
          <a:lstStyle/>
          <a:p>
            <a:pPr indent="0" marL="0">
              <a:buNone/>
            </a:pPr>
            <a:r>
              <a:rPr lang="en-US" sz="1100" dirty="0">
                <a:solidFill>
                  <a:srgbClr val="51708D"/>
                </a:solidFill>
              </a:rPr>
              <a:t>Familias de NER, aprendizaje en contexto y RAG contextual</a:t>
            </a:r>
            <a:endParaRPr lang="en-US" sz="1100" dirty="0"/>
          </a:p>
        </p:txBody>
      </p:sp>
      <p:sp>
        <p:nvSpPr>
          <p:cNvPr id="14" name="num-3"/>
          <p:cNvSpPr/>
          <p:nvPr/>
        </p:nvSpPr>
        <p:spPr>
          <a:xfrm>
            <a:off x="6309360" y="2807208"/>
            <a:ext cx="384048" cy="384048"/>
          </a:xfrm>
          <a:prstGeom prst="ellipse">
            <a:avLst/>
          </a:prstGeom>
          <a:solidFill>
            <a:srgbClr val="0C6E6D"/>
          </a:solidFill>
          <a:ln w="12700">
            <a:solidFill>
              <a:srgbClr val="333333"/>
            </a:solidFill>
            <a:prstDash val="solid"/>
          </a:ln>
        </p:spPr>
      </p:sp>
      <p:sp>
        <p:nvSpPr>
          <p:cNvPr id="15" name="Text 13"/>
          <p:cNvSpPr txBox="1"/>
          <p:nvPr/>
        </p:nvSpPr>
        <p:spPr>
          <a:xfrm>
            <a:off x="6309360" y="2807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6858000" y="2752344"/>
            <a:ext cx="4754880" cy="274320"/>
          </a:xfrm>
          <a:prstGeom prst="rect">
            <a:avLst/>
          </a:prstGeom>
          <a:noFill/>
          <a:ln/>
        </p:spPr>
        <p:txBody>
          <a:bodyPr wrap="square" lIns="0" tIns="0" rIns="0" bIns="0" rtlCol="0" anchor="ctr"/>
          <a:lstStyle/>
          <a:p>
            <a:pPr indent="0" marL="0">
              <a:buNone/>
            </a:pPr>
            <a:r>
              <a:rPr lang="en-US" sz="1400" b="1" dirty="0">
                <a:solidFill>
                  <a:schemeClr val="tx1"/>
                </a:solidFill>
              </a:rPr>
              <a:t>Arquitectura y MVP</a:t>
            </a:r>
            <a:endParaRPr lang="en-US" sz="1400" dirty="0"/>
          </a:p>
        </p:txBody>
      </p:sp>
      <p:sp>
        <p:nvSpPr>
          <p:cNvPr id="17" name="Text 15"/>
          <p:cNvSpPr txBox="1"/>
          <p:nvPr/>
        </p:nvSpPr>
        <p:spPr>
          <a:xfrm>
            <a:off x="6858000" y="3026664"/>
            <a:ext cx="4754880" cy="329184"/>
          </a:xfrm>
          <a:prstGeom prst="rect">
            <a:avLst/>
          </a:prstGeom>
          <a:noFill/>
          <a:ln/>
        </p:spPr>
        <p:txBody>
          <a:bodyPr wrap="square" lIns="0" tIns="0" rIns="0" bIns="0" rtlCol="0" anchor="ctr"/>
          <a:lstStyle/>
          <a:p>
            <a:pPr indent="0" marL="0">
              <a:buNone/>
            </a:pPr>
            <a:r>
              <a:rPr lang="en-US" sz="1100" dirty="0">
                <a:solidFill>
                  <a:srgbClr val="51708D"/>
                </a:solidFill>
              </a:rPr>
              <a:t>Ejecución local, concurrencia adaptativa y aislamiento de proveedores</a:t>
            </a:r>
            <a:endParaRPr lang="en-US" sz="1100" dirty="0"/>
          </a:p>
        </p:txBody>
      </p:sp>
      <p:sp>
        <p:nvSpPr>
          <p:cNvPr id="18" name="num-4"/>
          <p:cNvSpPr/>
          <p:nvPr/>
        </p:nvSpPr>
        <p:spPr>
          <a:xfrm>
            <a:off x="6309360" y="3520440"/>
            <a:ext cx="384048" cy="384048"/>
          </a:xfrm>
          <a:prstGeom prst="ellipse">
            <a:avLst/>
          </a:prstGeom>
          <a:solidFill>
            <a:srgbClr val="0C6E6D"/>
          </a:solidFill>
          <a:ln w="12700">
            <a:solidFill>
              <a:srgbClr val="333333"/>
            </a:solidFill>
            <a:prstDash val="solid"/>
          </a:ln>
        </p:spPr>
      </p:sp>
      <p:sp>
        <p:nvSpPr>
          <p:cNvPr id="19" name="Text 17"/>
          <p:cNvSpPr txBox="1"/>
          <p:nvPr/>
        </p:nvSpPr>
        <p:spPr>
          <a:xfrm>
            <a:off x="6309360"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8"/>
          <p:cNvSpPr txBox="1"/>
          <p:nvPr/>
        </p:nvSpPr>
        <p:spPr>
          <a:xfrm>
            <a:off x="6858000" y="3465576"/>
            <a:ext cx="4754880" cy="274320"/>
          </a:xfrm>
          <a:prstGeom prst="rect">
            <a:avLst/>
          </a:prstGeom>
          <a:noFill/>
          <a:ln/>
        </p:spPr>
        <p:txBody>
          <a:bodyPr wrap="square" lIns="0" tIns="0" rIns="0" bIns="0" rtlCol="0" anchor="ctr"/>
          <a:lstStyle/>
          <a:p>
            <a:pPr indent="0" marL="0">
              <a:buNone/>
            </a:pPr>
            <a:r>
              <a:rPr lang="en-US" sz="1400" b="1" dirty="0">
                <a:solidFill>
                  <a:schemeClr val="tx1"/>
                </a:solidFill>
              </a:rPr>
              <a:t>Diseño experimental</a:t>
            </a:r>
            <a:endParaRPr lang="en-US" sz="1400" dirty="0"/>
          </a:p>
        </p:txBody>
      </p:sp>
      <p:sp>
        <p:nvSpPr>
          <p:cNvPr id="21" name="Text 19"/>
          <p:cNvSpPr txBox="1"/>
          <p:nvPr/>
        </p:nvSpPr>
        <p:spPr>
          <a:xfrm>
            <a:off x="6858000" y="3739896"/>
            <a:ext cx="4754880" cy="329184"/>
          </a:xfrm>
          <a:prstGeom prst="rect">
            <a:avLst/>
          </a:prstGeom>
          <a:noFill/>
          <a:ln/>
        </p:spPr>
        <p:txBody>
          <a:bodyPr wrap="square" lIns="0" tIns="0" rIns="0" bIns="0" rtlCol="0" anchor="ctr"/>
          <a:lstStyle/>
          <a:p>
            <a:pPr indent="0" marL="0">
              <a:buNone/>
            </a:pPr>
            <a:r>
              <a:rPr lang="en-US" sz="1100" dirty="0">
                <a:solidFill>
                  <a:srgbClr val="51708D"/>
                </a:solidFill>
              </a:rPr>
              <a:t>Tres corpus, trece configuraciones y validación estadística</a:t>
            </a:r>
            <a:endParaRPr lang="en-US" sz="1100" dirty="0"/>
          </a:p>
        </p:txBody>
      </p:sp>
      <p:sp>
        <p:nvSpPr>
          <p:cNvPr id="22" name="num-5"/>
          <p:cNvSpPr/>
          <p:nvPr/>
        </p:nvSpPr>
        <p:spPr>
          <a:xfrm>
            <a:off x="6309360" y="4233672"/>
            <a:ext cx="384048" cy="384048"/>
          </a:xfrm>
          <a:prstGeom prst="ellipse">
            <a:avLst/>
          </a:prstGeom>
          <a:solidFill>
            <a:srgbClr val="0C6E6D"/>
          </a:solidFill>
          <a:ln w="12700">
            <a:solidFill>
              <a:srgbClr val="333333"/>
            </a:solidFill>
            <a:prstDash val="solid"/>
          </a:ln>
        </p:spPr>
      </p:sp>
      <p:sp>
        <p:nvSpPr>
          <p:cNvPr id="23" name="Text 21"/>
          <p:cNvSpPr txBox="1"/>
          <p:nvPr/>
        </p:nvSpPr>
        <p:spPr>
          <a:xfrm>
            <a:off x="6309360" y="4233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4" name="Text 22"/>
          <p:cNvSpPr txBox="1"/>
          <p:nvPr/>
        </p:nvSpPr>
        <p:spPr>
          <a:xfrm>
            <a:off x="6858000" y="4178808"/>
            <a:ext cx="4754880" cy="274320"/>
          </a:xfrm>
          <a:prstGeom prst="rect">
            <a:avLst/>
          </a:prstGeom>
          <a:noFill/>
          <a:ln/>
        </p:spPr>
        <p:txBody>
          <a:bodyPr wrap="square" lIns="0" tIns="0" rIns="0" bIns="0" rtlCol="0" anchor="ctr"/>
          <a:lstStyle/>
          <a:p>
            <a:pPr indent="0" marL="0">
              <a:buNone/>
            </a:pPr>
            <a:r>
              <a:rPr lang="en-US" sz="1400" b="1" dirty="0">
                <a:solidFill>
                  <a:schemeClr val="tx1"/>
                </a:solidFill>
              </a:rPr>
              <a:t>Resultados</a:t>
            </a:r>
            <a:endParaRPr lang="en-US" sz="1400" dirty="0"/>
          </a:p>
        </p:txBody>
      </p:sp>
      <p:sp>
        <p:nvSpPr>
          <p:cNvPr id="25" name="Text 23"/>
          <p:cNvSpPr txBox="1"/>
          <p:nvPr/>
        </p:nvSpPr>
        <p:spPr>
          <a:xfrm>
            <a:off x="6858000" y="4453128"/>
            <a:ext cx="4754880" cy="329184"/>
          </a:xfrm>
          <a:prstGeom prst="rect">
            <a:avLst/>
          </a:prstGeom>
          <a:noFill/>
          <a:ln/>
        </p:spPr>
        <p:txBody>
          <a:bodyPr wrap="square" lIns="0" tIns="0" rIns="0" bIns="0" rtlCol="0" anchor="ctr"/>
          <a:lstStyle/>
          <a:p>
            <a:pPr indent="0" marL="0">
              <a:buNone/>
            </a:pPr>
            <a:r>
              <a:rPr lang="en-US" sz="1100" dirty="0">
                <a:solidFill>
                  <a:srgbClr val="51708D"/>
                </a:solidFill>
              </a:rPr>
              <a:t>Desempeño, soberanía frente a la nube, alucinaciones y eficiencia</a:t>
            </a:r>
            <a:endParaRPr lang="en-US" sz="1100" dirty="0"/>
          </a:p>
        </p:txBody>
      </p:sp>
      <p:sp>
        <p:nvSpPr>
          <p:cNvPr id="26" name="num-6"/>
          <p:cNvSpPr/>
          <p:nvPr/>
        </p:nvSpPr>
        <p:spPr>
          <a:xfrm>
            <a:off x="6309360" y="4946904"/>
            <a:ext cx="384048" cy="384048"/>
          </a:xfrm>
          <a:prstGeom prst="ellipse">
            <a:avLst/>
          </a:prstGeom>
          <a:solidFill>
            <a:srgbClr val="0C6E6D"/>
          </a:solidFill>
          <a:ln w="12700">
            <a:solidFill>
              <a:srgbClr val="333333"/>
            </a:solidFill>
            <a:prstDash val="solid"/>
          </a:ln>
        </p:spPr>
      </p:sp>
      <p:sp>
        <p:nvSpPr>
          <p:cNvPr id="27" name="Text 25"/>
          <p:cNvSpPr txBox="1"/>
          <p:nvPr/>
        </p:nvSpPr>
        <p:spPr>
          <a:xfrm>
            <a:off x="6309360"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8" name="Text 26"/>
          <p:cNvSpPr txBox="1"/>
          <p:nvPr/>
        </p:nvSpPr>
        <p:spPr>
          <a:xfrm>
            <a:off x="6858000" y="4892040"/>
            <a:ext cx="4754880" cy="274320"/>
          </a:xfrm>
          <a:prstGeom prst="rect">
            <a:avLst/>
          </a:prstGeom>
          <a:noFill/>
          <a:ln/>
        </p:spPr>
        <p:txBody>
          <a:bodyPr wrap="square" lIns="0" tIns="0" rIns="0" bIns="0" rtlCol="0" anchor="ctr"/>
          <a:lstStyle/>
          <a:p>
            <a:pPr indent="0" marL="0">
              <a:buNone/>
            </a:pPr>
            <a:r>
              <a:rPr lang="en-US" sz="1400" b="1" dirty="0">
                <a:solidFill>
                  <a:schemeClr val="tx1"/>
                </a:solidFill>
              </a:rPr>
              <a:t>Conclusiones</a:t>
            </a:r>
            <a:endParaRPr lang="en-US" sz="1400" dirty="0"/>
          </a:p>
        </p:txBody>
      </p:sp>
      <p:sp>
        <p:nvSpPr>
          <p:cNvPr id="29" name="Text 27"/>
          <p:cNvSpPr txBox="1"/>
          <p:nvPr/>
        </p:nvSpPr>
        <p:spPr>
          <a:xfrm>
            <a:off x="6858000" y="5166360"/>
            <a:ext cx="4754880" cy="329184"/>
          </a:xfrm>
          <a:prstGeom prst="rect">
            <a:avLst/>
          </a:prstGeom>
          <a:noFill/>
          <a:ln/>
        </p:spPr>
        <p:txBody>
          <a:bodyPr wrap="square" lIns="0" tIns="0" rIns="0" bIns="0" rtlCol="0" anchor="ctr"/>
          <a:lstStyle/>
          <a:p>
            <a:pPr indent="0" marL="0">
              <a:buNone/>
            </a:pPr>
            <a:r>
              <a:rPr lang="en-US" sz="1100" dirty="0">
                <a:solidFill>
                  <a:srgbClr val="51708D"/>
                </a:solidFill>
              </a:rPr>
              <a:t>Viabilidad, costos, limitaciones y hoja de ruta</a:t>
            </a:r>
            <a:endParaRPr lang="en-US" sz="1100" dirty="0"/>
          </a:p>
        </p:txBody>
      </p:sp>
      <p:sp>
        <p:nvSpPr>
          <p:cNvPr id="30" name="caso"/>
          <p:cNvSpPr/>
          <p:nvPr/>
        </p:nvSpPr>
        <p:spPr>
          <a:xfrm>
            <a:off x="548640" y="4206240"/>
            <a:ext cx="5257800" cy="1554480"/>
          </a:xfrm>
          <a:prstGeom prst="roundRect">
            <a:avLst>
              <a:gd name="adj" fmla="val 3529"/>
            </a:avLst>
          </a:prstGeom>
          <a:solidFill>
            <a:srgbClr val="EEF3F9"/>
          </a:solidFill>
          <a:ln w="12700">
            <a:solidFill>
              <a:srgbClr val="EEF3F9"/>
            </a:solidFill>
            <a:prstDash val="solid"/>
          </a:ln>
        </p:spPr>
      </p:sp>
      <p:sp>
        <p:nvSpPr>
          <p:cNvPr id="31" name="Text 29"/>
          <p:cNvSpPr txBox="1"/>
          <p:nvPr/>
        </p:nvSpPr>
        <p:spPr>
          <a:xfrm>
            <a:off x="777240" y="4370832"/>
            <a:ext cx="4800600" cy="274320"/>
          </a:xfrm>
          <a:prstGeom prst="rect">
            <a:avLst/>
          </a:prstGeom>
          <a:noFill/>
          <a:ln/>
        </p:spPr>
        <p:txBody>
          <a:bodyPr wrap="square" lIns="0" tIns="0" rIns="0" bIns="0" rtlCol="0" anchor="ctr"/>
          <a:lstStyle/>
          <a:p>
            <a:pPr indent="0" marL="0">
              <a:buNone/>
            </a:pPr>
            <a:r>
              <a:rPr lang="en-US" sz="1100" b="1" spc="100" kern="0" dirty="0">
                <a:solidFill>
                  <a:srgbClr val="0C6E6D"/>
                </a:solidFill>
              </a:rPr>
              <a:t>El caso, en una línea</a:t>
            </a:r>
            <a:endParaRPr lang="en-US" sz="1100" dirty="0"/>
          </a:p>
        </p:txBody>
      </p:sp>
      <p:sp>
        <p:nvSpPr>
          <p:cNvPr id="32" name="Text 30"/>
          <p:cNvSpPr txBox="1"/>
          <p:nvPr/>
        </p:nvSpPr>
        <p:spPr>
          <a:xfrm>
            <a:off x="777240" y="4645152"/>
            <a:ext cx="4800600" cy="1005840"/>
          </a:xfrm>
          <a:prstGeom prst="rect">
            <a:avLst/>
          </a:prstGeom>
          <a:noFill/>
          <a:ln/>
        </p:spPr>
        <p:txBody>
          <a:bodyPr wrap="square" lIns="0" tIns="0" rIns="0" bIns="0" rtlCol="0" anchor="ctr"/>
          <a:lstStyle/>
          <a:p>
            <a:pPr indent="0" marL="0">
              <a:buNone/>
            </a:pPr>
            <a:r>
              <a:rPr lang="en-US" sz="1250" dirty="0">
                <a:solidFill>
                  <a:schemeClr val="tx1"/>
                </a:solidFill>
              </a:rPr>
              <a:t>Trece modelos abiertos, de 1,5B a 31B parámetros, evaluados sobre 120 artículos reales para extraer personas y organizaciones sujetas a vigilancia de cumplimiento, con todo el procesamiento dentro de la organización.</a:t>
            </a:r>
            <a:endParaRPr lang="en-US" sz="1250" dirty="0"/>
          </a:p>
        </p:txBody>
      </p:sp>
      <p:sp>
        <p:nvSpPr>
          <p:cNvPr id="34"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hip-MVP"/>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MVP</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Qué está construido y funcionando hoy</a:t>
            </a:r>
            <a:endParaRPr lang="en-US" sz="2600" dirty="0"/>
          </a:p>
        </p:txBody>
      </p:sp>
      <p:sp>
        <p:nvSpPr>
          <p:cNvPr id="5" name="mvp-0"/>
          <p:cNvSpPr/>
          <p:nvPr/>
        </p:nvSpPr>
        <p:spPr>
          <a:xfrm>
            <a:off x="548640" y="1280160"/>
            <a:ext cx="5440680" cy="1152144"/>
          </a:xfrm>
          <a:prstGeom prst="roundRect">
            <a:avLst>
              <a:gd name="adj" fmla="val 4762"/>
            </a:avLst>
          </a:prstGeom>
          <a:solidFill>
            <a:srgbClr val="FFFFFF"/>
          </a:solidFill>
          <a:ln w="12700">
            <a:solidFill>
              <a:srgbClr val="D6DFE9"/>
            </a:solidFill>
            <a:prstDash val="solid"/>
          </a:ln>
        </p:spPr>
      </p:sp>
      <p:sp>
        <p:nvSpPr>
          <p:cNvPr id="6" name="mvpbar-0"/>
          <p:cNvSpPr/>
          <p:nvPr/>
        </p:nvSpPr>
        <p:spPr>
          <a:xfrm>
            <a:off x="548640" y="1280160"/>
            <a:ext cx="64008" cy="1152144"/>
          </a:xfrm>
          <a:prstGeom prst="rect">
            <a:avLst/>
          </a:prstGeom>
          <a:solidFill>
            <a:srgbClr val="0C6E6D"/>
          </a:solidFill>
          <a:ln w="12700">
            <a:solidFill>
              <a:srgbClr val="333333"/>
            </a:solidFill>
            <a:prstDash val="solid"/>
          </a:ln>
        </p:spPr>
      </p:sp>
      <p:sp>
        <p:nvSpPr>
          <p:cNvPr id="7" name="Text 5"/>
          <p:cNvSpPr txBox="1"/>
          <p:nvPr/>
        </p:nvSpPr>
        <p:spPr>
          <a:xfrm>
            <a:off x="786384" y="1408176"/>
            <a:ext cx="4983480" cy="274320"/>
          </a:xfrm>
          <a:prstGeom prst="rect">
            <a:avLst/>
          </a:prstGeom>
          <a:noFill/>
          <a:ln/>
        </p:spPr>
        <p:txBody>
          <a:bodyPr wrap="square" lIns="0" tIns="0" rIns="0" bIns="0" rtlCol="0" anchor="ctr"/>
          <a:lstStyle/>
          <a:p>
            <a:pPr indent="0" marL="0">
              <a:buNone/>
            </a:pPr>
            <a:r>
              <a:rPr lang="en-US" sz="1400" b="1" dirty="0">
                <a:solidFill>
                  <a:schemeClr val="tx1"/>
                </a:solidFill>
              </a:rPr>
              <a:t>Pipeline de extracción</a:t>
            </a:r>
            <a:endParaRPr lang="en-US" sz="1400" dirty="0"/>
          </a:p>
        </p:txBody>
      </p:sp>
      <p:sp>
        <p:nvSpPr>
          <p:cNvPr id="8" name="Text 6"/>
          <p:cNvSpPr txBox="1"/>
          <p:nvPr/>
        </p:nvSpPr>
        <p:spPr>
          <a:xfrm>
            <a:off x="786384" y="1691640"/>
            <a:ext cx="4983480" cy="658368"/>
          </a:xfrm>
          <a:prstGeom prst="rect">
            <a:avLst/>
          </a:prstGeom>
          <a:noFill/>
          <a:ln/>
        </p:spPr>
        <p:txBody>
          <a:bodyPr wrap="square" lIns="0" tIns="0" rIns="0" bIns="0" rtlCol="0" anchor="ctr"/>
          <a:lstStyle/>
          <a:p>
            <a:pPr indent="0" marL="0">
              <a:buNone/>
            </a:pPr>
            <a:r>
              <a:rPr lang="en-US" sz="1150" dirty="0">
                <a:solidFill>
                  <a:srgbClr val="51708D"/>
                </a:solidFill>
              </a:rPr>
              <a:t>Ingesta de artículos, inferencia local con Ollama, salida JSON validada contra esquema y almacenamiento de resultados por corrida.</a:t>
            </a:r>
            <a:endParaRPr lang="en-US" sz="1150" dirty="0"/>
          </a:p>
        </p:txBody>
      </p:sp>
      <p:sp>
        <p:nvSpPr>
          <p:cNvPr id="9" name="mvp-1"/>
          <p:cNvSpPr/>
          <p:nvPr/>
        </p:nvSpPr>
        <p:spPr>
          <a:xfrm>
            <a:off x="6172200" y="1280160"/>
            <a:ext cx="5440680" cy="1152144"/>
          </a:xfrm>
          <a:prstGeom prst="roundRect">
            <a:avLst>
              <a:gd name="adj" fmla="val 4762"/>
            </a:avLst>
          </a:prstGeom>
          <a:solidFill>
            <a:srgbClr val="FFFFFF"/>
          </a:solidFill>
          <a:ln w="12700">
            <a:solidFill>
              <a:srgbClr val="D6DFE9"/>
            </a:solidFill>
            <a:prstDash val="solid"/>
          </a:ln>
        </p:spPr>
      </p:sp>
      <p:sp>
        <p:nvSpPr>
          <p:cNvPr id="10" name="mvpbar-1"/>
          <p:cNvSpPr/>
          <p:nvPr/>
        </p:nvSpPr>
        <p:spPr>
          <a:xfrm>
            <a:off x="6172200" y="1280160"/>
            <a:ext cx="64008" cy="1152144"/>
          </a:xfrm>
          <a:prstGeom prst="rect">
            <a:avLst/>
          </a:prstGeom>
          <a:solidFill>
            <a:srgbClr val="0C6E6D"/>
          </a:solidFill>
          <a:ln w="12700">
            <a:solidFill>
              <a:srgbClr val="333333"/>
            </a:solidFill>
            <a:prstDash val="solid"/>
          </a:ln>
        </p:spPr>
      </p:sp>
      <p:sp>
        <p:nvSpPr>
          <p:cNvPr id="11" name="Text 9"/>
          <p:cNvSpPr txBox="1"/>
          <p:nvPr/>
        </p:nvSpPr>
        <p:spPr>
          <a:xfrm>
            <a:off x="6409944" y="1408176"/>
            <a:ext cx="4983480" cy="274320"/>
          </a:xfrm>
          <a:prstGeom prst="rect">
            <a:avLst/>
          </a:prstGeom>
          <a:noFill/>
          <a:ln/>
        </p:spPr>
        <p:txBody>
          <a:bodyPr wrap="square" lIns="0" tIns="0" rIns="0" bIns="0" rtlCol="0" anchor="ctr"/>
          <a:lstStyle/>
          <a:p>
            <a:pPr indent="0" marL="0">
              <a:buNone/>
            </a:pPr>
            <a:r>
              <a:rPr lang="en-US" sz="1400" b="1" dirty="0">
                <a:solidFill>
                  <a:schemeClr val="tx1"/>
                </a:solidFill>
              </a:rPr>
              <a:t>Orquestador concurrente</a:t>
            </a:r>
            <a:endParaRPr lang="en-US" sz="1400" dirty="0"/>
          </a:p>
        </p:txBody>
      </p:sp>
      <p:sp>
        <p:nvSpPr>
          <p:cNvPr id="12" name="Text 10"/>
          <p:cNvSpPr txBox="1"/>
          <p:nvPr/>
        </p:nvSpPr>
        <p:spPr>
          <a:xfrm>
            <a:off x="6409944" y="1691640"/>
            <a:ext cx="4983480" cy="658368"/>
          </a:xfrm>
          <a:prstGeom prst="rect">
            <a:avLst/>
          </a:prstGeom>
          <a:noFill/>
          <a:ln/>
        </p:spPr>
        <p:txBody>
          <a:bodyPr wrap="square" lIns="0" tIns="0" rIns="0" bIns="0" rtlCol="0" anchor="ctr"/>
          <a:lstStyle/>
          <a:p>
            <a:pPr indent="0" marL="0">
              <a:buNone/>
            </a:pPr>
            <a:r>
              <a:rPr lang="en-US" sz="1150" dirty="0">
                <a:solidFill>
                  <a:srgbClr val="51708D"/>
                </a:solidFill>
              </a:rPr>
              <a:t>Arquitectura pub/sub multihilo con controlador AIMD de concurrencia, cortacircuitos ante rachas de error y punto de control reanudable.</a:t>
            </a:r>
            <a:endParaRPr lang="en-US" sz="1150" dirty="0"/>
          </a:p>
        </p:txBody>
      </p:sp>
      <p:sp>
        <p:nvSpPr>
          <p:cNvPr id="13" name="mvp-2"/>
          <p:cNvSpPr/>
          <p:nvPr/>
        </p:nvSpPr>
        <p:spPr>
          <a:xfrm>
            <a:off x="548640" y="2578608"/>
            <a:ext cx="5440680" cy="1152144"/>
          </a:xfrm>
          <a:prstGeom prst="roundRect">
            <a:avLst>
              <a:gd name="adj" fmla="val 4762"/>
            </a:avLst>
          </a:prstGeom>
          <a:solidFill>
            <a:srgbClr val="FFFFFF"/>
          </a:solidFill>
          <a:ln w="12700">
            <a:solidFill>
              <a:srgbClr val="D6DFE9"/>
            </a:solidFill>
            <a:prstDash val="solid"/>
          </a:ln>
        </p:spPr>
      </p:sp>
      <p:sp>
        <p:nvSpPr>
          <p:cNvPr id="14" name="mvpbar-2"/>
          <p:cNvSpPr/>
          <p:nvPr/>
        </p:nvSpPr>
        <p:spPr>
          <a:xfrm>
            <a:off x="548640" y="2578608"/>
            <a:ext cx="64008" cy="1152144"/>
          </a:xfrm>
          <a:prstGeom prst="rect">
            <a:avLst/>
          </a:prstGeom>
          <a:solidFill>
            <a:srgbClr val="0C6E6D"/>
          </a:solidFill>
          <a:ln w="12700">
            <a:solidFill>
              <a:srgbClr val="333333"/>
            </a:solidFill>
            <a:prstDash val="solid"/>
          </a:ln>
        </p:spPr>
      </p:sp>
      <p:sp>
        <p:nvSpPr>
          <p:cNvPr id="15" name="Text 13"/>
          <p:cNvSpPr txBox="1"/>
          <p:nvPr/>
        </p:nvSpPr>
        <p:spPr>
          <a:xfrm>
            <a:off x="786384" y="2706624"/>
            <a:ext cx="4983480" cy="274320"/>
          </a:xfrm>
          <a:prstGeom prst="rect">
            <a:avLst/>
          </a:prstGeom>
          <a:noFill/>
          <a:ln/>
        </p:spPr>
        <p:txBody>
          <a:bodyPr wrap="square" lIns="0" tIns="0" rIns="0" bIns="0" rtlCol="0" anchor="ctr"/>
          <a:lstStyle/>
          <a:p>
            <a:pPr indent="0" marL="0">
              <a:buNone/>
            </a:pPr>
            <a:r>
              <a:rPr lang="en-US" sz="1400" b="1" dirty="0">
                <a:solidFill>
                  <a:schemeClr val="tx1"/>
                </a:solidFill>
              </a:rPr>
              <a:t>Módulo RAG contextual</a:t>
            </a:r>
            <a:endParaRPr lang="en-US" sz="1400" dirty="0"/>
          </a:p>
        </p:txBody>
      </p:sp>
      <p:sp>
        <p:nvSpPr>
          <p:cNvPr id="16" name="Text 14"/>
          <p:cNvSpPr txBox="1"/>
          <p:nvPr/>
        </p:nvSpPr>
        <p:spPr>
          <a:xfrm>
            <a:off x="786384" y="2990088"/>
            <a:ext cx="4983480" cy="658368"/>
          </a:xfrm>
          <a:prstGeom prst="rect">
            <a:avLst/>
          </a:prstGeom>
          <a:noFill/>
          <a:ln/>
        </p:spPr>
        <p:txBody>
          <a:bodyPr wrap="square" lIns="0" tIns="0" rIns="0" bIns="0" rtlCol="0" anchor="ctr"/>
          <a:lstStyle/>
          <a:p>
            <a:pPr indent="0" marL="0">
              <a:buNone/>
            </a:pPr>
            <a:r>
              <a:rPr lang="en-US" sz="1150" dirty="0">
                <a:solidFill>
                  <a:srgbClr val="51708D"/>
                </a:solidFill>
              </a:rPr>
              <a:t>Base de conocimientos con guías tipológicas por dominio y ejemplares anotados, con cuatro modos seleccionables por línea de órdenes.</a:t>
            </a:r>
            <a:endParaRPr lang="en-US" sz="1150" dirty="0"/>
          </a:p>
        </p:txBody>
      </p:sp>
      <p:sp>
        <p:nvSpPr>
          <p:cNvPr id="17" name="mvp-3"/>
          <p:cNvSpPr/>
          <p:nvPr/>
        </p:nvSpPr>
        <p:spPr>
          <a:xfrm>
            <a:off x="6172200" y="2578608"/>
            <a:ext cx="5440680" cy="1152144"/>
          </a:xfrm>
          <a:prstGeom prst="roundRect">
            <a:avLst>
              <a:gd name="adj" fmla="val 4762"/>
            </a:avLst>
          </a:prstGeom>
          <a:solidFill>
            <a:srgbClr val="FFFFFF"/>
          </a:solidFill>
          <a:ln w="12700">
            <a:solidFill>
              <a:srgbClr val="D6DFE9"/>
            </a:solidFill>
            <a:prstDash val="solid"/>
          </a:ln>
        </p:spPr>
      </p:sp>
      <p:sp>
        <p:nvSpPr>
          <p:cNvPr id="18" name="mvpbar-3"/>
          <p:cNvSpPr/>
          <p:nvPr/>
        </p:nvSpPr>
        <p:spPr>
          <a:xfrm>
            <a:off x="6172200" y="2578608"/>
            <a:ext cx="64008" cy="1152144"/>
          </a:xfrm>
          <a:prstGeom prst="rect">
            <a:avLst/>
          </a:prstGeom>
          <a:solidFill>
            <a:srgbClr val="0C6E6D"/>
          </a:solidFill>
          <a:ln w="12700">
            <a:solidFill>
              <a:srgbClr val="333333"/>
            </a:solidFill>
            <a:prstDash val="solid"/>
          </a:ln>
        </p:spPr>
      </p:sp>
      <p:sp>
        <p:nvSpPr>
          <p:cNvPr id="19" name="Text 17"/>
          <p:cNvSpPr txBox="1"/>
          <p:nvPr/>
        </p:nvSpPr>
        <p:spPr>
          <a:xfrm>
            <a:off x="6409944" y="2706624"/>
            <a:ext cx="4983480" cy="274320"/>
          </a:xfrm>
          <a:prstGeom prst="rect">
            <a:avLst/>
          </a:prstGeom>
          <a:noFill/>
          <a:ln/>
        </p:spPr>
        <p:txBody>
          <a:bodyPr wrap="square" lIns="0" tIns="0" rIns="0" bIns="0" rtlCol="0" anchor="ctr"/>
          <a:lstStyle/>
          <a:p>
            <a:pPr indent="0" marL="0">
              <a:buNone/>
            </a:pPr>
            <a:r>
              <a:rPr lang="en-US" sz="1400" b="1" dirty="0">
                <a:solidFill>
                  <a:schemeClr val="tx1"/>
                </a:solidFill>
              </a:rPr>
              <a:t>Evaluador y estadística</a:t>
            </a:r>
            <a:endParaRPr lang="en-US" sz="1400" dirty="0"/>
          </a:p>
        </p:txBody>
      </p:sp>
      <p:sp>
        <p:nvSpPr>
          <p:cNvPr id="20" name="Text 18"/>
          <p:cNvSpPr txBox="1"/>
          <p:nvPr/>
        </p:nvSpPr>
        <p:spPr>
          <a:xfrm>
            <a:off x="6409944" y="2990088"/>
            <a:ext cx="4983480" cy="658368"/>
          </a:xfrm>
          <a:prstGeom prst="rect">
            <a:avLst/>
          </a:prstGeom>
          <a:noFill/>
          <a:ln/>
        </p:spPr>
        <p:txBody>
          <a:bodyPr wrap="square" lIns="0" tIns="0" rIns="0" bIns="0" rtlCol="0" anchor="ctr"/>
          <a:lstStyle/>
          <a:p>
            <a:pPr indent="0" marL="0">
              <a:buNone/>
            </a:pPr>
            <a:r>
              <a:rPr lang="en-US" sz="1150" dirty="0">
                <a:solidFill>
                  <a:srgbClr val="51708D"/>
                </a:solidFill>
              </a:rPr>
              <a:t>Cotejo difuso por distancia de Indel, precisión, exhaustividad, F1, tasa de alucinación, ANOVA, Tukey HSD y Friedman.</a:t>
            </a:r>
            <a:endParaRPr lang="en-US" sz="1150" dirty="0"/>
          </a:p>
        </p:txBody>
      </p:sp>
      <p:sp>
        <p:nvSpPr>
          <p:cNvPr id="21" name="mvp-4"/>
          <p:cNvSpPr/>
          <p:nvPr/>
        </p:nvSpPr>
        <p:spPr>
          <a:xfrm>
            <a:off x="548640" y="3877056"/>
            <a:ext cx="5440680" cy="1152144"/>
          </a:xfrm>
          <a:prstGeom prst="roundRect">
            <a:avLst>
              <a:gd name="adj" fmla="val 4762"/>
            </a:avLst>
          </a:prstGeom>
          <a:solidFill>
            <a:srgbClr val="FFFFFF"/>
          </a:solidFill>
          <a:ln w="12700">
            <a:solidFill>
              <a:srgbClr val="D6DFE9"/>
            </a:solidFill>
            <a:prstDash val="solid"/>
          </a:ln>
        </p:spPr>
      </p:sp>
      <p:sp>
        <p:nvSpPr>
          <p:cNvPr id="22" name="mvpbar-4"/>
          <p:cNvSpPr/>
          <p:nvPr/>
        </p:nvSpPr>
        <p:spPr>
          <a:xfrm>
            <a:off x="548640" y="3877056"/>
            <a:ext cx="64008" cy="1152144"/>
          </a:xfrm>
          <a:prstGeom prst="rect">
            <a:avLst/>
          </a:prstGeom>
          <a:solidFill>
            <a:srgbClr val="0C6E6D"/>
          </a:solidFill>
          <a:ln w="12700">
            <a:solidFill>
              <a:srgbClr val="333333"/>
            </a:solidFill>
            <a:prstDash val="solid"/>
          </a:ln>
        </p:spPr>
      </p:sp>
      <p:sp>
        <p:nvSpPr>
          <p:cNvPr id="23" name="Text 21"/>
          <p:cNvSpPr txBox="1"/>
          <p:nvPr/>
        </p:nvSpPr>
        <p:spPr>
          <a:xfrm>
            <a:off x="786384" y="4005072"/>
            <a:ext cx="4983480" cy="274320"/>
          </a:xfrm>
          <a:prstGeom prst="rect">
            <a:avLst/>
          </a:prstGeom>
          <a:noFill/>
          <a:ln/>
        </p:spPr>
        <p:txBody>
          <a:bodyPr wrap="square" lIns="0" tIns="0" rIns="0" bIns="0" rtlCol="0" anchor="ctr"/>
          <a:lstStyle/>
          <a:p>
            <a:pPr indent="0" marL="0">
              <a:buNone/>
            </a:pPr>
            <a:r>
              <a:rPr lang="en-US" sz="1400" b="1" dirty="0">
                <a:solidFill>
                  <a:schemeClr val="tx1"/>
                </a:solidFill>
              </a:rPr>
              <a:t>Tablero de resultados</a:t>
            </a:r>
            <a:endParaRPr lang="en-US" sz="1400" dirty="0"/>
          </a:p>
        </p:txBody>
      </p:sp>
      <p:sp>
        <p:nvSpPr>
          <p:cNvPr id="24" name="Text 22"/>
          <p:cNvSpPr txBox="1"/>
          <p:nvPr/>
        </p:nvSpPr>
        <p:spPr>
          <a:xfrm>
            <a:off x="786384" y="4288536"/>
            <a:ext cx="4983480" cy="658368"/>
          </a:xfrm>
          <a:prstGeom prst="rect">
            <a:avLst/>
          </a:prstGeom>
          <a:noFill/>
          <a:ln/>
        </p:spPr>
        <p:txBody>
          <a:bodyPr wrap="square" lIns="0" tIns="0" rIns="0" bIns="0" rtlCol="0" anchor="ctr"/>
          <a:lstStyle/>
          <a:p>
            <a:pPr indent="0" marL="0">
              <a:buNone/>
            </a:pPr>
            <a:r>
              <a:rPr lang="en-US" sz="1150" dirty="0">
                <a:solidFill>
                  <a:srgbClr val="51708D"/>
                </a:solidFill>
              </a:rPr>
              <a:t>Interfaz en Streamlit para explorar corridas, comparar modelos y revisar el detalle de cada artículo extraído.</a:t>
            </a:r>
            <a:endParaRPr lang="en-US" sz="1150" dirty="0"/>
          </a:p>
        </p:txBody>
      </p:sp>
      <p:sp>
        <p:nvSpPr>
          <p:cNvPr id="25" name="mvp-5"/>
          <p:cNvSpPr/>
          <p:nvPr/>
        </p:nvSpPr>
        <p:spPr>
          <a:xfrm>
            <a:off x="6172200" y="3877056"/>
            <a:ext cx="5440680" cy="1152144"/>
          </a:xfrm>
          <a:prstGeom prst="roundRect">
            <a:avLst>
              <a:gd name="adj" fmla="val 4762"/>
            </a:avLst>
          </a:prstGeom>
          <a:solidFill>
            <a:srgbClr val="FFFFFF"/>
          </a:solidFill>
          <a:ln w="12700">
            <a:solidFill>
              <a:srgbClr val="D6DFE9"/>
            </a:solidFill>
            <a:prstDash val="solid"/>
          </a:ln>
        </p:spPr>
      </p:sp>
      <p:sp>
        <p:nvSpPr>
          <p:cNvPr id="26" name="mvpbar-5"/>
          <p:cNvSpPr/>
          <p:nvPr/>
        </p:nvSpPr>
        <p:spPr>
          <a:xfrm>
            <a:off x="6172200" y="3877056"/>
            <a:ext cx="64008" cy="1152144"/>
          </a:xfrm>
          <a:prstGeom prst="rect">
            <a:avLst/>
          </a:prstGeom>
          <a:solidFill>
            <a:srgbClr val="0C6E6D"/>
          </a:solidFill>
          <a:ln w="12700">
            <a:solidFill>
              <a:srgbClr val="333333"/>
            </a:solidFill>
            <a:prstDash val="solid"/>
          </a:ln>
        </p:spPr>
      </p:sp>
      <p:sp>
        <p:nvSpPr>
          <p:cNvPr id="27" name="Text 25"/>
          <p:cNvSpPr txBox="1"/>
          <p:nvPr/>
        </p:nvSpPr>
        <p:spPr>
          <a:xfrm>
            <a:off x="6409944" y="4005072"/>
            <a:ext cx="4983480" cy="274320"/>
          </a:xfrm>
          <a:prstGeom prst="rect">
            <a:avLst/>
          </a:prstGeom>
          <a:noFill/>
          <a:ln/>
        </p:spPr>
        <p:txBody>
          <a:bodyPr wrap="square" lIns="0" tIns="0" rIns="0" bIns="0" rtlCol="0" anchor="ctr"/>
          <a:lstStyle/>
          <a:p>
            <a:pPr indent="0" marL="0">
              <a:buNone/>
            </a:pPr>
            <a:r>
              <a:rPr lang="en-US" sz="1400" b="1" dirty="0">
                <a:solidFill>
                  <a:schemeClr val="tx1"/>
                </a:solidFill>
              </a:rPr>
              <a:t>Reproducibilidad</a:t>
            </a:r>
            <a:endParaRPr lang="en-US" sz="1400" dirty="0"/>
          </a:p>
        </p:txBody>
      </p:sp>
      <p:sp>
        <p:nvSpPr>
          <p:cNvPr id="28" name="Text 26"/>
          <p:cNvSpPr txBox="1"/>
          <p:nvPr/>
        </p:nvSpPr>
        <p:spPr>
          <a:xfrm>
            <a:off x="6409944" y="4288536"/>
            <a:ext cx="4983480" cy="658368"/>
          </a:xfrm>
          <a:prstGeom prst="rect">
            <a:avLst/>
          </a:prstGeom>
          <a:noFill/>
          <a:ln/>
        </p:spPr>
        <p:txBody>
          <a:bodyPr wrap="square" lIns="0" tIns="0" rIns="0" bIns="0" rtlCol="0" anchor="ctr"/>
          <a:lstStyle/>
          <a:p>
            <a:pPr indent="0" marL="0">
              <a:buNone/>
            </a:pPr>
            <a:r>
              <a:rPr lang="en-US" sz="1150" dirty="0">
                <a:solidFill>
                  <a:srgbClr val="51708D"/>
                </a:solidFill>
              </a:rPr>
              <a:t>Cada corrida queda definida por un fichero de configuración, de modo que cualquier cifra del informe puede rehacerse.</a:t>
            </a:r>
            <a:endParaRPr lang="en-US" sz="1150" dirty="0"/>
          </a:p>
        </p:txBody>
      </p:sp>
      <p:sp>
        <p:nvSpPr>
          <p:cNvPr id="29" name="Text 27"/>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050" i="1" dirty="0">
                <a:solidFill>
                  <a:srgbClr val="51708D"/>
                </a:solidFill>
              </a:rPr>
              <a:t>Alcance del MVP: procesa artículos en lote sobre hardware local, no está integrado todavía a un feed de noticias en tiempo real ni expuesto como servicio. Esa integración es la fase 4 de la hoja de ruta.</a:t>
            </a:r>
            <a:endParaRPr lang="en-US" sz="1050" dirty="0"/>
          </a:p>
        </p:txBody>
      </p:sp>
      <p:sp>
        <p:nvSpPr>
          <p:cNvPr id="31"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hip-IMPACTO"/>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IMPACTO</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Dónde se aplica esto dentro de una empresa</a:t>
            </a:r>
            <a:endParaRPr lang="en-US" sz="2600" dirty="0"/>
          </a:p>
        </p:txBody>
      </p:sp>
      <p:sp>
        <p:nvSpPr>
          <p:cNvPr id="5" name="Text 0"/>
          <p:cNvSpPr/>
          <p:nvPr>
            <p:ph idx="102" type="body" hasCustomPrompt="1"/>
          </p:nvPr>
        </p:nvSpPr>
        <p:spPr>
          <a:xfrm>
            <a:off x="548640" y="1188720"/>
            <a:ext cx="11064240" cy="4937760"/>
          </a:xfrm>
          <a:prstGeom prst="rect">
            <a:avLst/>
          </a:prstGeom>
          <a:noFill/>
          <a:ln/>
        </p:spPr>
        <p:txBody>
          <a:bodyPr wrap="square" rtlCol="0"/>
          <a:lstStyle/>
          <a:p>
            <a:pPr algn="l" indent="0" marL="0">
              <a:spcAft>
                <a:spcPts val="1200"/>
              </a:spcAft>
              <a:buNone/>
            </a:pPr>
            <a:r>
              <a:rPr lang="en-US" sz="1350" dirty="0">
                <a:solidFill>
                  <a:schemeClr val="tx1"/>
                </a:solidFill>
              </a:rPr>
              <a:t>El caso estudiado es la vigilancia de medios para prevención de lavado de activos, pero el patrón —leer texto no estructurado, extraer entidades y clasificarlas, sin que el texto salga de la organización— se repite en funciones muy distintas.</a:t>
            </a:r>
            <a:endParaRPr lang="en-US" sz="1400" dirty="0"/>
          </a:p>
        </p:txBody>
      </p:sp>
      <p:sp>
        <p:nvSpPr>
          <p:cNvPr id="6" name="uso-0"/>
          <p:cNvSpPr/>
          <p:nvPr/>
        </p:nvSpPr>
        <p:spPr>
          <a:xfrm>
            <a:off x="548640" y="2286000"/>
            <a:ext cx="2670048" cy="2057400"/>
          </a:xfrm>
          <a:prstGeom prst="roundRect">
            <a:avLst>
              <a:gd name="adj" fmla="val 3111"/>
            </a:avLst>
          </a:prstGeom>
          <a:solidFill>
            <a:srgbClr val="EEF3F9"/>
          </a:solidFill>
          <a:ln w="12700">
            <a:solidFill>
              <a:srgbClr val="EEF3F9"/>
            </a:solidFill>
            <a:prstDash val="solid"/>
          </a:ln>
        </p:spPr>
      </p:sp>
      <p:sp>
        <p:nvSpPr>
          <p:cNvPr id="7" name="Text 5"/>
          <p:cNvSpPr txBox="1"/>
          <p:nvPr/>
        </p:nvSpPr>
        <p:spPr>
          <a:xfrm>
            <a:off x="731520" y="2450592"/>
            <a:ext cx="2304288" cy="457200"/>
          </a:xfrm>
          <a:prstGeom prst="rect">
            <a:avLst/>
          </a:prstGeom>
          <a:noFill/>
          <a:ln/>
        </p:spPr>
        <p:txBody>
          <a:bodyPr wrap="square" lIns="0" tIns="0" rIns="0" bIns="0" rtlCol="0" anchor="ctr"/>
          <a:lstStyle/>
          <a:p>
            <a:pPr indent="0" marL="0">
              <a:buNone/>
            </a:pPr>
            <a:r>
              <a:rPr lang="en-US" sz="1350" b="1" dirty="0">
                <a:solidFill>
                  <a:srgbClr val="0C6E6D"/>
                </a:solidFill>
              </a:rPr>
              <a:t>Cumplimiento y riesgo</a:t>
            </a:r>
            <a:endParaRPr lang="en-US" sz="1350" dirty="0"/>
          </a:p>
        </p:txBody>
      </p:sp>
      <p:sp>
        <p:nvSpPr>
          <p:cNvPr id="8" name="Text 6"/>
          <p:cNvSpPr txBox="1"/>
          <p:nvPr/>
        </p:nvSpPr>
        <p:spPr>
          <a:xfrm>
            <a:off x="731520" y="2926080"/>
            <a:ext cx="2304288" cy="1280160"/>
          </a:xfrm>
          <a:prstGeom prst="rect">
            <a:avLst/>
          </a:prstGeom>
          <a:noFill/>
          <a:ln/>
        </p:spPr>
        <p:txBody>
          <a:bodyPr wrap="square" lIns="0" tIns="0" rIns="0" bIns="0" rtlCol="0" anchor="ctr"/>
          <a:lstStyle/>
          <a:p>
            <a:pPr indent="0" marL="0">
              <a:buNone/>
            </a:pPr>
            <a:r>
              <a:rPr lang="en-US" sz="1150" dirty="0">
                <a:solidFill>
                  <a:schemeClr val="tx1"/>
                </a:solidFill>
              </a:rPr>
              <a:t>Vigilancia continua de noticias y listas de sanciones; detección temprana de exposición reputacional de clientes y contrapartes.</a:t>
            </a:r>
            <a:endParaRPr lang="en-US" sz="1150" dirty="0"/>
          </a:p>
        </p:txBody>
      </p:sp>
      <p:sp>
        <p:nvSpPr>
          <p:cNvPr id="9" name="uso-1"/>
          <p:cNvSpPr/>
          <p:nvPr/>
        </p:nvSpPr>
        <p:spPr>
          <a:xfrm>
            <a:off x="3410712" y="2286000"/>
            <a:ext cx="2670048" cy="2057400"/>
          </a:xfrm>
          <a:prstGeom prst="roundRect">
            <a:avLst>
              <a:gd name="adj" fmla="val 3111"/>
            </a:avLst>
          </a:prstGeom>
          <a:solidFill>
            <a:srgbClr val="EEF3F9"/>
          </a:solidFill>
          <a:ln w="12700">
            <a:solidFill>
              <a:srgbClr val="EEF3F9"/>
            </a:solidFill>
            <a:prstDash val="solid"/>
          </a:ln>
        </p:spPr>
      </p:sp>
      <p:sp>
        <p:nvSpPr>
          <p:cNvPr id="10" name="Text 8"/>
          <p:cNvSpPr txBox="1"/>
          <p:nvPr/>
        </p:nvSpPr>
        <p:spPr>
          <a:xfrm>
            <a:off x="3593592" y="2450592"/>
            <a:ext cx="2304288" cy="457200"/>
          </a:xfrm>
          <a:prstGeom prst="rect">
            <a:avLst/>
          </a:prstGeom>
          <a:noFill/>
          <a:ln/>
        </p:spPr>
        <p:txBody>
          <a:bodyPr wrap="square" lIns="0" tIns="0" rIns="0" bIns="0" rtlCol="0" anchor="ctr"/>
          <a:lstStyle/>
          <a:p>
            <a:pPr indent="0" marL="0">
              <a:buNone/>
            </a:pPr>
            <a:r>
              <a:rPr lang="en-US" sz="1350" b="1" dirty="0">
                <a:solidFill>
                  <a:srgbClr val="0C6E6D"/>
                </a:solidFill>
              </a:rPr>
              <a:t>Legal y contratos</a:t>
            </a:r>
            <a:endParaRPr lang="en-US" sz="1350" dirty="0"/>
          </a:p>
        </p:txBody>
      </p:sp>
      <p:sp>
        <p:nvSpPr>
          <p:cNvPr id="11" name="Text 9"/>
          <p:cNvSpPr txBox="1"/>
          <p:nvPr/>
        </p:nvSpPr>
        <p:spPr>
          <a:xfrm>
            <a:off x="3593592" y="2926080"/>
            <a:ext cx="2304288" cy="1280160"/>
          </a:xfrm>
          <a:prstGeom prst="rect">
            <a:avLst/>
          </a:prstGeom>
          <a:noFill/>
          <a:ln/>
        </p:spPr>
        <p:txBody>
          <a:bodyPr wrap="square" lIns="0" tIns="0" rIns="0" bIns="0" rtlCol="0" anchor="ctr"/>
          <a:lstStyle/>
          <a:p>
            <a:pPr indent="0" marL="0">
              <a:buNone/>
            </a:pPr>
            <a:r>
              <a:rPr lang="en-US" sz="1150" dirty="0">
                <a:solidFill>
                  <a:schemeClr val="tx1"/>
                </a:solidFill>
              </a:rPr>
              <a:t>Extracción de partes, plazos y obligaciones desde contratos y anexos, sin subir documentos confidenciales a un servicio externo.</a:t>
            </a:r>
            <a:endParaRPr lang="en-US" sz="1150" dirty="0"/>
          </a:p>
        </p:txBody>
      </p:sp>
      <p:sp>
        <p:nvSpPr>
          <p:cNvPr id="12" name="uso-2"/>
          <p:cNvSpPr/>
          <p:nvPr/>
        </p:nvSpPr>
        <p:spPr>
          <a:xfrm>
            <a:off x="6272784" y="2286000"/>
            <a:ext cx="2670048" cy="2057400"/>
          </a:xfrm>
          <a:prstGeom prst="roundRect">
            <a:avLst>
              <a:gd name="adj" fmla="val 3111"/>
            </a:avLst>
          </a:prstGeom>
          <a:solidFill>
            <a:srgbClr val="EEF3F9"/>
          </a:solidFill>
          <a:ln w="12700">
            <a:solidFill>
              <a:srgbClr val="EEF3F9"/>
            </a:solidFill>
            <a:prstDash val="solid"/>
          </a:ln>
        </p:spPr>
      </p:sp>
      <p:sp>
        <p:nvSpPr>
          <p:cNvPr id="13" name="Text 11"/>
          <p:cNvSpPr txBox="1"/>
          <p:nvPr/>
        </p:nvSpPr>
        <p:spPr>
          <a:xfrm>
            <a:off x="6455664" y="2450592"/>
            <a:ext cx="2304288" cy="457200"/>
          </a:xfrm>
          <a:prstGeom prst="rect">
            <a:avLst/>
          </a:prstGeom>
          <a:noFill/>
          <a:ln/>
        </p:spPr>
        <p:txBody>
          <a:bodyPr wrap="square" lIns="0" tIns="0" rIns="0" bIns="0" rtlCol="0" anchor="ctr"/>
          <a:lstStyle/>
          <a:p>
            <a:pPr indent="0" marL="0">
              <a:buNone/>
            </a:pPr>
            <a:r>
              <a:rPr lang="en-US" sz="1350" b="1" dirty="0">
                <a:solidFill>
                  <a:srgbClr val="0C6E6D"/>
                </a:solidFill>
              </a:rPr>
              <a:t>Operaciones y siniestros</a:t>
            </a:r>
            <a:endParaRPr lang="en-US" sz="1350" dirty="0"/>
          </a:p>
        </p:txBody>
      </p:sp>
      <p:sp>
        <p:nvSpPr>
          <p:cNvPr id="14" name="Text 12"/>
          <p:cNvSpPr txBox="1"/>
          <p:nvPr/>
        </p:nvSpPr>
        <p:spPr>
          <a:xfrm>
            <a:off x="6455664" y="2926080"/>
            <a:ext cx="2304288" cy="1280160"/>
          </a:xfrm>
          <a:prstGeom prst="rect">
            <a:avLst/>
          </a:prstGeom>
          <a:noFill/>
          <a:ln/>
        </p:spPr>
        <p:txBody>
          <a:bodyPr wrap="square" lIns="0" tIns="0" rIns="0" bIns="0" rtlCol="0" anchor="ctr"/>
          <a:lstStyle/>
          <a:p>
            <a:pPr indent="0" marL="0">
              <a:buNone/>
            </a:pPr>
            <a:r>
              <a:rPr lang="en-US" sz="1150" dirty="0">
                <a:solidFill>
                  <a:schemeClr val="tx1"/>
                </a:solidFill>
              </a:rPr>
              <a:t>Lectura de informes, peritajes y denuncias para prellenar expedientes y detectar inconsistencias antes de la revisión humana.</a:t>
            </a:r>
            <a:endParaRPr lang="en-US" sz="1150" dirty="0"/>
          </a:p>
        </p:txBody>
      </p:sp>
      <p:sp>
        <p:nvSpPr>
          <p:cNvPr id="15" name="uso-3"/>
          <p:cNvSpPr/>
          <p:nvPr/>
        </p:nvSpPr>
        <p:spPr>
          <a:xfrm>
            <a:off x="9134856" y="2286000"/>
            <a:ext cx="2670048" cy="2057400"/>
          </a:xfrm>
          <a:prstGeom prst="roundRect">
            <a:avLst>
              <a:gd name="adj" fmla="val 3111"/>
            </a:avLst>
          </a:prstGeom>
          <a:solidFill>
            <a:srgbClr val="EEF3F9"/>
          </a:solidFill>
          <a:ln w="12700">
            <a:solidFill>
              <a:srgbClr val="EEF3F9"/>
            </a:solidFill>
            <a:prstDash val="solid"/>
          </a:ln>
        </p:spPr>
      </p:sp>
      <p:sp>
        <p:nvSpPr>
          <p:cNvPr id="16" name="Text 14"/>
          <p:cNvSpPr txBox="1"/>
          <p:nvPr/>
        </p:nvSpPr>
        <p:spPr>
          <a:xfrm>
            <a:off x="9317736" y="2450592"/>
            <a:ext cx="2304288" cy="457200"/>
          </a:xfrm>
          <a:prstGeom prst="rect">
            <a:avLst/>
          </a:prstGeom>
          <a:noFill/>
          <a:ln/>
        </p:spPr>
        <p:txBody>
          <a:bodyPr wrap="square" lIns="0" tIns="0" rIns="0" bIns="0" rtlCol="0" anchor="ctr"/>
          <a:lstStyle/>
          <a:p>
            <a:pPr indent="0" marL="0">
              <a:buNone/>
            </a:pPr>
            <a:r>
              <a:rPr lang="en-US" sz="1350" b="1" dirty="0">
                <a:solidFill>
                  <a:srgbClr val="0C6E6D"/>
                </a:solidFill>
              </a:rPr>
              <a:t>Atención de clientes</a:t>
            </a:r>
            <a:endParaRPr lang="en-US" sz="1350" dirty="0"/>
          </a:p>
        </p:txBody>
      </p:sp>
      <p:sp>
        <p:nvSpPr>
          <p:cNvPr id="17" name="Text 15"/>
          <p:cNvSpPr txBox="1"/>
          <p:nvPr/>
        </p:nvSpPr>
        <p:spPr>
          <a:xfrm>
            <a:off x="9317736" y="2926080"/>
            <a:ext cx="2304288" cy="1280160"/>
          </a:xfrm>
          <a:prstGeom prst="rect">
            <a:avLst/>
          </a:prstGeom>
          <a:noFill/>
          <a:ln/>
        </p:spPr>
        <p:txBody>
          <a:bodyPr wrap="square" lIns="0" tIns="0" rIns="0" bIns="0" rtlCol="0" anchor="ctr"/>
          <a:lstStyle/>
          <a:p>
            <a:pPr indent="0" marL="0">
              <a:buNone/>
            </a:pPr>
            <a:r>
              <a:rPr lang="en-US" sz="1150" dirty="0">
                <a:solidFill>
                  <a:schemeClr val="tx1"/>
                </a:solidFill>
              </a:rPr>
              <a:t>Clasificación y enrutamiento de correos y reclamos con datos personales, manteniendo la información dentro del perímetro de la empresa.</a:t>
            </a:r>
            <a:endParaRPr lang="en-US" sz="1150" dirty="0"/>
          </a:p>
        </p:txBody>
      </p:sp>
      <p:sp>
        <p:nvSpPr>
          <p:cNvPr id="18" name="condicion"/>
          <p:cNvSpPr/>
          <p:nvPr/>
        </p:nvSpPr>
        <p:spPr>
          <a:xfrm>
            <a:off x="548640" y="4663440"/>
            <a:ext cx="11064240" cy="1005840"/>
          </a:xfrm>
          <a:prstGeom prst="roundRect">
            <a:avLst>
              <a:gd name="adj" fmla="val 5455"/>
            </a:avLst>
          </a:prstGeom>
          <a:solidFill>
            <a:srgbClr val="1E2761"/>
          </a:solidFill>
          <a:ln w="12700">
            <a:solidFill>
              <a:srgbClr val="333333"/>
            </a:solidFill>
            <a:prstDash val="solid"/>
          </a:ln>
        </p:spPr>
      </p:sp>
      <p:sp>
        <p:nvSpPr>
          <p:cNvPr id="19" name="Text 17"/>
          <p:cNvSpPr txBox="1"/>
          <p:nvPr/>
        </p:nvSpPr>
        <p:spPr>
          <a:xfrm>
            <a:off x="822960" y="4828032"/>
            <a:ext cx="10515600" cy="713232"/>
          </a:xfrm>
          <a:prstGeom prst="rect">
            <a:avLst/>
          </a:prstGeom>
          <a:noFill/>
          <a:ln/>
        </p:spPr>
        <p:txBody>
          <a:bodyPr wrap="square" lIns="0" tIns="0" rIns="0" bIns="0" rtlCol="0" anchor="ctr"/>
          <a:lstStyle/>
          <a:p>
            <a:pPr indent="0" marL="0">
              <a:buNone/>
            </a:pPr>
            <a:r>
              <a:rPr lang="en-US" sz="1300" b="1" dirty="0">
                <a:solidFill>
                  <a:srgbClr val="35B3A3"/>
                </a:solidFill>
              </a:rPr>
              <a:t>La condición que lo habilita:  </a:t>
            </a:r>
            <a:pPr indent="0" marL="0">
              <a:buNone/>
            </a:pPr>
            <a:r>
              <a:rPr lang="en-US" sz="1300" dirty="0">
                <a:solidFill>
                  <a:srgbClr val="FFFFFF"/>
                </a:solidFill>
              </a:rPr>
              <a:t>los modelos abiertos de tamaño medio ya caben en un equipo de escritorio con memoria unificada, así que la inferencia deja de requerir un centro de datos y el dato deja de tener que viajar.</a:t>
            </a:r>
            <a:endParaRPr lang="en-US" sz="13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hip-CAP. 1"/>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1</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El desafío operativo: vigilar el flujo noticioso</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Las instituciones sujetas a AML y KYC están obligadas a monitorear de forma continua grandes volúmenes de noticias no estructuradas, buscando personas y organizaciones ligadas a sanciones, corrupción o lavado de activos.</a:t>
            </a:r>
            <a:endParaRPr lang="en-US" sz="1400" dirty="0"/>
          </a:p>
          <a:p>
            <a:pPr algn="l" marL="342900" indent="-342900">
              <a:spcAft>
                <a:spcPts val="900"/>
              </a:spcAft>
              <a:buSzPct val="100000"/>
              <a:buChar char="•"/>
            </a:pPr>
            <a:r>
              <a:rPr lang="en-US" sz="1400" dirty="0">
                <a:solidFill>
                  <a:schemeClr val="tx1"/>
                </a:solidFill>
              </a:rPr>
              <a:t>El volumen exige automatizar, pero el texto periodístico en español trae ambigüedad referencial: «Santander» puede ser una persona, un banco o una ciudad.</a:t>
            </a:r>
            <a:endParaRPr lang="en-US" sz="1400" dirty="0"/>
          </a:p>
          <a:p>
            <a:pPr algn="l" marL="342900" indent="-342900">
              <a:spcAft>
                <a:spcPts val="900"/>
              </a:spcAft>
              <a:buSzPct val="100000"/>
              <a:buChar char="•"/>
            </a:pPr>
            <a:r>
              <a:rPr lang="en-US" sz="1400" dirty="0">
                <a:solidFill>
                  <a:schemeClr val="tx1"/>
                </a:solidFill>
              </a:rPr>
              <a:t>Hacerlo a mano da la máxima precisión y un costo que crece linealmente con el flujo. Es insostenible.</a:t>
            </a:r>
            <a:endParaRPr lang="en-US" sz="1400" dirty="0"/>
          </a:p>
          <a:p>
            <a:pPr algn="l" marL="342900" indent="-342900">
              <a:spcAft>
                <a:spcPts val="900"/>
              </a:spcAft>
              <a:buSzPct val="100000"/>
              <a:buChar char="•"/>
            </a:pPr>
            <a:r>
              <a:rPr lang="en-US" sz="1400" dirty="0">
                <a:solidFill>
                  <a:schemeClr val="tx1"/>
                </a:solidFill>
              </a:rPr>
              <a:t>Automatizar no es prescindir del analista: el sistema le entrega una preselección que él valida, de modo que el ahorro depende de cuánto baje el volumen que llega a revisión humana.</a:t>
            </a:r>
            <a:endParaRPr lang="en-US" sz="1400" dirty="0"/>
          </a:p>
        </p:txBody>
      </p:sp>
      <p:sp>
        <p:nvSpPr>
          <p:cNvPr id="6" name="marco-costo"/>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COSTO ESTIMADO POR ARTÍCULO</a:t>
            </a:r>
            <a:endParaRPr lang="en-US" sz="1150" dirty="0"/>
          </a:p>
        </p:txBody>
      </p:sp>
      <p:sp>
        <p:nvSpPr>
          <p:cNvPr id="8" name="cifra-manual"/>
          <p:cNvSpPr/>
          <p:nvPr/>
        </p:nvSpPr>
        <p:spPr>
          <a:xfrm>
            <a:off x="6446520" y="1783080"/>
            <a:ext cx="2377440" cy="1600200"/>
          </a:xfrm>
          <a:prstGeom prst="roundRect">
            <a:avLst>
              <a:gd name="adj" fmla="val 2857"/>
            </a:avLst>
          </a:prstGeom>
          <a:solidFill>
            <a:srgbClr val="FFFFFF"/>
          </a:solidFill>
          <a:ln w="12700">
            <a:solidFill>
              <a:srgbClr val="FFFFFF"/>
            </a:solidFill>
            <a:prstDash val="solid"/>
          </a:ln>
        </p:spPr>
      </p:sp>
      <p:sp>
        <p:nvSpPr>
          <p:cNvPr id="9" name="Text 7"/>
          <p:cNvSpPr txBox="1"/>
          <p:nvPr/>
        </p:nvSpPr>
        <p:spPr>
          <a:xfrm>
            <a:off x="6611112" y="1911096"/>
            <a:ext cx="2048256" cy="566928"/>
          </a:xfrm>
          <a:prstGeom prst="rect">
            <a:avLst/>
          </a:prstGeom>
          <a:noFill/>
          <a:ln/>
        </p:spPr>
        <p:txBody>
          <a:bodyPr wrap="square" lIns="0" tIns="0" rIns="0" bIns="0" rtlCol="0" anchor="ctr"/>
          <a:lstStyle/>
          <a:p>
            <a:pPr indent="0" marL="0">
              <a:buNone/>
            </a:pPr>
            <a:r>
              <a:rPr lang="en-US" sz="2700" b="1" dirty="0">
                <a:solidFill>
                  <a:srgbClr val="C1292E"/>
                </a:solidFill>
              </a:rPr>
              <a:t>USD 8,75</a:t>
            </a:r>
            <a:endParaRPr lang="en-US" sz="2700" dirty="0"/>
          </a:p>
        </p:txBody>
      </p:sp>
      <p:sp>
        <p:nvSpPr>
          <p:cNvPr id="10" name="Text 8"/>
          <p:cNvSpPr txBox="1"/>
          <p:nvPr/>
        </p:nvSpPr>
        <p:spPr>
          <a:xfrm>
            <a:off x="6611112" y="2478024"/>
            <a:ext cx="2048256" cy="274320"/>
          </a:xfrm>
          <a:prstGeom prst="rect">
            <a:avLst/>
          </a:prstGeom>
          <a:noFill/>
          <a:ln/>
        </p:spPr>
        <p:txBody>
          <a:bodyPr wrap="square" lIns="0" tIns="0" rIns="0" bIns="0" rtlCol="0" anchor="ctr"/>
          <a:lstStyle/>
          <a:p>
            <a:pPr indent="0" marL="0">
              <a:buNone/>
            </a:pPr>
            <a:r>
              <a:rPr lang="en-US" sz="1150" b="1" dirty="0">
                <a:solidFill>
                  <a:schemeClr val="tx1"/>
                </a:solidFill>
              </a:rPr>
              <a:t>Revisión manual</a:t>
            </a:r>
            <a:endParaRPr lang="en-US" sz="1150" dirty="0"/>
          </a:p>
        </p:txBody>
      </p:sp>
      <p:sp>
        <p:nvSpPr>
          <p:cNvPr id="11" name="Text 9"/>
          <p:cNvSpPr txBox="1"/>
          <p:nvPr/>
        </p:nvSpPr>
        <p:spPr>
          <a:xfrm>
            <a:off x="6611112" y="2734056"/>
            <a:ext cx="2048256" cy="566928"/>
          </a:xfrm>
          <a:prstGeom prst="rect">
            <a:avLst/>
          </a:prstGeom>
          <a:noFill/>
          <a:ln/>
        </p:spPr>
        <p:txBody>
          <a:bodyPr wrap="square" lIns="0" tIns="0" rIns="0" bIns="0" rtlCol="0" anchor="ctr"/>
          <a:lstStyle/>
          <a:p>
            <a:pPr indent="0" marL="0">
              <a:buNone/>
            </a:pPr>
            <a:r>
              <a:rPr lang="en-US" sz="1000" dirty="0">
                <a:solidFill>
                  <a:srgbClr val="51708D"/>
                </a:solidFill>
              </a:rPr>
              <a:t>Analista a USD 35/hora, quince minutos por noticia</a:t>
            </a:r>
            <a:endParaRPr lang="en-US" sz="1000" dirty="0"/>
          </a:p>
        </p:txBody>
      </p:sp>
      <p:sp>
        <p:nvSpPr>
          <p:cNvPr id="12" name="cifra-local"/>
          <p:cNvSpPr/>
          <p:nvPr/>
        </p:nvSpPr>
        <p:spPr>
          <a:xfrm>
            <a:off x="9006840" y="1783080"/>
            <a:ext cx="2377440" cy="1600200"/>
          </a:xfrm>
          <a:prstGeom prst="roundRect">
            <a:avLst>
              <a:gd name="adj" fmla="val 2857"/>
            </a:avLst>
          </a:prstGeom>
          <a:solidFill>
            <a:srgbClr val="FFFFFF"/>
          </a:solidFill>
          <a:ln w="12700">
            <a:solidFill>
              <a:srgbClr val="FFFFFF"/>
            </a:solidFill>
            <a:prstDash val="solid"/>
          </a:ln>
        </p:spPr>
      </p:sp>
      <p:sp>
        <p:nvSpPr>
          <p:cNvPr id="13" name="Text 11"/>
          <p:cNvSpPr txBox="1"/>
          <p:nvPr/>
        </p:nvSpPr>
        <p:spPr>
          <a:xfrm>
            <a:off x="9171432" y="1911096"/>
            <a:ext cx="2048256" cy="566928"/>
          </a:xfrm>
          <a:prstGeom prst="rect">
            <a:avLst/>
          </a:prstGeom>
          <a:noFill/>
          <a:ln/>
        </p:spPr>
        <p:txBody>
          <a:bodyPr wrap="square" lIns="0" tIns="0" rIns="0" bIns="0" rtlCol="0" anchor="ctr"/>
          <a:lstStyle/>
          <a:p>
            <a:pPr indent="0" marL="0">
              <a:buNone/>
            </a:pPr>
            <a:r>
              <a:rPr lang="en-US" sz="2700" b="1" dirty="0">
                <a:solidFill>
                  <a:srgbClr val="0C6E6D"/>
                </a:solidFill>
              </a:rPr>
              <a:t>USD 0,052</a:t>
            </a:r>
            <a:endParaRPr lang="en-US" sz="2700" dirty="0"/>
          </a:p>
        </p:txBody>
      </p:sp>
      <p:sp>
        <p:nvSpPr>
          <p:cNvPr id="14" name="Text 12"/>
          <p:cNvSpPr txBox="1"/>
          <p:nvPr/>
        </p:nvSpPr>
        <p:spPr>
          <a:xfrm>
            <a:off x="9171432" y="2478024"/>
            <a:ext cx="2048256" cy="274320"/>
          </a:xfrm>
          <a:prstGeom prst="rect">
            <a:avLst/>
          </a:prstGeom>
          <a:noFill/>
          <a:ln/>
        </p:spPr>
        <p:txBody>
          <a:bodyPr wrap="square" lIns="0" tIns="0" rIns="0" bIns="0" rtlCol="0" anchor="ctr"/>
          <a:lstStyle/>
          <a:p>
            <a:pPr indent="0" marL="0">
              <a:buNone/>
            </a:pPr>
            <a:r>
              <a:rPr lang="en-US" sz="1150" b="1" dirty="0">
                <a:solidFill>
                  <a:schemeClr val="tx1"/>
                </a:solidFill>
              </a:rPr>
              <a:t>Sistema local</a:t>
            </a:r>
            <a:endParaRPr lang="en-US" sz="1150" dirty="0"/>
          </a:p>
        </p:txBody>
      </p:sp>
      <p:sp>
        <p:nvSpPr>
          <p:cNvPr id="15" name="Text 13"/>
          <p:cNvSpPr txBox="1"/>
          <p:nvPr/>
        </p:nvSpPr>
        <p:spPr>
          <a:xfrm>
            <a:off x="9171432" y="2734056"/>
            <a:ext cx="2048256" cy="566928"/>
          </a:xfrm>
          <a:prstGeom prst="rect">
            <a:avLst/>
          </a:prstGeom>
          <a:noFill/>
          <a:ln/>
        </p:spPr>
        <p:txBody>
          <a:bodyPr wrap="square" lIns="0" tIns="0" rIns="0" bIns="0" rtlCol="0" anchor="ctr"/>
          <a:lstStyle/>
          <a:p>
            <a:pPr indent="0" marL="0">
              <a:buNone/>
            </a:pPr>
            <a:r>
              <a:rPr lang="en-US" sz="1000" dirty="0">
                <a:solidFill>
                  <a:srgbClr val="51708D"/>
                </a:solidFill>
              </a:rPr>
              <a:t>Infraestructura amortizada, igual para todos los modelos</a:t>
            </a:r>
            <a:endParaRPr lang="en-US" sz="1000" dirty="0"/>
          </a:p>
        </p:txBody>
      </p:sp>
      <p:sp>
        <p:nvSpPr>
          <p:cNvPr id="16" name="delta-costo"/>
          <p:cNvSpPr/>
          <p:nvPr/>
        </p:nvSpPr>
        <p:spPr>
          <a:xfrm>
            <a:off x="6446520" y="3566160"/>
            <a:ext cx="4937760" cy="658368"/>
          </a:xfrm>
          <a:prstGeom prst="roundRect">
            <a:avLst>
              <a:gd name="adj" fmla="val 6944"/>
            </a:avLst>
          </a:prstGeom>
          <a:solidFill>
            <a:srgbClr val="1E2761"/>
          </a:solidFill>
          <a:ln w="12700">
            <a:solidFill>
              <a:srgbClr val="1E2761"/>
            </a:solidFill>
            <a:prstDash val="solid"/>
          </a:ln>
        </p:spPr>
      </p:sp>
      <p:sp>
        <p:nvSpPr>
          <p:cNvPr id="17" name="Text 15"/>
          <p:cNvSpPr txBox="1"/>
          <p:nvPr/>
        </p:nvSpPr>
        <p:spPr>
          <a:xfrm>
            <a:off x="6629400" y="3639312"/>
            <a:ext cx="4572000" cy="512064"/>
          </a:xfrm>
          <a:prstGeom prst="rect">
            <a:avLst/>
          </a:prstGeom>
          <a:noFill/>
          <a:ln/>
        </p:spPr>
        <p:txBody>
          <a:bodyPr wrap="square" lIns="0" tIns="0" rIns="0" bIns="0" rtlCol="0" anchor="ctr"/>
          <a:lstStyle/>
          <a:p>
            <a:pPr indent="0" marL="0">
              <a:buNone/>
            </a:pPr>
            <a:r>
              <a:rPr lang="en-US" sz="1800" b="1" dirty="0">
                <a:solidFill>
                  <a:srgbClr val="2A9D8F"/>
                </a:solidFill>
              </a:rPr>
              <a:t>−99,4 %  </a:t>
            </a:r>
            <a:pPr indent="0" marL="0">
              <a:buNone/>
            </a:pPr>
            <a:r>
              <a:rPr lang="en-US" sz="1100" dirty="0">
                <a:solidFill>
                  <a:srgbClr val="FFFFFF"/>
                </a:solidFill>
              </a:rPr>
              <a:t>en el costo unitario directo, equivalente al 60–80 % del costo operativo total</a:t>
            </a:r>
            <a:endParaRPr lang="en-US" sz="1800" dirty="0"/>
          </a:p>
        </p:txBody>
      </p:sp>
      <p:sp>
        <p:nvSpPr>
          <p:cNvPr id="18" name="Text 16"/>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Ambas cifras son estimaciones declaradas como tales, no mediciones: dependen del precio del equipo, su vida útil, la tarifa eléctrica y el volumen realmente procesado.</a:t>
            </a:r>
            <a:endParaRPr lang="en-US" sz="1050" dirty="0"/>
          </a:p>
        </p:txBody>
      </p:sp>
      <p:sp>
        <p:nvSpPr>
          <p:cNvPr id="19" name="dato-15 min"/>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20" name="Text 18"/>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15 min</a:t>
            </a:r>
            <a:endParaRPr lang="en-US" sz="2400" dirty="0"/>
          </a:p>
        </p:txBody>
      </p:sp>
      <p:sp>
        <p:nvSpPr>
          <p:cNvPr id="21" name="Text 19"/>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de analista por noticia, estimado</a:t>
            </a:r>
            <a:endParaRPr lang="en-US" sz="1050" dirty="0"/>
          </a:p>
        </p:txBody>
      </p:sp>
      <p:sp>
        <p:nvSpPr>
          <p:cNvPr id="22" name="dato-Cientos"/>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23" name="Text 21"/>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Cientos</a:t>
            </a:r>
            <a:endParaRPr lang="en-US" sz="2400" dirty="0"/>
          </a:p>
        </p:txBody>
      </p:sp>
      <p:sp>
        <p:nvSpPr>
          <p:cNvPr id="24" name="Text 22"/>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de artículos al día sin analista dedicado</a:t>
            </a:r>
            <a:endParaRPr lang="en-US" sz="1050" dirty="0"/>
          </a:p>
        </p:txBody>
      </p:sp>
      <p:sp>
        <p:nvSpPr>
          <p:cNvPr id="26"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ip-CAP. 1"/>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1</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El trilema: ninguna vía resuelve el problema sola</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Revisión manual: máxima precisión, pero el costo escala con el volumen y no soporta un flujo continuo.</a:t>
            </a:r>
            <a:endParaRPr lang="en-US" sz="1400" dirty="0"/>
          </a:p>
          <a:p>
            <a:pPr algn="l" marL="342900" indent="-342900">
              <a:spcAft>
                <a:spcPts val="900"/>
              </a:spcAft>
              <a:buSzPct val="100000"/>
              <a:buChar char="•"/>
            </a:pPr>
            <a:r>
              <a:rPr lang="en-US" sz="1400" dirty="0">
                <a:solidFill>
                  <a:schemeClr val="tx1"/>
                </a:solidFill>
              </a:rPr>
              <a:t>APIs comerciales en la nube: aportan la capacidad técnica, pero transfieren datos de clientes y contexto confidencial a un tercero, con un costo que crece con el uso.</a:t>
            </a:r>
            <a:endParaRPr lang="en-US" sz="1400" dirty="0"/>
          </a:p>
          <a:p>
            <a:pPr algn="l" marL="342900" indent="-342900">
              <a:spcAft>
                <a:spcPts val="900"/>
              </a:spcAft>
              <a:buSzPct val="100000"/>
              <a:buChar char="•"/>
            </a:pPr>
            <a:r>
              <a:rPr lang="en-US" sz="1400" dirty="0">
                <a:solidFill>
                  <a:schemeClr val="tx1"/>
                </a:solidFill>
              </a:rPr>
              <a:t>Modelos supervisados tipo BERT-NER: exigen miles de ejemplos etiquetados del dominio, y no existe corpus público anotado en español para AML/KYC.</a:t>
            </a:r>
            <a:endParaRPr lang="en-US" sz="1400" dirty="0"/>
          </a:p>
          <a:p>
            <a:pPr algn="l" marL="342900" indent="-342900">
              <a:spcAft>
                <a:spcPts val="900"/>
              </a:spcAft>
              <a:buSzPct val="100000"/>
              <a:buChar char="•"/>
            </a:pPr>
            <a:r>
              <a:rPr lang="en-US" sz="1400" dirty="0">
                <a:solidFill>
                  <a:schemeClr val="tx1"/>
                </a:solidFill>
              </a:rPr>
              <a:t>De ahí la cuarta vía que este trabajo evalúa: un modelo generativo abierto, instruido por prompt y ejecutado dentro de la organización.</a:t>
            </a:r>
            <a:endParaRPr lang="en-US" sz="1400" dirty="0"/>
          </a:p>
        </p:txBody>
      </p:sp>
      <p:sp>
        <p:nvSpPr>
          <p:cNvPr id="6" name="marco-A1"/>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pic>
        <p:nvPicPr>
          <p:cNvPr id="7" name="infografia-A1" descr="/tmp/claude-0/-home-claude/0347970e-765d-5e91-8654-ca2385a0d1de/scratchpad/cajas/A1.png">    </p:cNvPr>
          <p:cNvPicPr>
            <a:picLocks noChangeAspect="1"/>
          </p:cNvPicPr>
          <p:nvPr/>
        </p:nvPicPr>
        <p:blipFill>
          <a:blip r:embed="rId1"/>
          <a:stretch>
            <a:fillRect/>
          </a:stretch>
        </p:blipFill>
        <p:spPr>
          <a:xfrm>
            <a:off x="6353852" y="1353312"/>
            <a:ext cx="5123096" cy="3749040"/>
          </a:xfrm>
          <a:prstGeom prst="rect">
            <a:avLst/>
          </a:prstGeom>
        </p:spPr>
      </p:pic>
      <p:sp>
        <p:nvSpPr>
          <p:cNvPr id="8" name="dato-3 vías clásicas"/>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9" name="Text 6"/>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3 vías clásicas</a:t>
            </a:r>
            <a:endParaRPr lang="en-US" sz="2400" dirty="0"/>
          </a:p>
        </p:txBody>
      </p:sp>
      <p:sp>
        <p:nvSpPr>
          <p:cNvPr id="10" name="Text 7"/>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y las tres fallan en algo distinto</a:t>
            </a:r>
            <a:endParaRPr lang="en-US" sz="1050" dirty="0"/>
          </a:p>
        </p:txBody>
      </p:sp>
      <p:sp>
        <p:nvSpPr>
          <p:cNvPr id="11" name="dato-0"/>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2" name="Text 9"/>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0</a:t>
            </a:r>
            <a:endParaRPr lang="en-US" sz="2400" dirty="0"/>
          </a:p>
        </p:txBody>
      </p:sp>
      <p:sp>
        <p:nvSpPr>
          <p:cNvPr id="13" name="Text 10"/>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corpus público AML/KYC en español</a:t>
            </a:r>
            <a:endParaRPr lang="en-US" sz="1050" dirty="0"/>
          </a:p>
        </p:txBody>
      </p:sp>
      <p:sp>
        <p:nvSpPr>
          <p:cNvPr id="15"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ip-CAP. 1"/>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1</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Riesgo y soberanía del dato</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Procesar la noticia en una API externa significa entregar a un proveedor el texto y el contexto de la investigación, no una consulta anónima.</a:t>
            </a:r>
            <a:endParaRPr lang="en-US" sz="1400" dirty="0"/>
          </a:p>
          <a:p>
            <a:pPr algn="l" marL="342900" indent="-342900">
              <a:spcAft>
                <a:spcPts val="900"/>
              </a:spcAft>
              <a:buSzPct val="100000"/>
              <a:buChar char="•"/>
            </a:pPr>
            <a:r>
              <a:rPr lang="en-US" sz="1400" dirty="0">
                <a:solidFill>
                  <a:schemeClr val="tx1"/>
                </a:solidFill>
              </a:rPr>
              <a:t>En una entidad regulada eso choca con las políticas de privacidad y con la soberanía del dato, antes incluso que con el presupuesto.</a:t>
            </a:r>
            <a:endParaRPr lang="en-US" sz="1400" dirty="0"/>
          </a:p>
          <a:p>
            <a:pPr algn="l" marL="342900" indent="-342900">
              <a:spcAft>
                <a:spcPts val="900"/>
              </a:spcAft>
              <a:buSzPct val="100000"/>
              <a:buChar char="•"/>
            </a:pPr>
            <a:r>
              <a:rPr lang="en-US" sz="1400" dirty="0">
                <a:solidFill>
                  <a:schemeClr val="tx1"/>
                </a:solidFill>
              </a:rPr>
              <a:t>Evitarlo elimina además la necesidad de suscribir acuerdos de tratamiento de datos con un proveedor externo y reduce la superficie de exposición.</a:t>
            </a:r>
            <a:endParaRPr lang="en-US" sz="1400" dirty="0"/>
          </a:p>
          <a:p>
            <a:pPr algn="l" marL="342900" indent="-342900">
              <a:spcAft>
                <a:spcPts val="900"/>
              </a:spcAft>
              <a:buSzPct val="100000"/>
              <a:buChar char="•"/>
            </a:pPr>
            <a:r>
              <a:rPr lang="en-US" sz="1400" dirty="0">
                <a:solidFill>
                  <a:schemeClr val="tx1"/>
                </a:solidFill>
              </a:rPr>
              <a:t>La alternativa evaluada mantiene el texto dentro de la organización: inferencia local sobre hardware propio, sin salida a Internet.</a:t>
            </a:r>
            <a:endParaRPr lang="en-US" sz="1400" dirty="0"/>
          </a:p>
        </p:txBody>
      </p:sp>
      <p:sp>
        <p:nvSpPr>
          <p:cNvPr id="6" name="marco-riesgo"/>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A DÓNDE VA EL TEXTO DEL CLIENTE</a:t>
            </a:r>
            <a:endParaRPr lang="en-US" sz="1150" dirty="0"/>
          </a:p>
        </p:txBody>
      </p:sp>
      <p:sp>
        <p:nvSpPr>
          <p:cNvPr id="8" name="col-0"/>
          <p:cNvSpPr/>
          <p:nvPr/>
        </p:nvSpPr>
        <p:spPr>
          <a:xfrm>
            <a:off x="6446520" y="1810512"/>
            <a:ext cx="2377440" cy="2331720"/>
          </a:xfrm>
          <a:prstGeom prst="roundRect">
            <a:avLst>
              <a:gd name="adj" fmla="val 1961"/>
            </a:avLst>
          </a:prstGeom>
          <a:solidFill>
            <a:srgbClr val="FFFFFF"/>
          </a:solidFill>
          <a:ln w="12700">
            <a:solidFill>
              <a:srgbClr val="FFFFFF"/>
            </a:solidFill>
            <a:prstDash val="solid"/>
          </a:ln>
        </p:spPr>
      </p:sp>
      <p:sp>
        <p:nvSpPr>
          <p:cNvPr id="9" name="tit-0"/>
          <p:cNvSpPr/>
          <p:nvPr/>
        </p:nvSpPr>
        <p:spPr>
          <a:xfrm>
            <a:off x="6611112" y="1975104"/>
            <a:ext cx="2048256" cy="329184"/>
          </a:xfrm>
          <a:prstGeom prst="roundRect">
            <a:avLst>
              <a:gd name="adj" fmla="val 13889"/>
            </a:avLst>
          </a:prstGeom>
          <a:solidFill>
            <a:srgbClr val="C1292E"/>
          </a:solidFill>
          <a:ln w="12700">
            <a:solidFill>
              <a:srgbClr val="C1292E"/>
            </a:solidFill>
            <a:prstDash val="solid"/>
          </a:ln>
        </p:spPr>
      </p:sp>
      <p:sp>
        <p:nvSpPr>
          <p:cNvPr id="10" name="Text 8"/>
          <p:cNvSpPr txBox="1"/>
          <p:nvPr/>
        </p:nvSpPr>
        <p:spPr>
          <a:xfrm>
            <a:off x="6611112" y="1975104"/>
            <a:ext cx="2048256" cy="329184"/>
          </a:xfrm>
          <a:prstGeom prst="rect">
            <a:avLst/>
          </a:prstGeom>
          <a:noFill/>
          <a:ln/>
        </p:spPr>
        <p:txBody>
          <a:bodyPr wrap="square" lIns="0" tIns="0" rIns="0" bIns="0" rtlCol="0" anchor="ctr"/>
          <a:lstStyle/>
          <a:p>
            <a:pPr algn="ctr" indent="0" marL="0">
              <a:buNone/>
            </a:pPr>
            <a:r>
              <a:rPr lang="en-US" sz="1100" b="1" dirty="0">
                <a:solidFill>
                  <a:srgbClr val="FFFFFF"/>
                </a:solidFill>
              </a:rPr>
              <a:t>API en la nube</a:t>
            </a:r>
            <a:endParaRPr lang="en-US" sz="1100" dirty="0"/>
          </a:p>
        </p:txBody>
      </p:sp>
      <p:sp>
        <p:nvSpPr>
          <p:cNvPr id="11" name="Text 9"/>
          <p:cNvSpPr txBox="1"/>
          <p:nvPr/>
        </p:nvSpPr>
        <p:spPr>
          <a:xfrm>
            <a:off x="6629400" y="2414016"/>
            <a:ext cx="2011680" cy="15544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chemeClr val="tx1"/>
                </a:solidFill>
              </a:rPr>
              <a:t>El artículo y el contexto de la investigación salen hacia un tercero</a:t>
            </a:r>
            <a:endParaRPr lang="en-US" sz="1000" dirty="0"/>
          </a:p>
          <a:p>
            <a:pPr marL="342900" indent="-342900">
              <a:spcAft>
                <a:spcPts val="700"/>
              </a:spcAft>
              <a:buSzPct val="100000"/>
              <a:buChar char="•"/>
            </a:pPr>
            <a:r>
              <a:rPr lang="en-US" sz="1000" dirty="0">
                <a:solidFill>
                  <a:schemeClr val="tx1"/>
                </a:solidFill>
              </a:rPr>
              <a:t>Costo por llamada, que escala con el volumen</a:t>
            </a:r>
            <a:endParaRPr lang="en-US" sz="1000" dirty="0"/>
          </a:p>
          <a:p>
            <a:pPr marL="342900" indent="-342900">
              <a:spcAft>
                <a:spcPts val="700"/>
              </a:spcAft>
              <a:buSzPct val="100000"/>
              <a:buChar char="•"/>
            </a:pPr>
            <a:r>
              <a:rPr lang="en-US" sz="1000" dirty="0">
                <a:solidFill>
                  <a:schemeClr val="tx1"/>
                </a:solidFill>
              </a:rPr>
              <a:t>Sujeto a las políticas del proveedor</a:t>
            </a:r>
            <a:endParaRPr lang="en-US" sz="1000" dirty="0"/>
          </a:p>
        </p:txBody>
      </p:sp>
      <p:sp>
        <p:nvSpPr>
          <p:cNvPr id="12" name="col-1"/>
          <p:cNvSpPr/>
          <p:nvPr/>
        </p:nvSpPr>
        <p:spPr>
          <a:xfrm>
            <a:off x="9006840" y="1810512"/>
            <a:ext cx="2377440" cy="2331720"/>
          </a:xfrm>
          <a:prstGeom prst="roundRect">
            <a:avLst>
              <a:gd name="adj" fmla="val 1961"/>
            </a:avLst>
          </a:prstGeom>
          <a:solidFill>
            <a:srgbClr val="FFFFFF"/>
          </a:solidFill>
          <a:ln w="12700">
            <a:solidFill>
              <a:srgbClr val="FFFFFF"/>
            </a:solidFill>
            <a:prstDash val="solid"/>
          </a:ln>
        </p:spPr>
      </p:sp>
      <p:sp>
        <p:nvSpPr>
          <p:cNvPr id="13" name="tit-1"/>
          <p:cNvSpPr/>
          <p:nvPr/>
        </p:nvSpPr>
        <p:spPr>
          <a:xfrm>
            <a:off x="9171432" y="1975104"/>
            <a:ext cx="2048256" cy="329184"/>
          </a:xfrm>
          <a:prstGeom prst="roundRect">
            <a:avLst>
              <a:gd name="adj" fmla="val 13889"/>
            </a:avLst>
          </a:prstGeom>
          <a:solidFill>
            <a:srgbClr val="0C6E6D"/>
          </a:solidFill>
          <a:ln w="12700">
            <a:solidFill>
              <a:srgbClr val="0C6E6D"/>
            </a:solidFill>
            <a:prstDash val="solid"/>
          </a:ln>
        </p:spPr>
      </p:sp>
      <p:sp>
        <p:nvSpPr>
          <p:cNvPr id="14" name="Text 12"/>
          <p:cNvSpPr txBox="1"/>
          <p:nvPr/>
        </p:nvSpPr>
        <p:spPr>
          <a:xfrm>
            <a:off x="9171432" y="1975104"/>
            <a:ext cx="2048256" cy="329184"/>
          </a:xfrm>
          <a:prstGeom prst="rect">
            <a:avLst/>
          </a:prstGeom>
          <a:noFill/>
          <a:ln/>
        </p:spPr>
        <p:txBody>
          <a:bodyPr wrap="square" lIns="0" tIns="0" rIns="0" bIns="0" rtlCol="0" anchor="ctr"/>
          <a:lstStyle/>
          <a:p>
            <a:pPr algn="ctr" indent="0" marL="0">
              <a:buNone/>
            </a:pPr>
            <a:r>
              <a:rPr lang="en-US" sz="1100" b="1" dirty="0">
                <a:solidFill>
                  <a:srgbClr val="FFFFFF"/>
                </a:solidFill>
              </a:rPr>
              <a:t>Inferencia local</a:t>
            </a:r>
            <a:endParaRPr lang="en-US" sz="1100" dirty="0"/>
          </a:p>
        </p:txBody>
      </p:sp>
      <p:sp>
        <p:nvSpPr>
          <p:cNvPr id="15" name="Text 13"/>
          <p:cNvSpPr txBox="1"/>
          <p:nvPr/>
        </p:nvSpPr>
        <p:spPr>
          <a:xfrm>
            <a:off x="9189720" y="2414016"/>
            <a:ext cx="2011680" cy="15544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chemeClr val="tx1"/>
                </a:solidFill>
              </a:rPr>
              <a:t>El texto no abandona la organización en ningún momento</a:t>
            </a:r>
            <a:endParaRPr lang="en-US" sz="1000" dirty="0"/>
          </a:p>
          <a:p>
            <a:pPr marL="342900" indent="-342900">
              <a:spcAft>
                <a:spcPts val="700"/>
              </a:spcAft>
              <a:buSzPct val="100000"/>
              <a:buChar char="•"/>
            </a:pPr>
            <a:r>
              <a:rPr lang="en-US" sz="1000" dirty="0">
                <a:solidFill>
                  <a:schemeClr val="tx1"/>
                </a:solidFill>
              </a:rPr>
              <a:t>Sin costo por llamada ni dependencia de un proveedor</a:t>
            </a:r>
            <a:endParaRPr lang="en-US" sz="1000" dirty="0"/>
          </a:p>
          <a:p>
            <a:pPr marL="342900" indent="-342900">
              <a:spcAft>
                <a:spcPts val="700"/>
              </a:spcAft>
              <a:buSzPct val="100000"/>
              <a:buChar char="•"/>
            </a:pPr>
            <a:r>
              <a:rPr lang="en-US" sz="1000" dirty="0">
                <a:solidFill>
                  <a:schemeClr val="tx1"/>
                </a:solidFill>
              </a:rPr>
              <a:t>Operación posible incluso desconectada</a:t>
            </a:r>
            <a:endParaRPr lang="en-US" sz="1000" dirty="0"/>
          </a:p>
        </p:txBody>
      </p:sp>
      <p:sp>
        <p:nvSpPr>
          <p:cNvPr id="16" name="Text 14"/>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El estudio mide cuánto cuesta esa decisión en desempeño: menos de un punto de F1 sobre el corpus de mayor potencia.</a:t>
            </a:r>
            <a:endParaRPr lang="en-US" sz="1050" dirty="0"/>
          </a:p>
        </p:txBody>
      </p:sp>
      <p:sp>
        <p:nvSpPr>
          <p:cNvPr id="17" name="dato-100 %"/>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18" name="Text 16"/>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100 %</a:t>
            </a:r>
            <a:endParaRPr lang="en-US" sz="2400" dirty="0"/>
          </a:p>
        </p:txBody>
      </p:sp>
      <p:sp>
        <p:nvSpPr>
          <p:cNvPr id="19" name="Text 17"/>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del proceso, puertas adentro</a:t>
            </a:r>
            <a:endParaRPr lang="en-US" sz="1050" dirty="0"/>
          </a:p>
        </p:txBody>
      </p:sp>
      <p:sp>
        <p:nvSpPr>
          <p:cNvPr id="20" name="dato-&lt; 1 pp"/>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21" name="Text 19"/>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&lt; 1 pp</a:t>
            </a:r>
            <a:endParaRPr lang="en-US" sz="2400" dirty="0"/>
          </a:p>
        </p:txBody>
      </p:sp>
      <p:sp>
        <p:nvSpPr>
          <p:cNvPr id="22" name="Text 20"/>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cuesta esa soberanía en F1</a:t>
            </a:r>
            <a:endParaRPr lang="en-US" sz="1050" dirty="0"/>
          </a:p>
        </p:txBody>
      </p:sp>
      <p:sp>
        <p:nvSpPr>
          <p:cNvPr id="24"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hip-CAP. 1"/>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1</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Objetivos del trabajo</a:t>
            </a:r>
            <a:endParaRPr lang="en-US" sz="2600" dirty="0"/>
          </a:p>
        </p:txBody>
      </p:sp>
      <p:sp>
        <p:nvSpPr>
          <p:cNvPr id="5" name="og"/>
          <p:cNvSpPr/>
          <p:nvPr/>
        </p:nvSpPr>
        <p:spPr>
          <a:xfrm>
            <a:off x="548640" y="1234440"/>
            <a:ext cx="11064240" cy="868680"/>
          </a:xfrm>
          <a:prstGeom prst="roundRect">
            <a:avLst>
              <a:gd name="adj" fmla="val 6316"/>
            </a:avLst>
          </a:prstGeom>
          <a:solidFill>
            <a:srgbClr val="1E2761"/>
          </a:solidFill>
          <a:ln w="12700">
            <a:solidFill>
              <a:srgbClr val="333333"/>
            </a:solidFill>
            <a:prstDash val="solid"/>
          </a:ln>
        </p:spPr>
      </p:sp>
      <p:sp>
        <p:nvSpPr>
          <p:cNvPr id="6" name="Text 4"/>
          <p:cNvSpPr txBox="1"/>
          <p:nvPr/>
        </p:nvSpPr>
        <p:spPr>
          <a:xfrm>
            <a:off x="822960" y="1371600"/>
            <a:ext cx="10515600" cy="237744"/>
          </a:xfrm>
          <a:prstGeom prst="rect">
            <a:avLst/>
          </a:prstGeom>
          <a:noFill/>
          <a:ln/>
        </p:spPr>
        <p:txBody>
          <a:bodyPr wrap="square" lIns="0" tIns="0" rIns="0" bIns="0" rtlCol="0" anchor="ctr"/>
          <a:lstStyle/>
          <a:p>
            <a:pPr indent="0" marL="0">
              <a:buNone/>
            </a:pPr>
            <a:r>
              <a:rPr lang="en-US" sz="1000" b="1" spc="120" kern="0" dirty="0">
                <a:solidFill>
                  <a:srgbClr val="35B3A3"/>
                </a:solidFill>
              </a:rPr>
              <a:t>OBJETIVO GENERAL</a:t>
            </a:r>
            <a:endParaRPr lang="en-US" sz="1000" dirty="0"/>
          </a:p>
        </p:txBody>
      </p:sp>
      <p:sp>
        <p:nvSpPr>
          <p:cNvPr id="7" name="Text 5"/>
          <p:cNvSpPr txBox="1"/>
          <p:nvPr/>
        </p:nvSpPr>
        <p:spPr>
          <a:xfrm>
            <a:off x="822960" y="1627632"/>
            <a:ext cx="10515600" cy="411480"/>
          </a:xfrm>
          <a:prstGeom prst="rect">
            <a:avLst/>
          </a:prstGeom>
          <a:noFill/>
          <a:ln/>
        </p:spPr>
        <p:txBody>
          <a:bodyPr wrap="square" lIns="0" tIns="0" rIns="0" bIns="0" rtlCol="0" anchor="ctr"/>
          <a:lstStyle/>
          <a:p>
            <a:pPr indent="0" marL="0">
              <a:buNone/>
            </a:pPr>
            <a:r>
              <a:rPr lang="en-US" sz="1350" dirty="0">
                <a:solidFill>
                  <a:srgbClr val="FFFFFF"/>
                </a:solidFill>
              </a:rPr>
              <a:t>Diseñar, implementar y validar un sistema soberano de extracción de entidades nombradas para cumplimiento normativo (AML/KYC) basado en modelos de lenguaje de código abierto ejecutados localmente.</a:t>
            </a:r>
            <a:endParaRPr lang="en-US" sz="1350" dirty="0"/>
          </a:p>
        </p:txBody>
      </p:sp>
      <p:sp>
        <p:nvSpPr>
          <p:cNvPr id="8" name="oe-0"/>
          <p:cNvSpPr/>
          <p:nvPr/>
        </p:nvSpPr>
        <p:spPr>
          <a:xfrm>
            <a:off x="548640" y="2331720"/>
            <a:ext cx="822960" cy="566928"/>
          </a:xfrm>
          <a:prstGeom prst="roundRect">
            <a:avLst>
              <a:gd name="adj" fmla="val 9677"/>
            </a:avLst>
          </a:prstGeom>
          <a:solidFill>
            <a:srgbClr val="0C6E6D"/>
          </a:solidFill>
          <a:ln w="12700">
            <a:solidFill>
              <a:srgbClr val="333333"/>
            </a:solidFill>
            <a:prstDash val="solid"/>
          </a:ln>
        </p:spPr>
      </p:sp>
      <p:sp>
        <p:nvSpPr>
          <p:cNvPr id="9" name="Text 7"/>
          <p:cNvSpPr txBox="1"/>
          <p:nvPr/>
        </p:nvSpPr>
        <p:spPr>
          <a:xfrm>
            <a:off x="548640" y="2331720"/>
            <a:ext cx="822960" cy="566928"/>
          </a:xfrm>
          <a:prstGeom prst="rect">
            <a:avLst/>
          </a:prstGeom>
          <a:noFill/>
          <a:ln/>
        </p:spPr>
        <p:txBody>
          <a:bodyPr wrap="square" lIns="0" tIns="0" rIns="0" bIns="0" rtlCol="0" anchor="ctr"/>
          <a:lstStyle/>
          <a:p>
            <a:pPr algn="ctr" indent="0" marL="0">
              <a:buNone/>
            </a:pPr>
            <a:r>
              <a:rPr lang="en-US" sz="1200" b="1" dirty="0">
                <a:solidFill>
                  <a:srgbClr val="FFFFFF"/>
                </a:solidFill>
              </a:rPr>
              <a:t>OE1</a:t>
            </a:r>
            <a:endParaRPr lang="en-US" sz="1200" dirty="0"/>
          </a:p>
        </p:txBody>
      </p:sp>
      <p:sp>
        <p:nvSpPr>
          <p:cNvPr id="10" name="Text 8"/>
          <p:cNvSpPr txBox="1"/>
          <p:nvPr/>
        </p:nvSpPr>
        <p:spPr>
          <a:xfrm>
            <a:off x="1536192" y="2350008"/>
            <a:ext cx="2286000" cy="274320"/>
          </a:xfrm>
          <a:prstGeom prst="rect">
            <a:avLst/>
          </a:prstGeom>
          <a:noFill/>
          <a:ln/>
        </p:spPr>
        <p:txBody>
          <a:bodyPr wrap="square" lIns="0" tIns="0" rIns="0" bIns="0" rtlCol="0" anchor="ctr"/>
          <a:lstStyle/>
          <a:p>
            <a:pPr indent="0" marL="0">
              <a:buNone/>
            </a:pPr>
            <a:r>
              <a:rPr lang="en-US" sz="1300" b="1" dirty="0">
                <a:solidFill>
                  <a:schemeClr val="tx1"/>
                </a:solidFill>
              </a:rPr>
              <a:t>Arquitectura</a:t>
            </a:r>
            <a:endParaRPr lang="en-US" sz="1300" dirty="0"/>
          </a:p>
        </p:txBody>
      </p:sp>
      <p:sp>
        <p:nvSpPr>
          <p:cNvPr id="11" name="Text 9"/>
          <p:cNvSpPr txBox="1"/>
          <p:nvPr/>
        </p:nvSpPr>
        <p:spPr>
          <a:xfrm>
            <a:off x="3886200" y="2350008"/>
            <a:ext cx="7726680" cy="530352"/>
          </a:xfrm>
          <a:prstGeom prst="rect">
            <a:avLst/>
          </a:prstGeom>
          <a:noFill/>
          <a:ln/>
        </p:spPr>
        <p:txBody>
          <a:bodyPr wrap="square" lIns="0" tIns="0" rIns="0" bIns="0" rtlCol="0" anchor="ctr"/>
          <a:lstStyle/>
          <a:p>
            <a:pPr indent="0" marL="0">
              <a:buNone/>
            </a:pPr>
            <a:r>
              <a:rPr lang="en-US" sz="1150" dirty="0">
                <a:solidFill>
                  <a:srgbClr val="51708D"/>
                </a:solidFill>
              </a:rPr>
              <a:t>Diseñar e implementar una arquitectura pub/sub multihilo con control adaptativo de concurrencia para ejecutar modelos de gran escala en hardware Apple Silicon.</a:t>
            </a:r>
            <a:endParaRPr lang="en-US" sz="1150" dirty="0"/>
          </a:p>
        </p:txBody>
      </p:sp>
      <p:sp>
        <p:nvSpPr>
          <p:cNvPr id="12" name="oe-1"/>
          <p:cNvSpPr/>
          <p:nvPr/>
        </p:nvSpPr>
        <p:spPr>
          <a:xfrm>
            <a:off x="548640" y="3081528"/>
            <a:ext cx="822960" cy="566928"/>
          </a:xfrm>
          <a:prstGeom prst="roundRect">
            <a:avLst>
              <a:gd name="adj" fmla="val 9677"/>
            </a:avLst>
          </a:prstGeom>
          <a:solidFill>
            <a:srgbClr val="0C6E6D"/>
          </a:solidFill>
          <a:ln w="12700">
            <a:solidFill>
              <a:srgbClr val="333333"/>
            </a:solidFill>
            <a:prstDash val="solid"/>
          </a:ln>
        </p:spPr>
      </p:sp>
      <p:sp>
        <p:nvSpPr>
          <p:cNvPr id="13" name="Text 11"/>
          <p:cNvSpPr txBox="1"/>
          <p:nvPr/>
        </p:nvSpPr>
        <p:spPr>
          <a:xfrm>
            <a:off x="548640" y="3081528"/>
            <a:ext cx="822960" cy="566928"/>
          </a:xfrm>
          <a:prstGeom prst="rect">
            <a:avLst/>
          </a:prstGeom>
          <a:noFill/>
          <a:ln/>
        </p:spPr>
        <p:txBody>
          <a:bodyPr wrap="square" lIns="0" tIns="0" rIns="0" bIns="0" rtlCol="0" anchor="ctr"/>
          <a:lstStyle/>
          <a:p>
            <a:pPr algn="ctr" indent="0" marL="0">
              <a:buNone/>
            </a:pPr>
            <a:r>
              <a:rPr lang="en-US" sz="1200" b="1" dirty="0">
                <a:solidFill>
                  <a:srgbClr val="FFFFFF"/>
                </a:solidFill>
              </a:rPr>
              <a:t>OE2</a:t>
            </a:r>
            <a:endParaRPr lang="en-US" sz="1200" dirty="0"/>
          </a:p>
        </p:txBody>
      </p:sp>
      <p:sp>
        <p:nvSpPr>
          <p:cNvPr id="14" name="Text 12"/>
          <p:cNvSpPr txBox="1"/>
          <p:nvPr/>
        </p:nvSpPr>
        <p:spPr>
          <a:xfrm>
            <a:off x="1536192" y="3099816"/>
            <a:ext cx="2286000" cy="274320"/>
          </a:xfrm>
          <a:prstGeom prst="rect">
            <a:avLst/>
          </a:prstGeom>
          <a:noFill/>
          <a:ln/>
        </p:spPr>
        <p:txBody>
          <a:bodyPr wrap="square" lIns="0" tIns="0" rIns="0" bIns="0" rtlCol="0" anchor="ctr"/>
          <a:lstStyle/>
          <a:p>
            <a:pPr indent="0" marL="0">
              <a:buNone/>
            </a:pPr>
            <a:r>
              <a:rPr lang="en-US" sz="1300" b="1" dirty="0">
                <a:solidFill>
                  <a:schemeClr val="tx1"/>
                </a:solidFill>
              </a:rPr>
              <a:t>Comparación de modelos</a:t>
            </a:r>
            <a:endParaRPr lang="en-US" sz="1300" dirty="0"/>
          </a:p>
        </p:txBody>
      </p:sp>
      <p:sp>
        <p:nvSpPr>
          <p:cNvPr id="15" name="Text 13"/>
          <p:cNvSpPr txBox="1"/>
          <p:nvPr/>
        </p:nvSpPr>
        <p:spPr>
          <a:xfrm>
            <a:off x="3886200" y="3099816"/>
            <a:ext cx="7726680" cy="530352"/>
          </a:xfrm>
          <a:prstGeom prst="rect">
            <a:avLst/>
          </a:prstGeom>
          <a:noFill/>
          <a:ln/>
        </p:spPr>
        <p:txBody>
          <a:bodyPr wrap="square" lIns="0" tIns="0" rIns="0" bIns="0" rtlCol="0" anchor="ctr"/>
          <a:lstStyle/>
          <a:p>
            <a:pPr indent="0" marL="0">
              <a:buNone/>
            </a:pPr>
            <a:r>
              <a:rPr lang="en-US" sz="1150" dirty="0">
                <a:solidFill>
                  <a:srgbClr val="51708D"/>
                </a:solidFill>
              </a:rPr>
              <a:t>Evaluar modelos abiertos de las familias Gemma, Llama, DeepSeek, Qwen, Mistral, GPT-OSS y Nemotron: doce en el benchmark exploratorio y trece en el estudio principal.</a:t>
            </a:r>
            <a:endParaRPr lang="en-US" sz="1150" dirty="0"/>
          </a:p>
        </p:txBody>
      </p:sp>
      <p:sp>
        <p:nvSpPr>
          <p:cNvPr id="16" name="oe-2"/>
          <p:cNvSpPr/>
          <p:nvPr/>
        </p:nvSpPr>
        <p:spPr>
          <a:xfrm>
            <a:off x="548640" y="3831336"/>
            <a:ext cx="822960" cy="566928"/>
          </a:xfrm>
          <a:prstGeom prst="roundRect">
            <a:avLst>
              <a:gd name="adj" fmla="val 9677"/>
            </a:avLst>
          </a:prstGeom>
          <a:solidFill>
            <a:srgbClr val="0C6E6D"/>
          </a:solidFill>
          <a:ln w="12700">
            <a:solidFill>
              <a:srgbClr val="333333"/>
            </a:solidFill>
            <a:prstDash val="solid"/>
          </a:ln>
        </p:spPr>
      </p:sp>
      <p:sp>
        <p:nvSpPr>
          <p:cNvPr id="17" name="Text 15"/>
          <p:cNvSpPr txBox="1"/>
          <p:nvPr/>
        </p:nvSpPr>
        <p:spPr>
          <a:xfrm>
            <a:off x="548640" y="3831336"/>
            <a:ext cx="822960" cy="566928"/>
          </a:xfrm>
          <a:prstGeom prst="rect">
            <a:avLst/>
          </a:prstGeom>
          <a:noFill/>
          <a:ln/>
        </p:spPr>
        <p:txBody>
          <a:bodyPr wrap="square" lIns="0" tIns="0" rIns="0" bIns="0" rtlCol="0" anchor="ctr"/>
          <a:lstStyle/>
          <a:p>
            <a:pPr algn="ctr" indent="0" marL="0">
              <a:buNone/>
            </a:pPr>
            <a:r>
              <a:rPr lang="en-US" sz="1200" b="1" dirty="0">
                <a:solidFill>
                  <a:srgbClr val="FFFFFF"/>
                </a:solidFill>
              </a:rPr>
              <a:t>OE3</a:t>
            </a:r>
            <a:endParaRPr lang="en-US" sz="1200" dirty="0"/>
          </a:p>
        </p:txBody>
      </p:sp>
      <p:sp>
        <p:nvSpPr>
          <p:cNvPr id="18" name="Text 16"/>
          <p:cNvSpPr txBox="1"/>
          <p:nvPr/>
        </p:nvSpPr>
        <p:spPr>
          <a:xfrm>
            <a:off x="1536192" y="3849624"/>
            <a:ext cx="2286000" cy="274320"/>
          </a:xfrm>
          <a:prstGeom prst="rect">
            <a:avLst/>
          </a:prstGeom>
          <a:noFill/>
          <a:ln/>
        </p:spPr>
        <p:txBody>
          <a:bodyPr wrap="square" lIns="0" tIns="0" rIns="0" bIns="0" rtlCol="0" anchor="ctr"/>
          <a:lstStyle/>
          <a:p>
            <a:pPr indent="0" marL="0">
              <a:buNone/>
            </a:pPr>
            <a:r>
              <a:rPr lang="en-US" sz="1300" b="1" dirty="0">
                <a:solidFill>
                  <a:schemeClr val="tx1"/>
                </a:solidFill>
              </a:rPr>
              <a:t>Diseño de prompts</a:t>
            </a:r>
            <a:endParaRPr lang="en-US" sz="1300" dirty="0"/>
          </a:p>
        </p:txBody>
      </p:sp>
      <p:sp>
        <p:nvSpPr>
          <p:cNvPr id="19" name="Text 17"/>
          <p:cNvSpPr txBox="1"/>
          <p:nvPr/>
        </p:nvSpPr>
        <p:spPr>
          <a:xfrm>
            <a:off x="3886200" y="3849624"/>
            <a:ext cx="7726680" cy="530352"/>
          </a:xfrm>
          <a:prstGeom prst="rect">
            <a:avLst/>
          </a:prstGeom>
          <a:noFill/>
          <a:ln/>
        </p:spPr>
        <p:txBody>
          <a:bodyPr wrap="square" lIns="0" tIns="0" rIns="0" bIns="0" rtlCol="0" anchor="ctr"/>
          <a:lstStyle/>
          <a:p>
            <a:pPr indent="0" marL="0">
              <a:buNone/>
            </a:pPr>
            <a:r>
              <a:rPr lang="en-US" sz="1150" dirty="0">
                <a:solidFill>
                  <a:srgbClr val="51708D"/>
                </a:solidFill>
              </a:rPr>
              <a:t>Comparar cuatro configuraciones de prompt en un diseño factorial dos por dos, cruzando idioma e inclusión de ejemplos, para cuantificar la localización lingüística.</a:t>
            </a:r>
            <a:endParaRPr lang="en-US" sz="1150" dirty="0"/>
          </a:p>
        </p:txBody>
      </p:sp>
      <p:sp>
        <p:nvSpPr>
          <p:cNvPr id="20" name="oe-3"/>
          <p:cNvSpPr/>
          <p:nvPr/>
        </p:nvSpPr>
        <p:spPr>
          <a:xfrm>
            <a:off x="548640" y="4581144"/>
            <a:ext cx="822960" cy="566928"/>
          </a:xfrm>
          <a:prstGeom prst="roundRect">
            <a:avLst>
              <a:gd name="adj" fmla="val 9677"/>
            </a:avLst>
          </a:prstGeom>
          <a:solidFill>
            <a:srgbClr val="0C6E6D"/>
          </a:solidFill>
          <a:ln w="12700">
            <a:solidFill>
              <a:srgbClr val="333333"/>
            </a:solidFill>
            <a:prstDash val="solid"/>
          </a:ln>
        </p:spPr>
      </p:sp>
      <p:sp>
        <p:nvSpPr>
          <p:cNvPr id="21" name="Text 19"/>
          <p:cNvSpPr txBox="1"/>
          <p:nvPr/>
        </p:nvSpPr>
        <p:spPr>
          <a:xfrm>
            <a:off x="548640" y="4581144"/>
            <a:ext cx="822960" cy="566928"/>
          </a:xfrm>
          <a:prstGeom prst="rect">
            <a:avLst/>
          </a:prstGeom>
          <a:noFill/>
          <a:ln/>
        </p:spPr>
        <p:txBody>
          <a:bodyPr wrap="square" lIns="0" tIns="0" rIns="0" bIns="0" rtlCol="0" anchor="ctr"/>
          <a:lstStyle/>
          <a:p>
            <a:pPr algn="ctr" indent="0" marL="0">
              <a:buNone/>
            </a:pPr>
            <a:r>
              <a:rPr lang="en-US" sz="1200" b="1" dirty="0">
                <a:solidFill>
                  <a:srgbClr val="FFFFFF"/>
                </a:solidFill>
              </a:rPr>
              <a:t>OE4</a:t>
            </a:r>
            <a:endParaRPr lang="en-US" sz="1200" dirty="0"/>
          </a:p>
        </p:txBody>
      </p:sp>
      <p:sp>
        <p:nvSpPr>
          <p:cNvPr id="22" name="Text 20"/>
          <p:cNvSpPr txBox="1"/>
          <p:nvPr/>
        </p:nvSpPr>
        <p:spPr>
          <a:xfrm>
            <a:off x="1536192" y="4599432"/>
            <a:ext cx="2286000" cy="274320"/>
          </a:xfrm>
          <a:prstGeom prst="rect">
            <a:avLst/>
          </a:prstGeom>
          <a:noFill/>
          <a:ln/>
        </p:spPr>
        <p:txBody>
          <a:bodyPr wrap="square" lIns="0" tIns="0" rIns="0" bIns="0" rtlCol="0" anchor="ctr"/>
          <a:lstStyle/>
          <a:p>
            <a:pPr indent="0" marL="0">
              <a:buNone/>
            </a:pPr>
            <a:r>
              <a:rPr lang="en-US" sz="1300" b="1" dirty="0">
                <a:solidFill>
                  <a:schemeClr val="tx1"/>
                </a:solidFill>
              </a:rPr>
              <a:t>Validación estadística</a:t>
            </a:r>
            <a:endParaRPr lang="en-US" sz="1300" dirty="0"/>
          </a:p>
        </p:txBody>
      </p:sp>
      <p:sp>
        <p:nvSpPr>
          <p:cNvPr id="23" name="Text 21"/>
          <p:cNvSpPr txBox="1"/>
          <p:nvPr/>
        </p:nvSpPr>
        <p:spPr>
          <a:xfrm>
            <a:off x="3886200" y="4599432"/>
            <a:ext cx="7726680" cy="530352"/>
          </a:xfrm>
          <a:prstGeom prst="rect">
            <a:avLst/>
          </a:prstGeom>
          <a:noFill/>
          <a:ln/>
        </p:spPr>
        <p:txBody>
          <a:bodyPr wrap="square" lIns="0" tIns="0" rIns="0" bIns="0" rtlCol="0" anchor="ctr"/>
          <a:lstStyle/>
          <a:p>
            <a:pPr indent="0" marL="0">
              <a:buNone/>
            </a:pPr>
            <a:r>
              <a:rPr lang="en-US" sz="1150" dirty="0">
                <a:solidFill>
                  <a:srgbClr val="51708D"/>
                </a:solidFill>
              </a:rPr>
              <a:t>Contrastar los resultados mediante ANOVA de una vía y pruebas post-hoc de Tukey HSD con alfa de 0,05 sobre un corpus de treinta observaciones o más.</a:t>
            </a:r>
            <a:endParaRPr lang="en-US" sz="1150" dirty="0"/>
          </a:p>
        </p:txBody>
      </p:sp>
      <p:sp>
        <p:nvSpPr>
          <p:cNvPr id="24" name="oe-4"/>
          <p:cNvSpPr/>
          <p:nvPr/>
        </p:nvSpPr>
        <p:spPr>
          <a:xfrm>
            <a:off x="548640" y="5330952"/>
            <a:ext cx="822960" cy="566928"/>
          </a:xfrm>
          <a:prstGeom prst="roundRect">
            <a:avLst>
              <a:gd name="adj" fmla="val 9677"/>
            </a:avLst>
          </a:prstGeom>
          <a:solidFill>
            <a:srgbClr val="0C6E6D"/>
          </a:solidFill>
          <a:ln w="12700">
            <a:solidFill>
              <a:srgbClr val="333333"/>
            </a:solidFill>
            <a:prstDash val="solid"/>
          </a:ln>
        </p:spPr>
      </p:sp>
      <p:sp>
        <p:nvSpPr>
          <p:cNvPr id="25" name="Text 23"/>
          <p:cNvSpPr txBox="1"/>
          <p:nvPr/>
        </p:nvSpPr>
        <p:spPr>
          <a:xfrm>
            <a:off x="548640" y="5330952"/>
            <a:ext cx="822960" cy="566928"/>
          </a:xfrm>
          <a:prstGeom prst="rect">
            <a:avLst/>
          </a:prstGeom>
          <a:noFill/>
          <a:ln/>
        </p:spPr>
        <p:txBody>
          <a:bodyPr wrap="square" lIns="0" tIns="0" rIns="0" bIns="0" rtlCol="0" anchor="ctr"/>
          <a:lstStyle/>
          <a:p>
            <a:pPr algn="ctr" indent="0" marL="0">
              <a:buNone/>
            </a:pPr>
            <a:r>
              <a:rPr lang="en-US" sz="1200" b="1" dirty="0">
                <a:solidFill>
                  <a:srgbClr val="FFFFFF"/>
                </a:solidFill>
              </a:rPr>
              <a:t>OE5</a:t>
            </a:r>
            <a:endParaRPr lang="en-US" sz="1200" dirty="0"/>
          </a:p>
        </p:txBody>
      </p:sp>
      <p:sp>
        <p:nvSpPr>
          <p:cNvPr id="26" name="Text 24"/>
          <p:cNvSpPr txBox="1"/>
          <p:nvPr/>
        </p:nvSpPr>
        <p:spPr>
          <a:xfrm>
            <a:off x="1536192" y="5349240"/>
            <a:ext cx="2286000" cy="274320"/>
          </a:xfrm>
          <a:prstGeom prst="rect">
            <a:avLst/>
          </a:prstGeom>
          <a:noFill/>
          <a:ln/>
        </p:spPr>
        <p:txBody>
          <a:bodyPr wrap="square" lIns="0" tIns="0" rIns="0" bIns="0" rtlCol="0" anchor="ctr"/>
          <a:lstStyle/>
          <a:p>
            <a:pPr indent="0" marL="0">
              <a:buNone/>
            </a:pPr>
            <a:r>
              <a:rPr lang="en-US" sz="1300" b="1" dirty="0">
                <a:solidFill>
                  <a:schemeClr val="tx1"/>
                </a:solidFill>
              </a:rPr>
              <a:t>Costo y alucinación</a:t>
            </a:r>
            <a:endParaRPr lang="en-US" sz="1300" dirty="0"/>
          </a:p>
        </p:txBody>
      </p:sp>
      <p:sp>
        <p:nvSpPr>
          <p:cNvPr id="27" name="Text 25"/>
          <p:cNvSpPr txBox="1"/>
          <p:nvPr/>
        </p:nvSpPr>
        <p:spPr>
          <a:xfrm>
            <a:off x="3886200" y="5349240"/>
            <a:ext cx="7726680" cy="530352"/>
          </a:xfrm>
          <a:prstGeom prst="rect">
            <a:avLst/>
          </a:prstGeom>
          <a:noFill/>
          <a:ln/>
        </p:spPr>
        <p:txBody>
          <a:bodyPr wrap="square" lIns="0" tIns="0" rIns="0" bIns="0" rtlCol="0" anchor="ctr"/>
          <a:lstStyle/>
          <a:p>
            <a:pPr indent="0" marL="0">
              <a:buNone/>
            </a:pPr>
            <a:r>
              <a:rPr lang="en-US" sz="1150" dirty="0">
                <a:solidFill>
                  <a:srgbClr val="51708D"/>
                </a:solidFill>
              </a:rPr>
              <a:t>Demostrar una reducción del costo operativo entre 60 % y 80 % frente a la revisión manual, manteniendo la tasa de alucinaciones por debajo del 5 %.</a:t>
            </a:r>
            <a:endParaRPr lang="en-US" sz="1150" dirty="0"/>
          </a:p>
        </p:txBody>
      </p:sp>
      <p:sp>
        <p:nvSpPr>
          <p:cNvPr id="29"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ip-CAP. 1"/>
          <p:cNvSpPr/>
          <p:nvPr/>
        </p:nvSpPr>
        <p:spPr>
          <a:xfrm>
            <a:off x="548640" y="384048"/>
            <a:ext cx="1188720" cy="384048"/>
          </a:xfrm>
          <a:prstGeom prst="roundRect">
            <a:avLst>
              <a:gd name="adj" fmla="val 19048"/>
            </a:avLst>
          </a:prstGeom>
          <a:solidFill>
            <a:srgbClr val="2A9D8F"/>
          </a:solidFill>
          <a:ln w="12700">
            <a:solidFill>
              <a:srgbClr val="2A9D8F"/>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rgbClr val="0F1C3F"/>
                </a:solidFill>
              </a:rPr>
              <a:t>CAP. 1</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bg1"/>
                </a:solidFill>
              </a:rPr>
              <a:t>Hipótesis de trabajo</a:t>
            </a:r>
            <a:endParaRPr lang="en-US" sz="2600" dirty="0"/>
          </a:p>
        </p:txBody>
      </p:sp>
      <p:sp>
        <p:nvSpPr>
          <p:cNvPr id="5" name="Text 0"/>
          <p:cNvSpPr/>
          <p:nvPr>
            <p:ph idx="102" type="body" hasCustomPrompt="1"/>
          </p:nvPr>
        </p:nvSpPr>
        <p:spPr>
          <a:xfrm>
            <a:off x="548640" y="1280160"/>
            <a:ext cx="11064240" cy="1737360"/>
          </a:xfrm>
          <a:prstGeom prst="rect">
            <a:avLst/>
          </a:prstGeom>
          <a:noFill/>
          <a:ln/>
        </p:spPr>
        <p:txBody>
          <a:bodyPr wrap="square" rtlCol="0"/>
          <a:lstStyle/>
          <a:p>
            <a:pPr algn="l" indent="0" marL="0">
              <a:buNone/>
            </a:pPr>
            <a:r>
              <a:rPr lang="en-US" sz="1400" dirty="0">
                <a:solidFill>
                  <a:srgbClr val="EEF3F9"/>
                </a:solidFill>
              </a:rPr>
              <a:t>Es viable un sistema soberano de extracción y clasificación de entidades financieras para cumplimiento corporativo usando modelos de lenguaje abiertos de 1,5B a 31B parámetros ejecutados en local, alcanzando un desempeño competitivo en español mediante prompt engineering y few-shot learning, eliminando la fuga de datos confidenciales y reduciendo los costos operativos.</a:t>
            </a:r>
            <a:endParaRPr lang="en-US" sz="1400" dirty="0"/>
          </a:p>
        </p:txBody>
      </p:sp>
      <p:sp>
        <p:nvSpPr>
          <p:cNvPr id="6" name="hip-0"/>
          <p:cNvSpPr/>
          <p:nvPr/>
        </p:nvSpPr>
        <p:spPr>
          <a:xfrm>
            <a:off x="548640" y="2788920"/>
            <a:ext cx="2615184" cy="1325880"/>
          </a:xfrm>
          <a:prstGeom prst="roundRect">
            <a:avLst>
              <a:gd name="adj" fmla="val 4138"/>
            </a:avLst>
          </a:prstGeom>
          <a:solidFill>
            <a:srgbClr val="1A2A52"/>
          </a:solidFill>
          <a:ln w="12700">
            <a:solidFill>
              <a:srgbClr val="333333"/>
            </a:solidFill>
            <a:prstDash val="solid"/>
          </a:ln>
        </p:spPr>
      </p:sp>
      <p:sp>
        <p:nvSpPr>
          <p:cNvPr id="7" name="Text 5"/>
          <p:cNvSpPr txBox="1"/>
          <p:nvPr/>
        </p:nvSpPr>
        <p:spPr>
          <a:xfrm>
            <a:off x="713232" y="2944368"/>
            <a:ext cx="2286000" cy="530352"/>
          </a:xfrm>
          <a:prstGeom prst="rect">
            <a:avLst/>
          </a:prstGeom>
          <a:noFill/>
          <a:ln/>
        </p:spPr>
        <p:txBody>
          <a:bodyPr wrap="square" lIns="0" tIns="0" rIns="0" bIns="0" rtlCol="0" anchor="ctr"/>
          <a:lstStyle/>
          <a:p>
            <a:pPr indent="0" marL="0">
              <a:buNone/>
            </a:pPr>
            <a:r>
              <a:rPr lang="en-US" sz="2100" b="1" dirty="0">
                <a:solidFill>
                  <a:srgbClr val="2A9D8F"/>
                </a:solidFill>
              </a:rPr>
              <a:t>F1 ≥ 70 %</a:t>
            </a:r>
            <a:endParaRPr lang="en-US" sz="2100" dirty="0"/>
          </a:p>
        </p:txBody>
      </p:sp>
      <p:sp>
        <p:nvSpPr>
          <p:cNvPr id="8" name="Text 6"/>
          <p:cNvSpPr txBox="1"/>
          <p:nvPr/>
        </p:nvSpPr>
        <p:spPr>
          <a:xfrm>
            <a:off x="713232" y="3493008"/>
            <a:ext cx="2286000" cy="502920"/>
          </a:xfrm>
          <a:prstGeom prst="rect">
            <a:avLst/>
          </a:prstGeom>
          <a:noFill/>
          <a:ln/>
        </p:spPr>
        <p:txBody>
          <a:bodyPr wrap="square" lIns="0" tIns="0" rIns="0" bIns="0" rtlCol="0" anchor="ctr"/>
          <a:lstStyle/>
          <a:p>
            <a:pPr indent="0" marL="0">
              <a:buNone/>
            </a:pPr>
            <a:r>
              <a:rPr lang="en-US" sz="1050" dirty="0">
                <a:solidFill>
                  <a:srgbClr val="EEF3F9"/>
                </a:solidFill>
              </a:rPr>
              <a:t>umbral de viabilidad, en español</a:t>
            </a:r>
            <a:endParaRPr lang="en-US" sz="1050" dirty="0"/>
          </a:p>
        </p:txBody>
      </p:sp>
      <p:sp>
        <p:nvSpPr>
          <p:cNvPr id="9" name="hip-1"/>
          <p:cNvSpPr/>
          <p:nvPr/>
        </p:nvSpPr>
        <p:spPr>
          <a:xfrm>
            <a:off x="3364992" y="2788920"/>
            <a:ext cx="2615184" cy="1325880"/>
          </a:xfrm>
          <a:prstGeom prst="roundRect">
            <a:avLst>
              <a:gd name="adj" fmla="val 4138"/>
            </a:avLst>
          </a:prstGeom>
          <a:solidFill>
            <a:srgbClr val="1A2A52"/>
          </a:solidFill>
          <a:ln w="12700">
            <a:solidFill>
              <a:srgbClr val="333333"/>
            </a:solidFill>
            <a:prstDash val="solid"/>
          </a:ln>
        </p:spPr>
      </p:sp>
      <p:sp>
        <p:nvSpPr>
          <p:cNvPr id="10" name="Text 8"/>
          <p:cNvSpPr txBox="1"/>
          <p:nvPr/>
        </p:nvSpPr>
        <p:spPr>
          <a:xfrm>
            <a:off x="3529584" y="2944368"/>
            <a:ext cx="2286000" cy="530352"/>
          </a:xfrm>
          <a:prstGeom prst="rect">
            <a:avLst/>
          </a:prstGeom>
          <a:noFill/>
          <a:ln/>
        </p:spPr>
        <p:txBody>
          <a:bodyPr wrap="square" lIns="0" tIns="0" rIns="0" bIns="0" rtlCol="0" anchor="ctr"/>
          <a:lstStyle/>
          <a:p>
            <a:pPr indent="0" marL="0">
              <a:buNone/>
            </a:pPr>
            <a:r>
              <a:rPr lang="en-US" sz="2100" b="1" dirty="0">
                <a:solidFill>
                  <a:srgbClr val="2A9D8F"/>
                </a:solidFill>
              </a:rPr>
              <a:t>1,5B – 31B</a:t>
            </a:r>
            <a:endParaRPr lang="en-US" sz="2100" dirty="0"/>
          </a:p>
        </p:txBody>
      </p:sp>
      <p:sp>
        <p:nvSpPr>
          <p:cNvPr id="11" name="Text 9"/>
          <p:cNvSpPr txBox="1"/>
          <p:nvPr/>
        </p:nvSpPr>
        <p:spPr>
          <a:xfrm>
            <a:off x="3529584" y="3493008"/>
            <a:ext cx="2286000" cy="502920"/>
          </a:xfrm>
          <a:prstGeom prst="rect">
            <a:avLst/>
          </a:prstGeom>
          <a:noFill/>
          <a:ln/>
        </p:spPr>
        <p:txBody>
          <a:bodyPr wrap="square" lIns="0" tIns="0" rIns="0" bIns="0" rtlCol="0" anchor="ctr"/>
          <a:lstStyle/>
          <a:p>
            <a:pPr indent="0" marL="0">
              <a:buNone/>
            </a:pPr>
            <a:r>
              <a:rPr lang="en-US" sz="1050" dirty="0">
                <a:solidFill>
                  <a:srgbClr val="EEF3F9"/>
                </a:solidFill>
              </a:rPr>
              <a:t>rango de modelos evaluados</a:t>
            </a:r>
            <a:endParaRPr lang="en-US" sz="1050" dirty="0"/>
          </a:p>
        </p:txBody>
      </p:sp>
      <p:sp>
        <p:nvSpPr>
          <p:cNvPr id="12" name="hip-2"/>
          <p:cNvSpPr/>
          <p:nvPr/>
        </p:nvSpPr>
        <p:spPr>
          <a:xfrm>
            <a:off x="6181344" y="2788920"/>
            <a:ext cx="2615184" cy="1325880"/>
          </a:xfrm>
          <a:prstGeom prst="roundRect">
            <a:avLst>
              <a:gd name="adj" fmla="val 4138"/>
            </a:avLst>
          </a:prstGeom>
          <a:solidFill>
            <a:srgbClr val="1A2A52"/>
          </a:solidFill>
          <a:ln w="12700">
            <a:solidFill>
              <a:srgbClr val="333333"/>
            </a:solidFill>
            <a:prstDash val="solid"/>
          </a:ln>
        </p:spPr>
      </p:sp>
      <p:sp>
        <p:nvSpPr>
          <p:cNvPr id="13" name="Text 11"/>
          <p:cNvSpPr txBox="1"/>
          <p:nvPr/>
        </p:nvSpPr>
        <p:spPr>
          <a:xfrm>
            <a:off x="6345936" y="2944368"/>
            <a:ext cx="2286000" cy="530352"/>
          </a:xfrm>
          <a:prstGeom prst="rect">
            <a:avLst/>
          </a:prstGeom>
          <a:noFill/>
          <a:ln/>
        </p:spPr>
        <p:txBody>
          <a:bodyPr wrap="square" lIns="0" tIns="0" rIns="0" bIns="0" rtlCol="0" anchor="ctr"/>
          <a:lstStyle/>
          <a:p>
            <a:pPr indent="0" marL="0">
              <a:buNone/>
            </a:pPr>
            <a:r>
              <a:rPr lang="en-US" sz="2100" b="1" dirty="0">
                <a:solidFill>
                  <a:srgbClr val="2A9D8F"/>
                </a:solidFill>
              </a:rPr>
              <a:t>2 variables</a:t>
            </a:r>
            <a:endParaRPr lang="en-US" sz="2100" dirty="0"/>
          </a:p>
        </p:txBody>
      </p:sp>
      <p:sp>
        <p:nvSpPr>
          <p:cNvPr id="14" name="Text 12"/>
          <p:cNvSpPr txBox="1"/>
          <p:nvPr/>
        </p:nvSpPr>
        <p:spPr>
          <a:xfrm>
            <a:off x="6345936" y="3493008"/>
            <a:ext cx="2286000" cy="502920"/>
          </a:xfrm>
          <a:prstGeom prst="rect">
            <a:avLst/>
          </a:prstGeom>
          <a:noFill/>
          <a:ln/>
        </p:spPr>
        <p:txBody>
          <a:bodyPr wrap="square" lIns="0" tIns="0" rIns="0" bIns="0" rtlCol="0" anchor="ctr"/>
          <a:lstStyle/>
          <a:p>
            <a:pPr indent="0" marL="0">
              <a:buNone/>
            </a:pPr>
            <a:r>
              <a:rPr lang="en-US" sz="1050" dirty="0">
                <a:solidFill>
                  <a:srgbClr val="EEF3F9"/>
                </a:solidFill>
              </a:rPr>
              <a:t>modelo LLM y estrategia de prompt</a:t>
            </a:r>
            <a:endParaRPr lang="en-US" sz="1050" dirty="0"/>
          </a:p>
        </p:txBody>
      </p:sp>
      <p:sp>
        <p:nvSpPr>
          <p:cNvPr id="15" name="hip-3"/>
          <p:cNvSpPr/>
          <p:nvPr/>
        </p:nvSpPr>
        <p:spPr>
          <a:xfrm>
            <a:off x="8997696" y="2788920"/>
            <a:ext cx="2615184" cy="1325880"/>
          </a:xfrm>
          <a:prstGeom prst="roundRect">
            <a:avLst>
              <a:gd name="adj" fmla="val 4138"/>
            </a:avLst>
          </a:prstGeom>
          <a:solidFill>
            <a:srgbClr val="1A2A52"/>
          </a:solidFill>
          <a:ln w="12700">
            <a:solidFill>
              <a:srgbClr val="333333"/>
            </a:solidFill>
            <a:prstDash val="solid"/>
          </a:ln>
        </p:spPr>
      </p:sp>
      <p:sp>
        <p:nvSpPr>
          <p:cNvPr id="16" name="Text 14"/>
          <p:cNvSpPr txBox="1"/>
          <p:nvPr/>
        </p:nvSpPr>
        <p:spPr>
          <a:xfrm>
            <a:off x="9162288" y="2944368"/>
            <a:ext cx="2286000" cy="530352"/>
          </a:xfrm>
          <a:prstGeom prst="rect">
            <a:avLst/>
          </a:prstGeom>
          <a:noFill/>
          <a:ln/>
        </p:spPr>
        <p:txBody>
          <a:bodyPr wrap="square" lIns="0" tIns="0" rIns="0" bIns="0" rtlCol="0" anchor="ctr"/>
          <a:lstStyle/>
          <a:p>
            <a:pPr indent="0" marL="0">
              <a:buNone/>
            </a:pPr>
            <a:r>
              <a:rPr lang="en-US" sz="2100" b="1" dirty="0">
                <a:solidFill>
                  <a:srgbClr val="2A9D8F"/>
                </a:solidFill>
              </a:rPr>
              <a:t>4 medidas</a:t>
            </a:r>
            <a:endParaRPr lang="en-US" sz="2100" dirty="0"/>
          </a:p>
        </p:txBody>
      </p:sp>
      <p:sp>
        <p:nvSpPr>
          <p:cNvPr id="17" name="Text 15"/>
          <p:cNvSpPr txBox="1"/>
          <p:nvPr/>
        </p:nvSpPr>
        <p:spPr>
          <a:xfrm>
            <a:off x="9162288" y="3493008"/>
            <a:ext cx="2286000" cy="502920"/>
          </a:xfrm>
          <a:prstGeom prst="rect">
            <a:avLst/>
          </a:prstGeom>
          <a:noFill/>
          <a:ln/>
        </p:spPr>
        <p:txBody>
          <a:bodyPr wrap="square" lIns="0" tIns="0" rIns="0" bIns="0" rtlCol="0" anchor="ctr"/>
          <a:lstStyle/>
          <a:p>
            <a:pPr indent="0" marL="0">
              <a:buNone/>
            </a:pPr>
            <a:r>
              <a:rPr lang="en-US" sz="1050" dirty="0">
                <a:solidFill>
                  <a:srgbClr val="EEF3F9"/>
                </a:solidFill>
              </a:rPr>
              <a:t>F1, alucinación, latencia y VRAM</a:t>
            </a:r>
            <a:endParaRPr lang="en-US" sz="1050" dirty="0"/>
          </a:p>
        </p:txBody>
      </p:sp>
      <p:sp>
        <p:nvSpPr>
          <p:cNvPr id="18" name="Text 16"/>
          <p:cNvSpPr txBox="1"/>
          <p:nvPr/>
        </p:nvSpPr>
        <p:spPr>
          <a:xfrm>
            <a:off x="548640" y="4526280"/>
            <a:ext cx="11064240" cy="868680"/>
          </a:xfrm>
          <a:prstGeom prst="rect">
            <a:avLst/>
          </a:prstGeom>
          <a:noFill/>
          <a:ln/>
        </p:spPr>
        <p:txBody>
          <a:bodyPr wrap="square" lIns="0" tIns="0" rIns="0" bIns="0" rtlCol="0" anchor="ctr"/>
          <a:lstStyle/>
          <a:p>
            <a:pPr indent="0" marL="0">
              <a:buNone/>
            </a:pPr>
            <a:r>
              <a:rPr lang="en-US" sz="1200" dirty="0">
                <a:solidFill>
                  <a:srgbClr val="8FA9C4"/>
                </a:solidFill>
              </a:rPr>
              <a:t>Variables independientes: el modelo seleccionado y la estrategia de prompt (zero-shot o few-shot, en inglés o en español). Variables dependientes: F1 agregado por artículo, tasa de alucinación extrínseca, latencia en tokens por segundo y consumo de memoria de vídeo. El umbral del 70 % hace la hipótesis falsable: el resultado podía contradecirla.</a:t>
            </a:r>
            <a:endParaRPr lang="en-US" sz="1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9C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hip-CAP. 2"/>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2</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Cuatro familias de técnicas, y por qué solo una es viable aquí</a:t>
            </a:r>
            <a:endParaRPr lang="en-US" sz="2600" dirty="0"/>
          </a:p>
        </p:txBody>
      </p:sp>
      <p:graphicFrame>
        <p:nvGraphicFramePr>
          <p:cNvPr id="12" name="familia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468880"/>
                <a:gridCol w="2651760"/>
                <a:gridCol w="2834640"/>
                <a:gridCol w="3108960"/>
              </a:tblGrid>
              <a:tr h="475488">
                <a:tc>
                  <a:txBody>
                    <a:bodyPr/>
                    <a:lstStyle/>
                    <a:p>
                      <a:pPr algn="ctr" indent="0" marL="0">
                        <a:buNone/>
                      </a:pPr>
                      <a:r>
                        <a:rPr lang="en-US" sz="1150" b="1" dirty="0">
                          <a:solidFill>
                            <a:srgbClr val="FFFFFF"/>
                          </a:solidFill>
                        </a:rPr>
                        <a:t>Familia</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Datos etiquetados que exige</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Fortaleza</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Por qué se descarta (o se elige)</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475488">
                <a:tc>
                  <a:txBody>
                    <a:bodyPr/>
                    <a:lstStyle/>
                    <a:p>
                      <a:pPr algn="l" indent="0" marL="0">
                        <a:buNone/>
                      </a:pPr>
                      <a:r>
                        <a:rPr lang="en-US" sz="1100" dirty="0">
                          <a:solidFill>
                            <a:schemeClr val="tx1"/>
                          </a:solidFill>
                        </a:rPr>
                        <a:t>Reglas y diccionarios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Ninguno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Adaptación inmediata y trazabilidad total</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Cobertura cerrada: no ve lo que no está catalogado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75488">
                <a:tc>
                  <a:txBody>
                    <a:bodyPr/>
                    <a:lstStyle/>
                    <a:p>
                      <a:pPr algn="l" indent="0" marL="0">
                        <a:buNone/>
                      </a:pPr>
                      <a:r>
                        <a:rPr lang="en-US" sz="1100" dirty="0">
                          <a:solidFill>
                            <a:schemeClr val="tx1"/>
                          </a:solidFill>
                        </a:rPr>
                        <a:t>CRF y BiLSTM-CRF</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Miles a decenas de miles de oraciones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Buen desempeño con rasgos bien diseñados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Exige anotación del dominio más ingeniería de rasgos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475488">
                <a:tc>
                  <a:txBody>
                    <a:bodyPr/>
                    <a:lstStyle/>
                    <a:p>
                      <a:pPr algn="l" indent="0" marL="0">
                        <a:buNone/>
                      </a:pPr>
                      <a:r>
                        <a:rPr lang="en-US" sz="1100" dirty="0">
                          <a:solidFill>
                            <a:schemeClr val="tx1"/>
                          </a:solidFill>
                        </a:rPr>
                        <a:t>Transformer con ajuste fino (BERT)</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Corpus anotado del dominio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El mejor F1 publicado en la literatura</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No existe corpus AML/KYC anotado en español</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75488">
                <a:tc>
                  <a:txBody>
                    <a:bodyPr/>
                    <a:lstStyle/>
                    <a:p>
                      <a:pPr algn="l" indent="0" marL="0">
                        <a:buNone/>
                      </a:pPr>
                      <a:r>
                        <a:rPr lang="en-US" sz="1100" b="1" dirty="0">
                          <a:solidFill>
                            <a:schemeClr val="tx1"/>
                          </a:solidFill>
                        </a:rPr>
                        <a:t>LLM generativo en contexto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chemeClr val="tx1"/>
                          </a:solidFill>
                        </a:rPr>
                        <a:t>Ninguno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chemeClr val="tx1"/>
                          </a:solidFill>
                        </a:rPr>
                        <a:t>Adaptación por prompt, sin reentrenar</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rgbClr val="0C6E6D"/>
                          </a:solidFill>
                        </a:rPr>
                        <a:t>Vía elegida: su riesgo propio es la alucinación</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r>
            </a:tbl>
          </a:graphicData>
        </a:graphic>
      </p:graphicFrame>
      <p:sp>
        <p:nvSpPr>
          <p:cNvPr id="6" name="Text 3"/>
          <p:cNvSpPr txBox="1"/>
          <p:nvPr/>
        </p:nvSpPr>
        <p:spPr>
          <a:xfrm>
            <a:off x="548640" y="3931920"/>
            <a:ext cx="11064240" cy="731520"/>
          </a:xfrm>
          <a:prstGeom prst="rect">
            <a:avLst/>
          </a:prstGeom>
          <a:noFill/>
          <a:ln/>
        </p:spPr>
        <p:txBody>
          <a:bodyPr wrap="square" lIns="0" tIns="0" rIns="0" bIns="0" rtlCol="0" anchor="ctr"/>
          <a:lstStyle/>
          <a:p>
            <a:pPr indent="0" marL="0">
              <a:buNone/>
            </a:pPr>
            <a:r>
              <a:rPr lang="en-US" sz="1300" dirty="0">
                <a:solidFill>
                  <a:schemeClr val="tx1"/>
                </a:solidFill>
              </a:rPr>
              <a:t>La elección no es por moda. Es la única familia que no depende de un corpus anotado que el dominio no tiene, y a cambio obliga a medir explícitamente dos riesgos que las otras no traen: la salida no estructurada, que se fuerza a un esquema verificable, y la alucinación, que se mide contra el texto de origen.</a:t>
            </a:r>
            <a:endParaRPr lang="en-US" sz="1300" dirty="0"/>
          </a:p>
        </p:txBody>
      </p:sp>
      <p:sp>
        <p:nvSpPr>
          <p:cNvPr id="7" name="dato-0 ejemplos"/>
          <p:cNvSpPr/>
          <p:nvPr/>
        </p:nvSpPr>
        <p:spPr>
          <a:xfrm>
            <a:off x="548640" y="4800600"/>
            <a:ext cx="2615184" cy="1051560"/>
          </a:xfrm>
          <a:prstGeom prst="roundRect">
            <a:avLst>
              <a:gd name="adj" fmla="val 5217"/>
            </a:avLst>
          </a:prstGeom>
          <a:solidFill>
            <a:srgbClr val="EEF3F9"/>
          </a:solidFill>
          <a:ln w="12700">
            <a:solidFill>
              <a:srgbClr val="EEF3F9"/>
            </a:solidFill>
            <a:prstDash val="solid"/>
          </a:ln>
        </p:spPr>
      </p:sp>
      <p:sp>
        <p:nvSpPr>
          <p:cNvPr id="8" name="Text 5"/>
          <p:cNvSpPr txBox="1"/>
          <p:nvPr/>
        </p:nvSpPr>
        <p:spPr>
          <a:xfrm>
            <a:off x="694944" y="488289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0 ejemplos</a:t>
            </a:r>
            <a:endParaRPr lang="en-US" sz="2400" dirty="0"/>
          </a:p>
        </p:txBody>
      </p:sp>
      <p:sp>
        <p:nvSpPr>
          <p:cNvPr id="9" name="Text 6"/>
          <p:cNvSpPr txBox="1"/>
          <p:nvPr/>
        </p:nvSpPr>
        <p:spPr>
          <a:xfrm>
            <a:off x="694944" y="5330952"/>
            <a:ext cx="2322576" cy="457200"/>
          </a:xfrm>
          <a:prstGeom prst="rect">
            <a:avLst/>
          </a:prstGeom>
          <a:noFill/>
          <a:ln/>
        </p:spPr>
        <p:txBody>
          <a:bodyPr wrap="square" lIns="0" tIns="0" rIns="0" bIns="0" rtlCol="0" anchor="ctr"/>
          <a:lstStyle/>
          <a:p>
            <a:pPr indent="0" marL="0">
              <a:buNone/>
            </a:pPr>
            <a:r>
              <a:rPr lang="en-US" sz="1050" dirty="0">
                <a:solidFill>
                  <a:srgbClr val="51708D"/>
                </a:solidFill>
              </a:rPr>
              <a:t>etiquetados exige la vía elegida</a:t>
            </a:r>
            <a:endParaRPr lang="en-US" sz="1050" dirty="0"/>
          </a:p>
        </p:txBody>
      </p:sp>
      <p:sp>
        <p:nvSpPr>
          <p:cNvPr id="10" name="dato-2 riesgos"/>
          <p:cNvSpPr/>
          <p:nvPr/>
        </p:nvSpPr>
        <p:spPr>
          <a:xfrm>
            <a:off x="3364992" y="4800600"/>
            <a:ext cx="2615184" cy="1051560"/>
          </a:xfrm>
          <a:prstGeom prst="roundRect">
            <a:avLst>
              <a:gd name="adj" fmla="val 5217"/>
            </a:avLst>
          </a:prstGeom>
          <a:solidFill>
            <a:srgbClr val="EEF3F9"/>
          </a:solidFill>
          <a:ln w="12700">
            <a:solidFill>
              <a:srgbClr val="EEF3F9"/>
            </a:solidFill>
            <a:prstDash val="solid"/>
          </a:ln>
        </p:spPr>
      </p:sp>
      <p:sp>
        <p:nvSpPr>
          <p:cNvPr id="11" name="Text 8"/>
          <p:cNvSpPr txBox="1"/>
          <p:nvPr/>
        </p:nvSpPr>
        <p:spPr>
          <a:xfrm>
            <a:off x="3511296" y="488289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2 riesgos</a:t>
            </a:r>
            <a:endParaRPr lang="en-US" sz="2400" dirty="0"/>
          </a:p>
        </p:txBody>
      </p:sp>
      <p:sp>
        <p:nvSpPr>
          <p:cNvPr id="12" name="Text 9"/>
          <p:cNvSpPr txBox="1"/>
          <p:nvPr/>
        </p:nvSpPr>
        <p:spPr>
          <a:xfrm>
            <a:off x="3511296" y="5330952"/>
            <a:ext cx="2322576" cy="457200"/>
          </a:xfrm>
          <a:prstGeom prst="rect">
            <a:avLst/>
          </a:prstGeom>
          <a:noFill/>
          <a:ln/>
        </p:spPr>
        <p:txBody>
          <a:bodyPr wrap="square" lIns="0" tIns="0" rIns="0" bIns="0" rtlCol="0" anchor="ctr"/>
          <a:lstStyle/>
          <a:p>
            <a:pPr indent="0" marL="0">
              <a:buNone/>
            </a:pPr>
            <a:r>
              <a:rPr lang="en-US" sz="1050" dirty="0">
                <a:solidFill>
                  <a:srgbClr val="51708D"/>
                </a:solidFill>
              </a:rPr>
              <a:t>formato y alucinación, ambos medidos</a:t>
            </a:r>
            <a:endParaRPr lang="en-US" sz="1050" dirty="0"/>
          </a:p>
        </p:txBody>
      </p:sp>
      <p:sp>
        <p:nvSpPr>
          <p:cNvPr id="13" name="dato-7 familias"/>
          <p:cNvSpPr/>
          <p:nvPr/>
        </p:nvSpPr>
        <p:spPr>
          <a:xfrm>
            <a:off x="6181344" y="4800600"/>
            <a:ext cx="2615184" cy="1051560"/>
          </a:xfrm>
          <a:prstGeom prst="roundRect">
            <a:avLst>
              <a:gd name="adj" fmla="val 5217"/>
            </a:avLst>
          </a:prstGeom>
          <a:solidFill>
            <a:srgbClr val="EEF3F9"/>
          </a:solidFill>
          <a:ln w="12700">
            <a:solidFill>
              <a:srgbClr val="EEF3F9"/>
            </a:solidFill>
            <a:prstDash val="solid"/>
          </a:ln>
        </p:spPr>
      </p:sp>
      <p:sp>
        <p:nvSpPr>
          <p:cNvPr id="14" name="Text 11"/>
          <p:cNvSpPr txBox="1"/>
          <p:nvPr/>
        </p:nvSpPr>
        <p:spPr>
          <a:xfrm>
            <a:off x="6327648" y="488289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7 familias</a:t>
            </a:r>
            <a:endParaRPr lang="en-US" sz="2400" dirty="0"/>
          </a:p>
        </p:txBody>
      </p:sp>
      <p:sp>
        <p:nvSpPr>
          <p:cNvPr id="15" name="Text 12"/>
          <p:cNvSpPr txBox="1"/>
          <p:nvPr/>
        </p:nvSpPr>
        <p:spPr>
          <a:xfrm>
            <a:off x="6327648" y="5330952"/>
            <a:ext cx="2322576" cy="457200"/>
          </a:xfrm>
          <a:prstGeom prst="rect">
            <a:avLst/>
          </a:prstGeom>
          <a:noFill/>
          <a:ln/>
        </p:spPr>
        <p:txBody>
          <a:bodyPr wrap="square" lIns="0" tIns="0" rIns="0" bIns="0" rtlCol="0" anchor="ctr"/>
          <a:lstStyle/>
          <a:p>
            <a:pPr indent="0" marL="0">
              <a:buNone/>
            </a:pPr>
            <a:r>
              <a:rPr lang="en-US" sz="1050" dirty="0">
                <a:solidFill>
                  <a:srgbClr val="51708D"/>
                </a:solidFill>
              </a:rPr>
              <a:t>de modelos abiertos evaluadas</a:t>
            </a:r>
            <a:endParaRPr lang="en-US" sz="1050" dirty="0"/>
          </a:p>
        </p:txBody>
      </p:sp>
      <p:sp>
        <p:nvSpPr>
          <p:cNvPr id="16" name="dato-13 modelos"/>
          <p:cNvSpPr/>
          <p:nvPr/>
        </p:nvSpPr>
        <p:spPr>
          <a:xfrm>
            <a:off x="8997696" y="4800600"/>
            <a:ext cx="2615184" cy="1051560"/>
          </a:xfrm>
          <a:prstGeom prst="roundRect">
            <a:avLst>
              <a:gd name="adj" fmla="val 5217"/>
            </a:avLst>
          </a:prstGeom>
          <a:solidFill>
            <a:srgbClr val="EEF3F9"/>
          </a:solidFill>
          <a:ln w="12700">
            <a:solidFill>
              <a:srgbClr val="EEF3F9"/>
            </a:solidFill>
            <a:prstDash val="solid"/>
          </a:ln>
        </p:spPr>
      </p:sp>
      <p:sp>
        <p:nvSpPr>
          <p:cNvPr id="17" name="Text 14"/>
          <p:cNvSpPr txBox="1"/>
          <p:nvPr/>
        </p:nvSpPr>
        <p:spPr>
          <a:xfrm>
            <a:off x="9144000" y="4882896"/>
            <a:ext cx="2322576" cy="457200"/>
          </a:xfrm>
          <a:prstGeom prst="rect">
            <a:avLst/>
          </a:prstGeom>
          <a:noFill/>
          <a:ln/>
        </p:spPr>
        <p:txBody>
          <a:bodyPr wrap="square" lIns="0" tIns="0" rIns="0" bIns="0" rtlCol="0" anchor="ctr"/>
          <a:lstStyle/>
          <a:p>
            <a:pPr indent="0" marL="0">
              <a:buNone/>
            </a:pPr>
            <a:r>
              <a:rPr lang="en-US" sz="2400" b="1" dirty="0">
                <a:solidFill>
                  <a:srgbClr val="0C6E6D"/>
                </a:solidFill>
              </a:rPr>
              <a:t>13 modelos</a:t>
            </a:r>
            <a:endParaRPr lang="en-US" sz="2400" dirty="0"/>
          </a:p>
        </p:txBody>
      </p:sp>
      <p:sp>
        <p:nvSpPr>
          <p:cNvPr id="18" name="Text 15"/>
          <p:cNvSpPr txBox="1"/>
          <p:nvPr/>
        </p:nvSpPr>
        <p:spPr>
          <a:xfrm>
            <a:off x="9144000" y="5330952"/>
            <a:ext cx="2322576" cy="457200"/>
          </a:xfrm>
          <a:prstGeom prst="rect">
            <a:avLst/>
          </a:prstGeom>
          <a:noFill/>
          <a:ln/>
        </p:spPr>
        <p:txBody>
          <a:bodyPr wrap="square" lIns="0" tIns="0" rIns="0" bIns="0" rtlCol="0" anchor="ctr"/>
          <a:lstStyle/>
          <a:p>
            <a:pPr indent="0" marL="0">
              <a:buNone/>
            </a:pPr>
            <a:r>
              <a:rPr lang="en-US" sz="1050" dirty="0">
                <a:solidFill>
                  <a:srgbClr val="51708D"/>
                </a:solidFill>
              </a:rPr>
              <a:t>en el estudio principal, en 26 grupos</a:t>
            </a:r>
            <a:endParaRPr lang="en-US" sz="1050" dirty="0"/>
          </a:p>
        </p:txBody>
      </p:sp>
      <p:sp>
        <p:nvSpPr>
          <p:cNvPr id="20"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hip-CAP. 2"/>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2</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Aprendizaje en contexto: enseñar sin reentrenar</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Un modelo generativo se adapta a una tarea nueva sin actualizar sus pesos, solo a partir de lo que recibe en el prompt. Es lo que Brown y sus colegas documentaron en el trabajo fundacional de GPT-3.</a:t>
            </a:r>
            <a:endParaRPr lang="en-US" sz="1400" dirty="0"/>
          </a:p>
          <a:p>
            <a:pPr algn="l" marL="342900" indent="-342900">
              <a:spcAft>
                <a:spcPts val="900"/>
              </a:spcAft>
              <a:buSzPct val="100000"/>
              <a:buChar char="•"/>
            </a:pPr>
            <a:r>
              <a:rPr lang="en-US" sz="1400" dirty="0">
                <a:solidFill>
                  <a:schemeClr val="tx1"/>
                </a:solidFill>
              </a:rPr>
              <a:t>En la variante few-shot el prompt antepone un puñado de ejemplos resueltos; en zero-shot el modelo deduce formato y criterio solo de la instrucción.</a:t>
            </a:r>
            <a:endParaRPr lang="en-US" sz="1400" dirty="0"/>
          </a:p>
          <a:p>
            <a:pPr algn="l" marL="342900" indent="-342900">
              <a:spcAft>
                <a:spcPts val="900"/>
              </a:spcAft>
              <a:buSzPct val="100000"/>
              <a:buChar char="•"/>
            </a:pPr>
            <a:r>
              <a:rPr lang="en-US" sz="1400" dirty="0">
                <a:solidFill>
                  <a:schemeClr val="tx1"/>
                </a:solidFill>
              </a:rPr>
              <a:t>Los ejemplos cumplen tres funciones: fijan el formato de salida en JSON, calibran el umbral semántico —qué cuenta como entidad— y adaptan el modelo a la terminología regulatoria.</a:t>
            </a:r>
            <a:endParaRPr lang="en-US" sz="1400" dirty="0"/>
          </a:p>
          <a:p>
            <a:pPr algn="l" marL="342900" indent="-342900">
              <a:spcAft>
                <a:spcPts val="900"/>
              </a:spcAft>
              <a:buSzPct val="100000"/>
              <a:buChar char="•"/>
            </a:pPr>
            <a:r>
              <a:rPr lang="en-US" sz="1400" dirty="0">
                <a:solidFill>
                  <a:schemeClr val="tx1"/>
                </a:solidFill>
              </a:rPr>
              <a:t>El efecto es real y se replicó con cinco semillas, pero no se comporta igual en los tres corpus: ese matiz se desarrolla en la lámina siguiente.</a:t>
            </a:r>
            <a:endParaRPr lang="en-US" sz="1400" dirty="0"/>
          </a:p>
        </p:txBody>
      </p:sp>
      <p:sp>
        <p:nvSpPr>
          <p:cNvPr id="6" name="marco-A2"/>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pic>
        <p:nvPicPr>
          <p:cNvPr id="7" name="infografia-A2" descr="/tmp/claude-0/-home-claude/0347970e-765d-5e91-8654-ca2385a0d1de/scratchpad/cajas/A2.png">    </p:cNvPr>
          <p:cNvPicPr>
            <a:picLocks noChangeAspect="1"/>
          </p:cNvPicPr>
          <p:nvPr/>
        </p:nvPicPr>
        <p:blipFill>
          <a:blip r:embed="rId1"/>
          <a:stretch>
            <a:fillRect/>
          </a:stretch>
        </p:blipFill>
        <p:spPr>
          <a:xfrm>
            <a:off x="6336792" y="1451707"/>
            <a:ext cx="5157216" cy="3552250"/>
          </a:xfrm>
          <a:prstGeom prst="rect">
            <a:avLst/>
          </a:prstGeom>
        </p:spPr>
      </p:pic>
      <p:sp>
        <p:nvSpPr>
          <p:cNvPr id="8" name="dato-0"/>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9" name="Text 6"/>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0</a:t>
            </a:r>
            <a:endParaRPr lang="en-US" sz="2400" dirty="0"/>
          </a:p>
        </p:txBody>
      </p:sp>
      <p:sp>
        <p:nvSpPr>
          <p:cNvPr id="10" name="Text 7"/>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pesos actualizados</a:t>
            </a:r>
            <a:endParaRPr lang="en-US" sz="1050" dirty="0"/>
          </a:p>
        </p:txBody>
      </p:sp>
      <p:sp>
        <p:nvSpPr>
          <p:cNvPr id="11" name="dato-2 ejemplos"/>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2" name="Text 9"/>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2 ejemplos</a:t>
            </a:r>
            <a:endParaRPr lang="en-US" sz="2400" dirty="0"/>
          </a:p>
        </p:txBody>
      </p:sp>
      <p:sp>
        <p:nvSpPr>
          <p:cNvPr id="13" name="Text 10"/>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bastan para fijar el criterio</a:t>
            </a:r>
            <a:endParaRPr lang="en-US" sz="1050" dirty="0"/>
          </a:p>
        </p:txBody>
      </p:sp>
      <p:sp>
        <p:nvSpPr>
          <p:cNvPr id="15"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hip-CAP. 2"/>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2</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Diseño factorial del prompt: idioma por ejemplos</a:t>
            </a:r>
            <a:endParaRPr lang="en-US" sz="2600" dirty="0"/>
          </a:p>
        </p:txBody>
      </p:sp>
      <p:graphicFrame>
        <p:nvGraphicFramePr>
          <p:cNvPr id="14" name="variante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383280"/>
                <a:gridCol w="1554480"/>
                <a:gridCol w="1554480"/>
                <a:gridCol w="1554480"/>
                <a:gridCol w="1554480"/>
                <a:gridCol w="1463040"/>
              </a:tblGrid>
              <a:tr h="384048">
                <a:tc>
                  <a:txBody>
                    <a:bodyPr/>
                    <a:lstStyle/>
                    <a:p>
                      <a:pPr algn="ctr" indent="0" marL="0">
                        <a:buNone/>
                      </a:pPr>
                      <a:r>
                        <a:rPr lang="en-US" sz="1150" b="1" dirty="0">
                          <a:solidFill>
                            <a:srgbClr val="FFFFFF"/>
                          </a:solidFill>
                        </a:rPr>
                        <a:t>Configuración</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F1</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Precisión</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Recall</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Alucinación</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Δ vs. baseline</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384048">
                <a:tc>
                  <a:txBody>
                    <a:bodyPr/>
                    <a:lstStyle/>
                    <a:p>
                      <a:pPr algn="l" indent="0" marL="0">
                        <a:buNone/>
                      </a:pPr>
                      <a:r>
                        <a:rPr lang="en-US" sz="1100" dirty="0">
                          <a:solidFill>
                            <a:schemeClr val="tx1"/>
                          </a:solidFill>
                        </a:rPr>
                        <a:t>Zero-shot inglés (baseline)</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66,77 %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64,70 %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70,16 %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0,25 %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84048">
                <a:tc>
                  <a:txBody>
                    <a:bodyPr/>
                    <a:lstStyle/>
                    <a:p>
                      <a:pPr algn="l" indent="0" marL="0">
                        <a:buNone/>
                      </a:pPr>
                      <a:r>
                        <a:rPr lang="en-US" sz="1100" dirty="0">
                          <a:solidFill>
                            <a:schemeClr val="tx1"/>
                          </a:solidFill>
                        </a:rPr>
                        <a:t>Zero-shot español</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75,78 %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74,60 %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78,68 %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0,18 %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+9,01 pp</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chemeClr val="tx1"/>
                          </a:solidFill>
                        </a:rPr>
                        <a:t>Few-shot inglés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70,38 %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69,92 %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72,47 %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0,07 %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+3,61 pp</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84048">
                <a:tc>
                  <a:txBody>
                    <a:bodyPr/>
                    <a:lstStyle/>
                    <a:p>
                      <a:pPr algn="l" indent="0" marL="0">
                        <a:buNone/>
                      </a:pPr>
                      <a:r>
                        <a:rPr lang="en-US" sz="1100" b="1" dirty="0">
                          <a:solidFill>
                            <a:schemeClr val="tx1"/>
                          </a:solidFill>
                        </a:rPr>
                        <a:t>Few-shot español</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rgbClr val="0C6E6D"/>
                          </a:solidFill>
                        </a:rPr>
                        <a:t>79,96 %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chemeClr val="tx1"/>
                          </a:solidFill>
                        </a:rPr>
                        <a:t>81,17 %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chemeClr val="tx1"/>
                          </a:solidFill>
                        </a:rPr>
                        <a:t>79,94 %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dirty="0">
                          <a:solidFill>
                            <a:schemeClr val="tx1"/>
                          </a:solidFill>
                        </a:rPr>
                        <a:t>0,14 %</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rgbClr val="0C6E6D"/>
                          </a:solidFill>
                        </a:rPr>
                        <a:t>+13,19 pp</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r>
            </a:tbl>
          </a:graphicData>
        </a:graphic>
      </p:graphicFrame>
      <p:sp>
        <p:nvSpPr>
          <p:cNvPr id="6" name="Text 3"/>
          <p:cNvSpPr txBox="1"/>
          <p:nvPr/>
        </p:nvSpPr>
        <p:spPr>
          <a:xfrm>
            <a:off x="548640" y="3566160"/>
            <a:ext cx="11064240" cy="777240"/>
          </a:xfrm>
          <a:prstGeom prst="rect">
            <a:avLst/>
          </a:prstGeom>
          <a:noFill/>
          <a:ln/>
        </p:spPr>
        <p:txBody>
          <a:bodyPr wrap="square" lIns="0" tIns="0" rIns="0" bIns="0" rtlCol="0" anchor="ctr"/>
          <a:lstStyle/>
          <a:p>
            <a:pPr indent="0" marL="0">
              <a:buNone/>
            </a:pPr>
            <a:r>
              <a:rPr lang="en-US" sz="1300" b="1" dirty="0">
                <a:solidFill>
                  <a:srgbClr val="0C6E6D"/>
                </a:solidFill>
              </a:rPr>
              <a:t>Lectura:  </a:t>
            </a:r>
            <a:pPr indent="0" marL="0">
              <a:buNone/>
            </a:pPr>
            <a:r>
              <a:rPr lang="en-US" sz="1300" dirty="0">
                <a:solidFill>
                  <a:schemeClr val="tx1"/>
                </a:solidFill>
              </a:rPr>
              <a:t>ninguno de los dos factores basta por separado, pero su combinación supera la suma de ambos. Media de cinco semillas declaradas (42 a 46) sobre el corpus de quince artículos; la jerarquía se repite en las cinco sin excepción, y el prompt en español produjo el 100 % de salidas parseables frente al 93,3 % del inglés.</a:t>
            </a:r>
            <a:endParaRPr lang="en-US" sz="1300" dirty="0"/>
          </a:p>
        </p:txBody>
      </p:sp>
      <p:sp>
        <p:nvSpPr>
          <p:cNvPr id="7" name="matiz"/>
          <p:cNvSpPr/>
          <p:nvPr/>
        </p:nvSpPr>
        <p:spPr>
          <a:xfrm>
            <a:off x="548640" y="4434840"/>
            <a:ext cx="11064240" cy="1234440"/>
          </a:xfrm>
          <a:prstGeom prst="roundRect">
            <a:avLst>
              <a:gd name="adj" fmla="val 4444"/>
            </a:avLst>
          </a:prstGeom>
          <a:solidFill>
            <a:srgbClr val="FDF3E3"/>
          </a:solidFill>
          <a:ln w="12700">
            <a:solidFill>
              <a:srgbClr val="E09F3E"/>
            </a:solidFill>
            <a:prstDash val="solid"/>
          </a:ln>
        </p:spPr>
      </p:sp>
      <p:sp>
        <p:nvSpPr>
          <p:cNvPr id="8" name="Text 5"/>
          <p:cNvSpPr txBox="1"/>
          <p:nvPr/>
        </p:nvSpPr>
        <p:spPr>
          <a:xfrm>
            <a:off x="822960" y="4572000"/>
            <a:ext cx="10515600" cy="237744"/>
          </a:xfrm>
          <a:prstGeom prst="rect">
            <a:avLst/>
          </a:prstGeom>
          <a:noFill/>
          <a:ln/>
        </p:spPr>
        <p:txBody>
          <a:bodyPr wrap="square" lIns="0" tIns="0" rIns="0" bIns="0" rtlCol="0" anchor="ctr"/>
          <a:lstStyle/>
          <a:p>
            <a:pPr indent="0" marL="0">
              <a:buNone/>
            </a:pPr>
            <a:r>
              <a:rPr lang="en-US" sz="1000" b="1" spc="120" kern="0" dirty="0">
                <a:solidFill>
                  <a:srgbClr val="8A5F13"/>
                </a:solidFill>
              </a:rPr>
              <a:t>UNA ADVERTENCIA QUE EL PROPIO TRABAJO SE HACE</a:t>
            </a:r>
            <a:endParaRPr lang="en-US" sz="1000" dirty="0"/>
          </a:p>
        </p:txBody>
      </p:sp>
      <p:sp>
        <p:nvSpPr>
          <p:cNvPr id="9" name="Text 6"/>
          <p:cNvSpPr txBox="1"/>
          <p:nvPr/>
        </p:nvSpPr>
        <p:spPr>
          <a:xfrm>
            <a:off x="822960" y="4846320"/>
            <a:ext cx="10515600" cy="731520"/>
          </a:xfrm>
          <a:prstGeom prst="rect">
            <a:avLst/>
          </a:prstGeom>
          <a:noFill/>
          <a:ln/>
        </p:spPr>
        <p:txBody>
          <a:bodyPr wrap="square" lIns="0" tIns="0" rIns="0" bIns="0" rtlCol="0" anchor="ctr"/>
          <a:lstStyle/>
          <a:p>
            <a:pPr indent="0" marL="0">
              <a:buNone/>
            </a:pPr>
            <a:r>
              <a:rPr lang="en-US" sz="1250" dirty="0">
                <a:solidFill>
                  <a:schemeClr val="tx1"/>
                </a:solidFill>
              </a:rPr>
              <a:t>Sobre el corpus real de 120 artículos, mayoritariamente en español, el resultado se invierte: los ejemplos en inglés (76,35 %) superan a los españoles (75,57 %) en las cinco semillas. Ni «gana el español» ni «conviene coincidir con el idioma del texto» explican los tres corpus a la vez. El efecto está medido; su mecanismo queda como trabajo futuro.</a:t>
            </a:r>
            <a:endParaRPr lang="en-US" sz="1250" dirty="0"/>
          </a:p>
        </p:txBody>
      </p:sp>
      <p:sp>
        <p:nvSpPr>
          <p:cNvPr id="11"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hip-CAP. 2"/>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2</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RAG contextual, no RAG de diccionario</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Primera versión, por diccionario: indexó 17 453 documentos —3 605 personas y 1 848 organizaciones de la lista SDN del Tesoro de Estados Unidos, más 12 000 nombres sintéticos— y antepuso al prompt los más próximos al artículo.</a:t>
            </a:r>
            <a:endParaRPr lang="en-US" sz="1400" dirty="0"/>
          </a:p>
          <a:p>
            <a:pPr algn="l" marL="342900" indent="-342900">
              <a:spcAft>
                <a:spcPts val="900"/>
              </a:spcAft>
              <a:buSzPct val="100000"/>
              <a:buChar char="•"/>
            </a:pPr>
            <a:r>
              <a:rPr lang="en-US" sz="1400" dirty="0">
                <a:solidFill>
                  <a:schemeClr val="tx1"/>
                </a:solidFill>
              </a:rPr>
              <a:t>Resultado contrario al esperado: de los once modelos con par completo de resultados, diez empeoraron, y entre ellos los de mejor desempeño base.</a:t>
            </a:r>
            <a:endParaRPr lang="en-US" sz="1400" dirty="0"/>
          </a:p>
          <a:p>
            <a:pPr algn="l" marL="342900" indent="-342900">
              <a:spcAft>
                <a:spcPts val="900"/>
              </a:spcAft>
              <a:buSzPct val="100000"/>
              <a:buChar char="•"/>
            </a:pPr>
            <a:r>
              <a:rPr lang="en-US" sz="1400" dirty="0">
                <a:solidFill>
                  <a:schemeClr val="tx1"/>
                </a:solidFill>
              </a:rPr>
              <a:t>El diagnóstico es un desajuste semántico estructural: la consulta es un artículo de varios centenares de palabras y lo indexado son cadenas de dos o tres términos. Para una noticia española se recuperaban razones sociales colombianas.</a:t>
            </a:r>
            <a:endParaRPr lang="en-US" sz="1400" dirty="0"/>
          </a:p>
          <a:p>
            <a:pPr algn="l" marL="342900" indent="-342900">
              <a:spcAft>
                <a:spcPts val="900"/>
              </a:spcAft>
              <a:buSzPct val="100000"/>
              <a:buChar char="•"/>
            </a:pPr>
            <a:r>
              <a:rPr lang="en-US" sz="1400" dirty="0">
                <a:solidFill>
                  <a:schemeClr val="tx1"/>
                </a:solidFill>
              </a:rPr>
              <a:t>Segunda versión, contextual: en lugar de entidades almacena criterios, es decir guías tipológicas por dominio y ejemplares anotados. La pregunta deja de ser «qué entidades hay» y pasa a ser «de qué dominio es este texto y qué reglas aplican».</a:t>
            </a:r>
            <a:endParaRPr lang="en-US" sz="1400" dirty="0"/>
          </a:p>
        </p:txBody>
      </p:sp>
      <p:sp>
        <p:nvSpPr>
          <p:cNvPr id="6" name="titulo-a3"/>
          <p:cNvSpPr/>
          <p:nvPr/>
        </p:nvSpPr>
        <p:spPr>
          <a:xfrm>
            <a:off x="6309360" y="1280160"/>
            <a:ext cx="5212080" cy="457200"/>
          </a:xfrm>
          <a:prstGeom prst="roundRect">
            <a:avLst>
              <a:gd name="adj" fmla="val 12000"/>
            </a:avLst>
          </a:prstGeom>
          <a:solidFill>
            <a:srgbClr val="1E2761"/>
          </a:solidFill>
          <a:ln w="12700">
            <a:solidFill>
              <a:srgbClr val="333333"/>
            </a:solidFill>
            <a:prstDash val="solid"/>
          </a:ln>
        </p:spPr>
      </p:sp>
      <p:sp>
        <p:nvSpPr>
          <p:cNvPr id="7" name="Text 5"/>
          <p:cNvSpPr txBox="1"/>
          <p:nvPr/>
        </p:nvSpPr>
        <p:spPr>
          <a:xfrm>
            <a:off x="6309360" y="1280160"/>
            <a:ext cx="5212080" cy="457200"/>
          </a:xfrm>
          <a:prstGeom prst="rect">
            <a:avLst/>
          </a:prstGeom>
          <a:noFill/>
          <a:ln/>
        </p:spPr>
        <p:txBody>
          <a:bodyPr wrap="square" lIns="0" tIns="0" rIns="0" bIns="0" rtlCol="0" anchor="ctr"/>
          <a:lstStyle/>
          <a:p>
            <a:pPr algn="ctr" indent="0" marL="0">
              <a:buNone/>
            </a:pPr>
            <a:r>
              <a:rPr lang="en-US" sz="1100" b="1" spc="120" kern="0" dirty="0">
                <a:solidFill>
                  <a:srgbClr val="FFFFFF"/>
                </a:solidFill>
              </a:rPr>
              <a:t>QUÉ SE RECUPERA: CRITERIOS, NO NOMBRES</a:t>
            </a:r>
            <a:endParaRPr lang="en-US" sz="1100" dirty="0"/>
          </a:p>
        </p:txBody>
      </p:sp>
      <p:sp>
        <p:nvSpPr>
          <p:cNvPr id="8" name="marco-A3"/>
          <p:cNvSpPr/>
          <p:nvPr/>
        </p:nvSpPr>
        <p:spPr>
          <a:xfrm>
            <a:off x="6309360" y="1737360"/>
            <a:ext cx="5212080" cy="3017520"/>
          </a:xfrm>
          <a:prstGeom prst="rect">
            <a:avLst/>
          </a:prstGeom>
          <a:solidFill>
            <a:srgbClr val="EEF3F9"/>
          </a:solidFill>
          <a:ln w="12700">
            <a:solidFill>
              <a:srgbClr val="EEF3F9"/>
            </a:solidFill>
            <a:prstDash val="solid"/>
          </a:ln>
        </p:spPr>
      </p:sp>
      <p:pic>
        <p:nvPicPr>
          <p:cNvPr id="9" name="infografia-A3" descr="/tmp/claude-0/-home-claude/0347970e-765d-5e91-8654-ca2385a0d1de/scratchpad/cajas/A3c.png">    </p:cNvPr>
          <p:cNvPicPr>
            <a:picLocks noChangeAspect="1"/>
          </p:cNvPicPr>
          <p:nvPr/>
        </p:nvPicPr>
        <p:blipFill>
          <a:blip r:embed="rId1"/>
          <a:stretch>
            <a:fillRect/>
          </a:stretch>
        </p:blipFill>
        <p:spPr>
          <a:xfrm>
            <a:off x="6355080" y="1878237"/>
            <a:ext cx="5120640" cy="2735766"/>
          </a:xfrm>
          <a:prstGeom prst="rect">
            <a:avLst/>
          </a:prstGeom>
        </p:spPr>
      </p:pic>
      <p:sp>
        <p:nvSpPr>
          <p:cNvPr id="10" name="pie-a3"/>
          <p:cNvSpPr/>
          <p:nvPr/>
        </p:nvSpPr>
        <p:spPr>
          <a:xfrm>
            <a:off x="6355080" y="4645152"/>
            <a:ext cx="5120640" cy="1115568"/>
          </a:xfrm>
          <a:prstGeom prst="roundRect">
            <a:avLst>
              <a:gd name="adj" fmla="val 4918"/>
            </a:avLst>
          </a:prstGeom>
          <a:solidFill>
            <a:srgbClr val="EEF3F9"/>
          </a:solidFill>
          <a:ln w="12700">
            <a:solidFill>
              <a:srgbClr val="EEF3F9"/>
            </a:solidFill>
            <a:prstDash val="solid"/>
          </a:ln>
        </p:spPr>
      </p:sp>
      <p:sp>
        <p:nvSpPr>
          <p:cNvPr id="11" name="Text 8"/>
          <p:cNvSpPr txBox="1"/>
          <p:nvPr/>
        </p:nvSpPr>
        <p:spPr>
          <a:xfrm>
            <a:off x="6565392" y="4791456"/>
            <a:ext cx="4700016" cy="868680"/>
          </a:xfrm>
          <a:prstGeom prst="rect">
            <a:avLst/>
          </a:prstGeom>
          <a:noFill/>
          <a:ln/>
        </p:spPr>
        <p:txBody>
          <a:bodyPr wrap="square" lIns="0" tIns="0" rIns="0" bIns="0" rtlCol="0" anchor="ctr"/>
          <a:lstStyle/>
          <a:p>
            <a:pPr indent="0" marL="0">
              <a:buNone/>
            </a:pPr>
            <a:r>
              <a:rPr lang="en-US" sz="1150" dirty="0">
                <a:solidFill>
                  <a:schemeClr val="tx1"/>
                </a:solidFill>
              </a:rPr>
              <a:t>Inyectar reglas del dominio orienta al modelo sin coartarlo. Inyectar nombres lo induce a proponerlos: sugiere qué esperar y lo penaliza cuando lo sugerido no viene al caso.</a:t>
            </a:r>
            <a:endParaRPr lang="en-US" sz="1150" dirty="0"/>
          </a:p>
        </p:txBody>
      </p:sp>
      <p:sp>
        <p:nvSpPr>
          <p:cNvPr id="12" name="dato-10 de 11"/>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13" name="Text 10"/>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10 de 11</a:t>
            </a:r>
            <a:endParaRPr lang="en-US" sz="2400" dirty="0"/>
          </a:p>
        </p:txBody>
      </p:sp>
      <p:sp>
        <p:nvSpPr>
          <p:cNvPr id="14" name="Text 11"/>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empeoran con RAG de diccionario</a:t>
            </a:r>
            <a:endParaRPr lang="en-US" sz="1050" dirty="0"/>
          </a:p>
        </p:txBody>
      </p:sp>
      <p:sp>
        <p:nvSpPr>
          <p:cNvPr id="15" name="dato-11 de 13"/>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6" name="Text 13"/>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11 de 13</a:t>
            </a:r>
            <a:endParaRPr lang="en-US" sz="2400" dirty="0"/>
          </a:p>
        </p:txBody>
      </p:sp>
      <p:sp>
        <p:nvSpPr>
          <p:cNvPr id="17" name="Text 14"/>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mejoran con RAG contextual</a:t>
            </a:r>
            <a:endParaRPr lang="en-US" sz="1050" dirty="0"/>
          </a:p>
        </p:txBody>
      </p:sp>
      <p:sp>
        <p:nvSpPr>
          <p:cNvPr id="19"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hip-CAP. 3"/>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3</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Ejecución 100 % local sobre hardware de consumo</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Inferencia con Ollama, que encapsula el motor llama.cpp, sobre Apple Silicon con memoria unificada y aceleración Metal.</a:t>
            </a:r>
            <a:endParaRPr lang="en-US" sz="1400" dirty="0"/>
          </a:p>
          <a:p>
            <a:pPr algn="l" marL="342900" indent="-342900">
              <a:spcAft>
                <a:spcPts val="900"/>
              </a:spcAft>
              <a:buSzPct val="100000"/>
              <a:buChar char="•"/>
            </a:pPr>
            <a:r>
              <a:rPr lang="en-US" sz="1400" dirty="0">
                <a:solidFill>
                  <a:schemeClr val="tx1"/>
                </a:solidFill>
              </a:rPr>
              <a:t>Cuantización a 4 bits en formato GGUF Q4_K_M y compilaciones nativas MLX, para caber en la memoria disponible sin pérdida crítica de precisión.</a:t>
            </a:r>
            <a:endParaRPr lang="en-US" sz="1400" dirty="0"/>
          </a:p>
          <a:p>
            <a:pPr algn="l" marL="342900" indent="-342900">
              <a:spcAft>
                <a:spcPts val="900"/>
              </a:spcAft>
              <a:buSzPct val="100000"/>
              <a:buChar char="•"/>
            </a:pPr>
            <a:r>
              <a:rPr lang="en-US" sz="1400" dirty="0">
                <a:solidFill>
                  <a:schemeClr val="tx1"/>
                </a:solidFill>
              </a:rPr>
              <a:t>Dos escalones de hardware: 16 GB de memoria unificada para los modelos de hasta unos 12B, y 48 GB para los de 31B y las variantes MLX mayores.</a:t>
            </a:r>
            <a:endParaRPr lang="en-US" sz="1400" dirty="0"/>
          </a:p>
          <a:p>
            <a:pPr algn="l" marL="342900" indent="-342900">
              <a:spcAft>
                <a:spcPts val="900"/>
              </a:spcAft>
              <a:buSzPct val="100000"/>
              <a:buChar char="•"/>
            </a:pPr>
            <a:r>
              <a:rPr lang="en-US" sz="1400" dirty="0">
                <a:solidFill>
                  <a:schemeClr val="tx1"/>
                </a:solidFill>
              </a:rPr>
              <a:t>La memoria de vídeo fue el factor limitante del estudio: determina qué modelos caben en cada máquina y, por tanto, qué puede evaluarse.</a:t>
            </a:r>
            <a:endParaRPr lang="en-US" sz="1400" dirty="0"/>
          </a:p>
        </p:txBody>
      </p:sp>
      <p:sp>
        <p:nvSpPr>
          <p:cNvPr id="6" name="marco-A4"/>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pic>
        <p:nvPicPr>
          <p:cNvPr id="7" name="infografia-A4" descr="/tmp/claude-0/-home-claude/0347970e-765d-5e91-8654-ca2385a0d1de/scratchpad/cajas/A4.png">    </p:cNvPr>
          <p:cNvPicPr>
            <a:picLocks noChangeAspect="1"/>
          </p:cNvPicPr>
          <p:nvPr/>
        </p:nvPicPr>
        <p:blipFill>
          <a:blip r:embed="rId1"/>
          <a:stretch>
            <a:fillRect/>
          </a:stretch>
        </p:blipFill>
        <p:spPr>
          <a:xfrm>
            <a:off x="6405400" y="1353312"/>
            <a:ext cx="5019999" cy="3749040"/>
          </a:xfrm>
          <a:prstGeom prst="rect">
            <a:avLst/>
          </a:prstGeom>
        </p:spPr>
      </p:pic>
      <p:sp>
        <p:nvSpPr>
          <p:cNvPr id="8" name="dato-Q4_K_M"/>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9" name="Text 6"/>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Q4_K_M</a:t>
            </a:r>
            <a:endParaRPr lang="en-US" sz="2400" dirty="0"/>
          </a:p>
        </p:txBody>
      </p:sp>
      <p:sp>
        <p:nvSpPr>
          <p:cNvPr id="10" name="Text 7"/>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cuantización a 4 bits</a:t>
            </a:r>
            <a:endParaRPr lang="en-US" sz="1050" dirty="0"/>
          </a:p>
        </p:txBody>
      </p:sp>
      <p:sp>
        <p:nvSpPr>
          <p:cNvPr id="11" name="dato-16 / 48 GB"/>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2" name="Text 9"/>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16 / 48 GB</a:t>
            </a:r>
            <a:endParaRPr lang="en-US" sz="2400" dirty="0"/>
          </a:p>
        </p:txBody>
      </p:sp>
      <p:sp>
        <p:nvSpPr>
          <p:cNvPr id="13" name="Text 10"/>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los dos escalones evaluados</a:t>
            </a:r>
            <a:endParaRPr lang="en-US" sz="1050" dirty="0"/>
          </a:p>
        </p:txBody>
      </p:sp>
      <p:sp>
        <p:nvSpPr>
          <p:cNvPr id="15"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hip-CAP. 3"/>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3</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Cinco capas y un controlador que se adapta</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Ingesta y cargador de conjunto de datos: parsea y valida el corpus contra su esquema antes de cualquier inferencia.</a:t>
            </a:r>
            <a:endParaRPr lang="en-US" sz="1400" dirty="0"/>
          </a:p>
          <a:p>
            <a:pPr algn="l" marL="342900" indent="-342900">
              <a:spcAft>
                <a:spcPts val="900"/>
              </a:spcAft>
              <a:buSzPct val="100000"/>
              <a:buChar char="•"/>
            </a:pPr>
            <a:r>
              <a:rPr lang="en-US" sz="1400" dirty="0">
                <a:solidFill>
                  <a:schemeClr val="tx1"/>
                </a:solidFill>
              </a:rPr>
              <a:t>Pub/Sub multihilo: desacopla la lectura de noticias del consumo por los modelos mediante colas seguras entre hilos.</a:t>
            </a:r>
            <a:endParaRPr lang="en-US" sz="1400" dirty="0"/>
          </a:p>
          <a:p>
            <a:pPr algn="l" marL="342900" indent="-342900">
              <a:spcAft>
                <a:spcPts val="900"/>
              </a:spcAft>
              <a:buSzPct val="100000"/>
              <a:buChar char="•"/>
            </a:pPr>
            <a:r>
              <a:rPr lang="en-US" sz="1400" dirty="0">
                <a:solidFill>
                  <a:schemeClr val="tx1"/>
                </a:solidFill>
              </a:rPr>
              <a:t>Controlador AIMD: incremento aditivo y disminución multiplicativa de los hilos activos, con cortacircuitos ante rachas de error. La idea viene del control de congestión en redes.</a:t>
            </a:r>
            <a:endParaRPr lang="en-US" sz="1400" dirty="0"/>
          </a:p>
          <a:p>
            <a:pPr algn="l" marL="342900" indent="-342900">
              <a:spcAft>
                <a:spcPts val="900"/>
              </a:spcAft>
              <a:buSzPct val="100000"/>
              <a:buChar char="•"/>
            </a:pPr>
            <a:r>
              <a:rPr lang="en-US" sz="1400" dirty="0">
                <a:solidFill>
                  <a:schemeClr val="tx1"/>
                </a:solidFill>
              </a:rPr>
              <a:t>Factory y Facade: aíslan el sistema del proveedor de inferencia, con Ollama local y conectores de prueba hacia servicios alojados.</a:t>
            </a:r>
            <a:endParaRPr lang="en-US" sz="1400" dirty="0"/>
          </a:p>
          <a:p>
            <a:pPr algn="l" marL="342900" indent="-342900">
              <a:spcAft>
                <a:spcPts val="900"/>
              </a:spcAft>
              <a:buSzPct val="100000"/>
              <a:buChar char="•"/>
            </a:pPr>
            <a:r>
              <a:rPr lang="en-US" sz="1400" dirty="0">
                <a:solidFill>
                  <a:schemeClr val="tx1"/>
                </a:solidFill>
              </a:rPr>
              <a:t>Módulo de evaluación: precisión, exhaustividad, F1, alucinaciones, ANOVA y Tukey HSD sobre los resultados almacenados.</a:t>
            </a:r>
            <a:endParaRPr lang="en-US" sz="1400" dirty="0"/>
          </a:p>
        </p:txBody>
      </p:sp>
      <p:sp>
        <p:nvSpPr>
          <p:cNvPr id="6" name="marco-capas"/>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LAS CINCO CAPAS DEL SISTEMA</a:t>
            </a:r>
            <a:endParaRPr lang="en-US" sz="1150" dirty="0"/>
          </a:p>
        </p:txBody>
      </p:sp>
      <p:sp>
        <p:nvSpPr>
          <p:cNvPr id="8" name="fila-0"/>
          <p:cNvSpPr/>
          <p:nvPr/>
        </p:nvSpPr>
        <p:spPr>
          <a:xfrm>
            <a:off x="6446520" y="1847088"/>
            <a:ext cx="1417320" cy="365760"/>
          </a:xfrm>
          <a:prstGeom prst="roundRect">
            <a:avLst>
              <a:gd name="adj" fmla="val 12500"/>
            </a:avLst>
          </a:prstGeom>
          <a:solidFill>
            <a:srgbClr val="0C6E6D"/>
          </a:solidFill>
          <a:ln w="12700">
            <a:solidFill>
              <a:srgbClr val="0C6E6D"/>
            </a:solidFill>
            <a:prstDash val="solid"/>
          </a:ln>
        </p:spPr>
      </p:sp>
      <p:sp>
        <p:nvSpPr>
          <p:cNvPr id="9" name="Text 7"/>
          <p:cNvSpPr txBox="1"/>
          <p:nvPr/>
        </p:nvSpPr>
        <p:spPr>
          <a:xfrm>
            <a:off x="6446520" y="1847088"/>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Ingesta</a:t>
            </a:r>
            <a:endParaRPr lang="en-US" sz="1000" dirty="0"/>
          </a:p>
        </p:txBody>
      </p:sp>
      <p:sp>
        <p:nvSpPr>
          <p:cNvPr id="10" name="Text 8"/>
          <p:cNvSpPr txBox="1"/>
          <p:nvPr/>
        </p:nvSpPr>
        <p:spPr>
          <a:xfrm>
            <a:off x="8001000" y="1856232"/>
            <a:ext cx="3383280" cy="365760"/>
          </a:xfrm>
          <a:prstGeom prst="rect">
            <a:avLst/>
          </a:prstGeom>
          <a:noFill/>
          <a:ln/>
        </p:spPr>
        <p:txBody>
          <a:bodyPr wrap="square" lIns="0" tIns="0" rIns="0" bIns="0" rtlCol="0" anchor="ctr"/>
          <a:lstStyle/>
          <a:p>
            <a:pPr indent="0" marL="0">
              <a:buNone/>
            </a:pPr>
            <a:r>
              <a:rPr lang="en-US" sz="1050" dirty="0">
                <a:solidFill>
                  <a:schemeClr val="tx1"/>
                </a:solidFill>
              </a:rPr>
              <a:t>Carga y valida el corpus contra su esquema</a:t>
            </a:r>
            <a:endParaRPr lang="en-US" sz="1050" dirty="0"/>
          </a:p>
        </p:txBody>
      </p:sp>
      <p:sp>
        <p:nvSpPr>
          <p:cNvPr id="11" name="fila-1"/>
          <p:cNvSpPr/>
          <p:nvPr/>
        </p:nvSpPr>
        <p:spPr>
          <a:xfrm>
            <a:off x="6446520" y="2414016"/>
            <a:ext cx="1417320" cy="365760"/>
          </a:xfrm>
          <a:prstGeom prst="roundRect">
            <a:avLst>
              <a:gd name="adj" fmla="val 12500"/>
            </a:avLst>
          </a:prstGeom>
          <a:solidFill>
            <a:srgbClr val="0C6E6D"/>
          </a:solidFill>
          <a:ln w="12700">
            <a:solidFill>
              <a:srgbClr val="0C6E6D"/>
            </a:solidFill>
            <a:prstDash val="solid"/>
          </a:ln>
        </p:spPr>
      </p:sp>
      <p:sp>
        <p:nvSpPr>
          <p:cNvPr id="12" name="Text 10"/>
          <p:cNvSpPr txBox="1"/>
          <p:nvPr/>
        </p:nvSpPr>
        <p:spPr>
          <a:xfrm>
            <a:off x="6446520" y="2414016"/>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Pub/Sub</a:t>
            </a:r>
            <a:endParaRPr lang="en-US" sz="1000" dirty="0"/>
          </a:p>
        </p:txBody>
      </p:sp>
      <p:sp>
        <p:nvSpPr>
          <p:cNvPr id="13" name="Text 11"/>
          <p:cNvSpPr txBox="1"/>
          <p:nvPr/>
        </p:nvSpPr>
        <p:spPr>
          <a:xfrm>
            <a:off x="8001000" y="2423160"/>
            <a:ext cx="3383280" cy="365760"/>
          </a:xfrm>
          <a:prstGeom prst="rect">
            <a:avLst/>
          </a:prstGeom>
          <a:noFill/>
          <a:ln/>
        </p:spPr>
        <p:txBody>
          <a:bodyPr wrap="square" lIns="0" tIns="0" rIns="0" bIns="0" rtlCol="0" anchor="ctr"/>
          <a:lstStyle/>
          <a:p>
            <a:pPr indent="0" marL="0">
              <a:buNone/>
            </a:pPr>
            <a:r>
              <a:rPr lang="en-US" sz="1050" dirty="0">
                <a:solidFill>
                  <a:schemeClr val="tx1"/>
                </a:solidFill>
              </a:rPr>
              <a:t>Desacopla la lectura del consumo por los modelos</a:t>
            </a:r>
            <a:endParaRPr lang="en-US" sz="1050" dirty="0"/>
          </a:p>
        </p:txBody>
      </p:sp>
      <p:sp>
        <p:nvSpPr>
          <p:cNvPr id="14" name="fila-2"/>
          <p:cNvSpPr/>
          <p:nvPr/>
        </p:nvSpPr>
        <p:spPr>
          <a:xfrm>
            <a:off x="6446520" y="2980944"/>
            <a:ext cx="1417320" cy="365760"/>
          </a:xfrm>
          <a:prstGeom prst="roundRect">
            <a:avLst>
              <a:gd name="adj" fmla="val 12500"/>
            </a:avLst>
          </a:prstGeom>
          <a:solidFill>
            <a:srgbClr val="2A9D8F"/>
          </a:solidFill>
          <a:ln w="12700">
            <a:solidFill>
              <a:srgbClr val="2A9D8F"/>
            </a:solidFill>
            <a:prstDash val="solid"/>
          </a:ln>
        </p:spPr>
      </p:sp>
      <p:sp>
        <p:nvSpPr>
          <p:cNvPr id="15" name="Text 13"/>
          <p:cNvSpPr txBox="1"/>
          <p:nvPr/>
        </p:nvSpPr>
        <p:spPr>
          <a:xfrm>
            <a:off x="6446520" y="2980944"/>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AIMD</a:t>
            </a:r>
            <a:endParaRPr lang="en-US" sz="1000" dirty="0"/>
          </a:p>
        </p:txBody>
      </p:sp>
      <p:sp>
        <p:nvSpPr>
          <p:cNvPr id="16" name="Text 14"/>
          <p:cNvSpPr txBox="1"/>
          <p:nvPr/>
        </p:nvSpPr>
        <p:spPr>
          <a:xfrm>
            <a:off x="8001000" y="2990088"/>
            <a:ext cx="3383280" cy="365760"/>
          </a:xfrm>
          <a:prstGeom prst="rect">
            <a:avLst/>
          </a:prstGeom>
          <a:noFill/>
          <a:ln/>
        </p:spPr>
        <p:txBody>
          <a:bodyPr wrap="square" lIns="0" tIns="0" rIns="0" bIns="0" rtlCol="0" anchor="ctr"/>
          <a:lstStyle/>
          <a:p>
            <a:pPr indent="0" marL="0">
              <a:buNone/>
            </a:pPr>
            <a:r>
              <a:rPr lang="en-US" sz="1050" dirty="0">
                <a:solidFill>
                  <a:schemeClr val="tx1"/>
                </a:solidFill>
              </a:rPr>
              <a:t>Ajusta los hilos activos ante errores y límites de tasa</a:t>
            </a:r>
            <a:endParaRPr lang="en-US" sz="1050" dirty="0"/>
          </a:p>
        </p:txBody>
      </p:sp>
      <p:sp>
        <p:nvSpPr>
          <p:cNvPr id="17" name="fila-3"/>
          <p:cNvSpPr/>
          <p:nvPr/>
        </p:nvSpPr>
        <p:spPr>
          <a:xfrm>
            <a:off x="6446520" y="3547872"/>
            <a:ext cx="1417320" cy="365760"/>
          </a:xfrm>
          <a:prstGeom prst="roundRect">
            <a:avLst>
              <a:gd name="adj" fmla="val 12500"/>
            </a:avLst>
          </a:prstGeom>
          <a:solidFill>
            <a:srgbClr val="0C6E6D"/>
          </a:solidFill>
          <a:ln w="12700">
            <a:solidFill>
              <a:srgbClr val="0C6E6D"/>
            </a:solidFill>
            <a:prstDash val="solid"/>
          </a:ln>
        </p:spPr>
      </p:sp>
      <p:sp>
        <p:nvSpPr>
          <p:cNvPr id="18" name="Text 16"/>
          <p:cNvSpPr txBox="1"/>
          <p:nvPr/>
        </p:nvSpPr>
        <p:spPr>
          <a:xfrm>
            <a:off x="6446520" y="3547872"/>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Proveedor</a:t>
            </a:r>
            <a:endParaRPr lang="en-US" sz="1000" dirty="0"/>
          </a:p>
        </p:txBody>
      </p:sp>
      <p:sp>
        <p:nvSpPr>
          <p:cNvPr id="19" name="Text 17"/>
          <p:cNvSpPr txBox="1"/>
          <p:nvPr/>
        </p:nvSpPr>
        <p:spPr>
          <a:xfrm>
            <a:off x="8001000" y="3557016"/>
            <a:ext cx="3383280" cy="365760"/>
          </a:xfrm>
          <a:prstGeom prst="rect">
            <a:avLst/>
          </a:prstGeom>
          <a:noFill/>
          <a:ln/>
        </p:spPr>
        <p:txBody>
          <a:bodyPr wrap="square" lIns="0" tIns="0" rIns="0" bIns="0" rtlCol="0" anchor="ctr"/>
          <a:lstStyle/>
          <a:p>
            <a:pPr indent="0" marL="0">
              <a:buNone/>
            </a:pPr>
            <a:r>
              <a:rPr lang="en-US" sz="1050" dirty="0">
                <a:solidFill>
                  <a:schemeClr val="tx1"/>
                </a:solidFill>
              </a:rPr>
              <a:t>Factory/Facade: Ollama local tras una interfaz común</a:t>
            </a:r>
            <a:endParaRPr lang="en-US" sz="1050" dirty="0"/>
          </a:p>
        </p:txBody>
      </p:sp>
      <p:sp>
        <p:nvSpPr>
          <p:cNvPr id="20" name="fila-4"/>
          <p:cNvSpPr/>
          <p:nvPr/>
        </p:nvSpPr>
        <p:spPr>
          <a:xfrm>
            <a:off x="6446520" y="4114800"/>
            <a:ext cx="1417320" cy="365760"/>
          </a:xfrm>
          <a:prstGeom prst="roundRect">
            <a:avLst>
              <a:gd name="adj" fmla="val 12500"/>
            </a:avLst>
          </a:prstGeom>
          <a:solidFill>
            <a:srgbClr val="0C6E6D"/>
          </a:solidFill>
          <a:ln w="12700">
            <a:solidFill>
              <a:srgbClr val="0C6E6D"/>
            </a:solidFill>
            <a:prstDash val="solid"/>
          </a:ln>
        </p:spPr>
      </p:sp>
      <p:sp>
        <p:nvSpPr>
          <p:cNvPr id="21" name="Text 19"/>
          <p:cNvSpPr txBox="1"/>
          <p:nvPr/>
        </p:nvSpPr>
        <p:spPr>
          <a:xfrm>
            <a:off x="6446520" y="4114800"/>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Evaluación</a:t>
            </a:r>
            <a:endParaRPr lang="en-US" sz="1000" dirty="0"/>
          </a:p>
        </p:txBody>
      </p:sp>
      <p:sp>
        <p:nvSpPr>
          <p:cNvPr id="22" name="Text 20"/>
          <p:cNvSpPr txBox="1"/>
          <p:nvPr/>
        </p:nvSpPr>
        <p:spPr>
          <a:xfrm>
            <a:off x="8001000" y="4123944"/>
            <a:ext cx="3383280" cy="365760"/>
          </a:xfrm>
          <a:prstGeom prst="rect">
            <a:avLst/>
          </a:prstGeom>
          <a:noFill/>
          <a:ln/>
        </p:spPr>
        <p:txBody>
          <a:bodyPr wrap="square" lIns="0" tIns="0" rIns="0" bIns="0" rtlCol="0" anchor="ctr"/>
          <a:lstStyle/>
          <a:p>
            <a:pPr indent="0" marL="0">
              <a:buNone/>
            </a:pPr>
            <a:r>
              <a:rPr lang="en-US" sz="1050" dirty="0">
                <a:solidFill>
                  <a:schemeClr val="tx1"/>
                </a:solidFill>
              </a:rPr>
              <a:t>F1, alucinaciones, ANOVA, Tukey y Friedman</a:t>
            </a:r>
            <a:endParaRPr lang="en-US" sz="1050" dirty="0"/>
          </a:p>
        </p:txBody>
      </p:sp>
      <p:sp>
        <p:nvSpPr>
          <p:cNvPr id="23" name="Text 21"/>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El controlador reacciona a los errores del proveedor y a las rachas de fallo; no recibe telemetría de memoria, y así se declara en el informe.</a:t>
            </a:r>
            <a:endParaRPr lang="en-US" sz="1050" dirty="0"/>
          </a:p>
        </p:txBody>
      </p:sp>
      <p:sp>
        <p:nvSpPr>
          <p:cNvPr id="24" name="dato-AIMD"/>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25" name="Text 23"/>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AIMD</a:t>
            </a:r>
            <a:endParaRPr lang="en-US" sz="2400" dirty="0"/>
          </a:p>
        </p:txBody>
      </p:sp>
      <p:sp>
        <p:nvSpPr>
          <p:cNvPr id="26" name="Text 24"/>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control adaptativo de la concurrencia</a:t>
            </a:r>
            <a:endParaRPr lang="en-US" sz="1050" dirty="0"/>
          </a:p>
        </p:txBody>
      </p:sp>
      <p:sp>
        <p:nvSpPr>
          <p:cNvPr id="27" name="dato-5 capas"/>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28" name="Text 26"/>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5 capas</a:t>
            </a:r>
            <a:endParaRPr lang="en-US" sz="2400" dirty="0"/>
          </a:p>
        </p:txBody>
      </p:sp>
      <p:sp>
        <p:nvSpPr>
          <p:cNvPr id="29" name="Text 27"/>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con el proveedor tras una interfaz</a:t>
            </a:r>
            <a:endParaRPr lang="en-US" sz="1050" dirty="0"/>
          </a:p>
        </p:txBody>
      </p:sp>
      <p:sp>
        <p:nvSpPr>
          <p:cNvPr id="31"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hip-CAP. 3"/>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3</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Decisiones de ingeniería y pila tecnológica</a:t>
            </a:r>
            <a:endParaRPr lang="en-US" sz="2600" dirty="0"/>
          </a:p>
        </p:txBody>
      </p:sp>
      <p:graphicFrame>
        <p:nvGraphicFramePr>
          <p:cNvPr id="18" name="pila"/>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4480560"/>
                <a:gridCol w="4206240"/>
              </a:tblGrid>
              <a:tr h="429768">
                <a:tc>
                  <a:txBody>
                    <a:bodyPr/>
                    <a:lstStyle/>
                    <a:p>
                      <a:pPr algn="ctr" indent="0" marL="0">
                        <a:buNone/>
                      </a:pPr>
                      <a:r>
                        <a:rPr lang="en-US" sz="1150" b="1" dirty="0">
                          <a:solidFill>
                            <a:srgbClr val="FFFFFF"/>
                          </a:solidFill>
                        </a:rPr>
                        <a:t>Decisión</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Implementación</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Qué resuelve</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429768">
                <a:tc>
                  <a:txBody>
                    <a:bodyPr/>
                    <a:lstStyle/>
                    <a:p>
                      <a:pPr algn="l" indent="0" marL="0">
                        <a:buNone/>
                      </a:pPr>
                      <a:r>
                        <a:rPr lang="en-US" sz="1050" b="1" dirty="0">
                          <a:solidFill>
                            <a:schemeClr val="tx1"/>
                          </a:solidFill>
                        </a:rPr>
                        <a:t>Inferencia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Ollama 0.6 sobre llama.cpp; compilaciones MLX nativas para Apple Silicon</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Permite cambiar de modelo sin tocar el código de la aplicación</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29768">
                <a:tc>
                  <a:txBody>
                    <a:bodyPr/>
                    <a:lstStyle/>
                    <a:p>
                      <a:pPr algn="l" indent="0" marL="0">
                        <a:buNone/>
                      </a:pPr>
                      <a:r>
                        <a:rPr lang="en-US" sz="1050" b="1" dirty="0">
                          <a:solidFill>
                            <a:schemeClr val="tx1"/>
                          </a:solidFill>
                        </a:rPr>
                        <a:t>Formato de modelo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GGUF con cuantización Q4_K_M; variantes MLX en precisión mixta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Reduce el tamaño en memoria lo suficiente para caber en memoria unificada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429768">
                <a:tc>
                  <a:txBody>
                    <a:bodyPr/>
                    <a:lstStyle/>
                    <a:p>
                      <a:pPr algn="l" indent="0" marL="0">
                        <a:buNone/>
                      </a:pPr>
                      <a:r>
                        <a:rPr lang="en-US" sz="1050" b="1" dirty="0">
                          <a:solidFill>
                            <a:schemeClr val="tx1"/>
                          </a:solidFill>
                        </a:rPr>
                        <a:t>Concurrencia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Colas entre hilos, patrón productor/consumidor y controlador AIMD</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Evita saturar la GPU y congelar el equipo durante barridos largos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29768">
                <a:tc>
                  <a:txBody>
                    <a:bodyPr/>
                    <a:lstStyle/>
                    <a:p>
                      <a:pPr algn="l" indent="0" marL="0">
                        <a:buNone/>
                      </a:pPr>
                      <a:r>
                        <a:rPr lang="en-US" sz="1050" b="1" dirty="0">
                          <a:solidFill>
                            <a:schemeClr val="tx1"/>
                          </a:solidFill>
                        </a:rPr>
                        <a:t>Aislamiento del proveedor</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Patrones Factory y Facade sobre una interfaz común</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Hace intercambiables local y nube, que es lo que permitió compararlos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429768">
                <a:tc>
                  <a:txBody>
                    <a:bodyPr/>
                    <a:lstStyle/>
                    <a:p>
                      <a:pPr algn="l" indent="0" marL="0">
                        <a:buNone/>
                      </a:pPr>
                      <a:r>
                        <a:rPr lang="en-US" sz="1050" b="1" dirty="0">
                          <a:solidFill>
                            <a:schemeClr val="tx1"/>
                          </a:solidFill>
                        </a:rPr>
                        <a:t>Salida estructurada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Esquema JSON validado por registro, con reintento ante fallo de parseo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Convierte una salida no estructurada por construcción en dato verificable</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29768">
                <a:tc>
                  <a:txBody>
                    <a:bodyPr/>
                    <a:lstStyle/>
                    <a:p>
                      <a:pPr algn="l" indent="0" marL="0">
                        <a:buNone/>
                      </a:pPr>
                      <a:r>
                        <a:rPr lang="en-US" sz="1050" b="1" dirty="0">
                          <a:solidFill>
                            <a:schemeClr val="tx1"/>
                          </a:solidFill>
                        </a:rPr>
                        <a:t>Evaluación</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Cotejo difuso por distancia de Indel normalizada, umbral de 85 sobre 100</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Tolera variaciones menores de forma sin admitir coincidencias espurias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429768">
                <a:tc>
                  <a:txBody>
                    <a:bodyPr/>
                    <a:lstStyle/>
                    <a:p>
                      <a:pPr algn="l" indent="0" marL="0">
                        <a:buNone/>
                      </a:pPr>
                      <a:r>
                        <a:rPr lang="en-US" sz="1050" b="1" dirty="0">
                          <a:solidFill>
                            <a:schemeClr val="tx1"/>
                          </a:solidFill>
                        </a:rPr>
                        <a:t>Estadística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scikit-learn, statsmodels y pandas; ANOVA, Tukey HSD, Friedman y Levene</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Separa el efecto real de la variabilidad entre artículos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29768">
                <a:tc>
                  <a:txBody>
                    <a:bodyPr/>
                    <a:lstStyle/>
                    <a:p>
                      <a:pPr algn="l" indent="0" marL="0">
                        <a:buNone/>
                      </a:pPr>
                      <a:r>
                        <a:rPr lang="en-US" sz="1050" b="1" dirty="0">
                          <a:solidFill>
                            <a:schemeClr val="tx1"/>
                          </a:solidFill>
                        </a:rPr>
                        <a:t>Operación</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Punto de control automático por corrida y configuración reproducible</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Una corrida de decenas de horas se reanuda sin perder trabajo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050" i="1" dirty="0">
                <a:solidFill>
                  <a:srgbClr val="51708D"/>
                </a:solidFill>
              </a:rPr>
              <a:t>El entorno completo se documenta en el anexo C del informe: Python 3.14, Ollama 0.6, scikit-learn, statsmodels, pandas y Streamlit sobre Apple Silicon con aceleración Metal.</a:t>
            </a:r>
            <a:endParaRPr lang="en-US" sz="1050" dirty="0"/>
          </a:p>
        </p:txBody>
      </p:sp>
      <p:sp>
        <p:nvSpPr>
          <p:cNvPr id="8"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hip-CAP. 4"/>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4</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Tres corpus complementarios, no intercambiables</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Corpus 1 (N=15): artículos periodísticos reales sobre corrupción financiera, lavado y sanciones, en inglés, anotados a mano. Largos: unos 4 833 caracteres de media. Exploratorio.</a:t>
            </a:r>
            <a:endParaRPr lang="en-US" sz="1400" dirty="0"/>
          </a:p>
          <a:p>
            <a:pPr algn="l" marL="342900" indent="-342900">
              <a:spcAft>
                <a:spcPts val="900"/>
              </a:spcAft>
              <a:buSzPct val="100000"/>
              <a:buChar char="•"/>
            </a:pPr>
            <a:r>
              <a:rPr lang="en-US" sz="1400" dirty="0">
                <a:solidFill>
                  <a:schemeClr val="tx1"/>
                </a:solidFill>
              </a:rPr>
              <a:t>Corpus 2 (N=30): artículos breves sintéticos construidos desde pares de entidades fijados de antemano, para alcanzar el umbral que habilita las pruebas paramétricas.</a:t>
            </a:r>
            <a:endParaRPr lang="en-US" sz="1400" dirty="0"/>
          </a:p>
          <a:p>
            <a:pPr algn="l" marL="342900" indent="-342900">
              <a:spcAft>
                <a:spcPts val="900"/>
              </a:spcAft>
              <a:buSzPct val="100000"/>
              <a:buChar char="•"/>
            </a:pPr>
            <a:r>
              <a:rPr lang="en-US" sz="1400" dirty="0">
                <a:solidFill>
                  <a:schemeClr val="tx1"/>
                </a:solidFill>
              </a:rPr>
              <a:t>Corpus 3 (N=120): la validación principal, con 105 artículos reales en español de CoNLL-2002 y los 15 en inglés. Ningún texto generado por un modelo.</a:t>
            </a:r>
            <a:endParaRPr lang="en-US" sz="1400" dirty="0"/>
          </a:p>
          <a:p>
            <a:pPr algn="l" marL="342900" indent="-342900">
              <a:spcAft>
                <a:spcPts val="900"/>
              </a:spcAft>
              <a:buSzPct val="100000"/>
              <a:buChar char="•"/>
            </a:pPr>
            <a:r>
              <a:rPr lang="en-US" sz="1400" dirty="0">
                <a:solidFill>
                  <a:schemeClr val="tx1"/>
                </a:solidFill>
              </a:rPr>
              <a:t>Los tres se conservan: el sintético como validación de mínima potencia sobre el dominio propio, el real como validación de mayor potencia y menor especificidad.</a:t>
            </a:r>
            <a:endParaRPr lang="en-US" sz="1400" dirty="0"/>
          </a:p>
        </p:txBody>
      </p:sp>
      <p:sp>
        <p:nvSpPr>
          <p:cNvPr id="6" name="marco-corpus"/>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TRES CORPUS Y CÓMO SE CONTRASTAN</a:t>
            </a:r>
            <a:endParaRPr lang="en-US" sz="1150" dirty="0"/>
          </a:p>
        </p:txBody>
      </p:sp>
      <p:sp>
        <p:nvSpPr>
          <p:cNvPr id="8" name="corpus-0"/>
          <p:cNvSpPr/>
          <p:nvPr/>
        </p:nvSpPr>
        <p:spPr>
          <a:xfrm>
            <a:off x="6446520" y="1847088"/>
            <a:ext cx="4937760" cy="658368"/>
          </a:xfrm>
          <a:prstGeom prst="roundRect">
            <a:avLst>
              <a:gd name="adj" fmla="val 6944"/>
            </a:avLst>
          </a:prstGeom>
          <a:solidFill>
            <a:srgbClr val="FFFFFF"/>
          </a:solidFill>
          <a:ln w="12700">
            <a:solidFill>
              <a:srgbClr val="FFFFFF"/>
            </a:solidFill>
            <a:prstDash val="solid"/>
          </a:ln>
        </p:spPr>
      </p:sp>
      <p:sp>
        <p:nvSpPr>
          <p:cNvPr id="9" name="Text 7"/>
          <p:cNvSpPr txBox="1"/>
          <p:nvPr/>
        </p:nvSpPr>
        <p:spPr>
          <a:xfrm>
            <a:off x="6583680" y="1920240"/>
            <a:ext cx="1005840" cy="512064"/>
          </a:xfrm>
          <a:prstGeom prst="rect">
            <a:avLst/>
          </a:prstGeom>
          <a:noFill/>
          <a:ln/>
        </p:spPr>
        <p:txBody>
          <a:bodyPr wrap="square" lIns="0" tIns="0" rIns="0" bIns="0" rtlCol="0" anchor="ctr"/>
          <a:lstStyle/>
          <a:p>
            <a:pPr indent="0" marL="0">
              <a:buNone/>
            </a:pPr>
            <a:r>
              <a:rPr lang="en-US" sz="1700" b="1" dirty="0">
                <a:solidFill>
                  <a:srgbClr val="51708D"/>
                </a:solidFill>
              </a:rPr>
              <a:t>N=15</a:t>
            </a:r>
            <a:endParaRPr lang="en-US" sz="1700" dirty="0"/>
          </a:p>
        </p:txBody>
      </p:sp>
      <p:sp>
        <p:nvSpPr>
          <p:cNvPr id="10" name="Text 8"/>
          <p:cNvSpPr txBox="1"/>
          <p:nvPr/>
        </p:nvSpPr>
        <p:spPr>
          <a:xfrm>
            <a:off x="7635240" y="1920240"/>
            <a:ext cx="3749040" cy="256032"/>
          </a:xfrm>
          <a:prstGeom prst="rect">
            <a:avLst/>
          </a:prstGeom>
          <a:noFill/>
          <a:ln/>
        </p:spPr>
        <p:txBody>
          <a:bodyPr wrap="square" lIns="0" tIns="0" rIns="0" bIns="0" rtlCol="0" anchor="ctr"/>
          <a:lstStyle/>
          <a:p>
            <a:pPr indent="0" marL="0">
              <a:buNone/>
            </a:pPr>
            <a:r>
              <a:rPr lang="en-US" sz="1100" b="1" dirty="0">
                <a:solidFill>
                  <a:schemeClr val="tx1"/>
                </a:solidFill>
              </a:rPr>
              <a:t>Kleptotrace, inglés</a:t>
            </a:r>
            <a:endParaRPr lang="en-US" sz="1100" dirty="0"/>
          </a:p>
        </p:txBody>
      </p:sp>
      <p:sp>
        <p:nvSpPr>
          <p:cNvPr id="11" name="Text 9"/>
          <p:cNvSpPr txBox="1"/>
          <p:nvPr/>
        </p:nvSpPr>
        <p:spPr>
          <a:xfrm>
            <a:off x="7635240" y="2176272"/>
            <a:ext cx="3749040" cy="256032"/>
          </a:xfrm>
          <a:prstGeom prst="rect">
            <a:avLst/>
          </a:prstGeom>
          <a:noFill/>
          <a:ln/>
        </p:spPr>
        <p:txBody>
          <a:bodyPr wrap="square" lIns="0" tIns="0" rIns="0" bIns="0" rtlCol="0" anchor="ctr"/>
          <a:lstStyle/>
          <a:p>
            <a:pPr indent="0" marL="0">
              <a:buNone/>
            </a:pPr>
            <a:r>
              <a:rPr lang="en-US" sz="1000" dirty="0">
                <a:solidFill>
                  <a:srgbClr val="51708D"/>
                </a:solidFill>
              </a:rPr>
              <a:t>Exploratorio y variantes de prompt</a:t>
            </a:r>
            <a:endParaRPr lang="en-US" sz="1000" dirty="0"/>
          </a:p>
        </p:txBody>
      </p:sp>
      <p:sp>
        <p:nvSpPr>
          <p:cNvPr id="12" name="corpus-1"/>
          <p:cNvSpPr/>
          <p:nvPr/>
        </p:nvSpPr>
        <p:spPr>
          <a:xfrm>
            <a:off x="6446520" y="2633472"/>
            <a:ext cx="4937760" cy="658368"/>
          </a:xfrm>
          <a:prstGeom prst="roundRect">
            <a:avLst>
              <a:gd name="adj" fmla="val 6944"/>
            </a:avLst>
          </a:prstGeom>
          <a:solidFill>
            <a:srgbClr val="FFFFFF"/>
          </a:solidFill>
          <a:ln w="12700">
            <a:solidFill>
              <a:srgbClr val="FFFFFF"/>
            </a:solidFill>
            <a:prstDash val="solid"/>
          </a:ln>
        </p:spPr>
      </p:sp>
      <p:sp>
        <p:nvSpPr>
          <p:cNvPr id="13" name="Text 11"/>
          <p:cNvSpPr txBox="1"/>
          <p:nvPr/>
        </p:nvSpPr>
        <p:spPr>
          <a:xfrm>
            <a:off x="6583680" y="2706624"/>
            <a:ext cx="1005840" cy="512064"/>
          </a:xfrm>
          <a:prstGeom prst="rect">
            <a:avLst/>
          </a:prstGeom>
          <a:noFill/>
          <a:ln/>
        </p:spPr>
        <p:txBody>
          <a:bodyPr wrap="square" lIns="0" tIns="0" rIns="0" bIns="0" rtlCol="0" anchor="ctr"/>
          <a:lstStyle/>
          <a:p>
            <a:pPr indent="0" marL="0">
              <a:buNone/>
            </a:pPr>
            <a:r>
              <a:rPr lang="en-US" sz="1700" b="1" dirty="0">
                <a:solidFill>
                  <a:srgbClr val="51708D"/>
                </a:solidFill>
              </a:rPr>
              <a:t>N=30</a:t>
            </a:r>
            <a:endParaRPr lang="en-US" sz="1700" dirty="0"/>
          </a:p>
        </p:txBody>
      </p:sp>
      <p:sp>
        <p:nvSpPr>
          <p:cNvPr id="14" name="Text 12"/>
          <p:cNvSpPr txBox="1"/>
          <p:nvPr/>
        </p:nvSpPr>
        <p:spPr>
          <a:xfrm>
            <a:off x="7635240" y="2706624"/>
            <a:ext cx="3749040" cy="256032"/>
          </a:xfrm>
          <a:prstGeom prst="rect">
            <a:avLst/>
          </a:prstGeom>
          <a:noFill/>
          <a:ln/>
        </p:spPr>
        <p:txBody>
          <a:bodyPr wrap="square" lIns="0" tIns="0" rIns="0" bIns="0" rtlCol="0" anchor="ctr"/>
          <a:lstStyle/>
          <a:p>
            <a:pPr indent="0" marL="0">
              <a:buNone/>
            </a:pPr>
            <a:r>
              <a:rPr lang="en-US" sz="1100" b="1" dirty="0">
                <a:solidFill>
                  <a:schemeClr val="tx1"/>
                </a:solidFill>
              </a:rPr>
              <a:t>Dominio AML/KYC, inglés</a:t>
            </a:r>
            <a:endParaRPr lang="en-US" sz="1100" dirty="0"/>
          </a:p>
        </p:txBody>
      </p:sp>
      <p:sp>
        <p:nvSpPr>
          <p:cNvPr id="15" name="Text 13"/>
          <p:cNvSpPr txBox="1"/>
          <p:nvPr/>
        </p:nvSpPr>
        <p:spPr>
          <a:xfrm>
            <a:off x="7635240" y="2962656"/>
            <a:ext cx="3749040" cy="256032"/>
          </a:xfrm>
          <a:prstGeom prst="rect">
            <a:avLst/>
          </a:prstGeom>
          <a:noFill/>
          <a:ln/>
        </p:spPr>
        <p:txBody>
          <a:bodyPr wrap="square" lIns="0" tIns="0" rIns="0" bIns="0" rtlCol="0" anchor="ctr"/>
          <a:lstStyle/>
          <a:p>
            <a:pPr indent="0" marL="0">
              <a:buNone/>
            </a:pPr>
            <a:r>
              <a:rPr lang="en-US" sz="1000" dirty="0">
                <a:solidFill>
                  <a:srgbClr val="51708D"/>
                </a:solidFill>
              </a:rPr>
              <a:t>Solo los dos modelos de mayor capacidad</a:t>
            </a:r>
            <a:endParaRPr lang="en-US" sz="1000" dirty="0"/>
          </a:p>
        </p:txBody>
      </p:sp>
      <p:sp>
        <p:nvSpPr>
          <p:cNvPr id="16" name="corpus-2"/>
          <p:cNvSpPr/>
          <p:nvPr/>
        </p:nvSpPr>
        <p:spPr>
          <a:xfrm>
            <a:off x="6446520" y="3419856"/>
            <a:ext cx="4937760" cy="658368"/>
          </a:xfrm>
          <a:prstGeom prst="roundRect">
            <a:avLst>
              <a:gd name="adj" fmla="val 6944"/>
            </a:avLst>
          </a:prstGeom>
          <a:solidFill>
            <a:srgbClr val="FFFFFF"/>
          </a:solidFill>
          <a:ln w="12700">
            <a:solidFill>
              <a:srgbClr val="FFFFFF"/>
            </a:solidFill>
            <a:prstDash val="solid"/>
          </a:ln>
        </p:spPr>
      </p:sp>
      <p:sp>
        <p:nvSpPr>
          <p:cNvPr id="17" name="Text 15"/>
          <p:cNvSpPr txBox="1"/>
          <p:nvPr/>
        </p:nvSpPr>
        <p:spPr>
          <a:xfrm>
            <a:off x="6583680" y="3493008"/>
            <a:ext cx="1005840" cy="512064"/>
          </a:xfrm>
          <a:prstGeom prst="rect">
            <a:avLst/>
          </a:prstGeom>
          <a:noFill/>
          <a:ln/>
        </p:spPr>
        <p:txBody>
          <a:bodyPr wrap="square" lIns="0" tIns="0" rIns="0" bIns="0" rtlCol="0" anchor="ctr"/>
          <a:lstStyle/>
          <a:p>
            <a:pPr indent="0" marL="0">
              <a:buNone/>
            </a:pPr>
            <a:r>
              <a:rPr lang="en-US" sz="1700" b="1" dirty="0">
                <a:solidFill>
                  <a:srgbClr val="0C6E6D"/>
                </a:solidFill>
              </a:rPr>
              <a:t>N=120</a:t>
            </a:r>
            <a:endParaRPr lang="en-US" sz="1700" dirty="0"/>
          </a:p>
        </p:txBody>
      </p:sp>
      <p:sp>
        <p:nvSpPr>
          <p:cNvPr id="18" name="Text 16"/>
          <p:cNvSpPr txBox="1"/>
          <p:nvPr/>
        </p:nvSpPr>
        <p:spPr>
          <a:xfrm>
            <a:off x="7635240" y="3493008"/>
            <a:ext cx="3749040" cy="256032"/>
          </a:xfrm>
          <a:prstGeom prst="rect">
            <a:avLst/>
          </a:prstGeom>
          <a:noFill/>
          <a:ln/>
        </p:spPr>
        <p:txBody>
          <a:bodyPr wrap="square" lIns="0" tIns="0" rIns="0" bIns="0" rtlCol="0" anchor="ctr"/>
          <a:lstStyle/>
          <a:p>
            <a:pPr indent="0" marL="0">
              <a:buNone/>
            </a:pPr>
            <a:r>
              <a:rPr lang="en-US" sz="1100" b="1" dirty="0">
                <a:solidFill>
                  <a:schemeClr val="tx1"/>
                </a:solidFill>
              </a:rPr>
              <a:t>Periodístico, 105 en español</a:t>
            </a:r>
            <a:endParaRPr lang="en-US" sz="1100" dirty="0"/>
          </a:p>
        </p:txBody>
      </p:sp>
      <p:sp>
        <p:nvSpPr>
          <p:cNvPr id="19" name="Text 17"/>
          <p:cNvSpPr txBox="1"/>
          <p:nvPr/>
        </p:nvSpPr>
        <p:spPr>
          <a:xfrm>
            <a:off x="7635240" y="3749040"/>
            <a:ext cx="3749040" cy="256032"/>
          </a:xfrm>
          <a:prstGeom prst="rect">
            <a:avLst/>
          </a:prstGeom>
          <a:noFill/>
          <a:ln/>
        </p:spPr>
        <p:txBody>
          <a:bodyPr wrap="square" lIns="0" tIns="0" rIns="0" bIns="0" rtlCol="0" anchor="ctr"/>
          <a:lstStyle/>
          <a:p>
            <a:pPr indent="0" marL="0">
              <a:buNone/>
            </a:pPr>
            <a:r>
              <a:rPr lang="en-US" sz="1000" dirty="0">
                <a:solidFill>
                  <a:srgbClr val="51708D"/>
                </a:solidFill>
              </a:rPr>
              <a:t>Estudio principal, 113 por grupo</a:t>
            </a:r>
            <a:endParaRPr lang="en-US" sz="1000" dirty="0"/>
          </a:p>
        </p:txBody>
      </p:sp>
      <p:sp>
        <p:nvSpPr>
          <p:cNvPr id="20" name="Text 18"/>
          <p:cNvSpPr txBox="1"/>
          <p:nvPr/>
        </p:nvSpPr>
        <p:spPr>
          <a:xfrm>
            <a:off x="6446520" y="4251960"/>
            <a:ext cx="4937760" cy="274320"/>
          </a:xfrm>
          <a:prstGeom prst="rect">
            <a:avLst/>
          </a:prstGeom>
          <a:noFill/>
          <a:ln/>
        </p:spPr>
        <p:txBody>
          <a:bodyPr wrap="square" lIns="0" tIns="0" rIns="0" bIns="0" rtlCol="0" anchor="ctr"/>
          <a:lstStyle/>
          <a:p>
            <a:pPr indent="0" marL="0">
              <a:buNone/>
            </a:pPr>
            <a:r>
              <a:rPr lang="en-US" sz="1050" b="1" dirty="0">
                <a:solidFill>
                  <a:srgbClr val="1E2761"/>
                </a:solidFill>
              </a:rPr>
              <a:t>ANOVA de una vía · Tukey HSD · Friedman como contraste no paramétrico</a:t>
            </a:r>
            <a:endParaRPr lang="en-US" sz="1050" dirty="0"/>
          </a:p>
        </p:txBody>
      </p:sp>
      <p:sp>
        <p:nvSpPr>
          <p:cNvPr id="21" name="Text 19"/>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Los veintiséis grupos del estudio principal evalúan los mismos 113 artículos, de modo que las observaciones no son independientes; por eso se repite con Friedman.</a:t>
            </a:r>
            <a:endParaRPr lang="en-US" sz="1050" dirty="0"/>
          </a:p>
        </p:txBody>
      </p:sp>
      <p:sp>
        <p:nvSpPr>
          <p:cNvPr id="22" name="dato-120"/>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23" name="Text 21"/>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120</a:t>
            </a:r>
            <a:endParaRPr lang="en-US" sz="2400" dirty="0"/>
          </a:p>
        </p:txBody>
      </p:sp>
      <p:sp>
        <p:nvSpPr>
          <p:cNvPr id="24" name="Text 22"/>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artículos en la validación principal</a:t>
            </a:r>
            <a:endParaRPr lang="en-US" sz="1050" dirty="0"/>
          </a:p>
        </p:txBody>
      </p:sp>
      <p:sp>
        <p:nvSpPr>
          <p:cNvPr id="25" name="dato-0"/>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26" name="Text 24"/>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0</a:t>
            </a:r>
            <a:endParaRPr lang="en-US" sz="2400" dirty="0"/>
          </a:p>
        </p:txBody>
      </p:sp>
      <p:sp>
        <p:nvSpPr>
          <p:cNvPr id="27" name="Text 25"/>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textos sintéticos en ese corpus</a:t>
            </a:r>
            <a:endParaRPr lang="en-US" sz="1050" dirty="0"/>
          </a:p>
        </p:txBody>
      </p:sp>
      <p:sp>
        <p:nvSpPr>
          <p:cNvPr id="29"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hip-CAP. 4"/>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4</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Los trece modelos del estudio principal</a:t>
            </a:r>
            <a:endParaRPr lang="en-US" sz="2600" dirty="0"/>
          </a:p>
        </p:txBody>
      </p:sp>
      <p:graphicFrame>
        <p:nvGraphicFramePr>
          <p:cNvPr id="20" name="modelo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286000"/>
                <a:gridCol w="5303520"/>
                <a:gridCol w="3474720"/>
              </a:tblGrid>
              <a:tr h="457200">
                <a:tc>
                  <a:txBody>
                    <a:bodyPr/>
                    <a:lstStyle/>
                    <a:p>
                      <a:pPr algn="ctr" indent="0" marL="0">
                        <a:buNone/>
                      </a:pPr>
                      <a:r>
                        <a:rPr lang="en-US" sz="1150" b="1" dirty="0">
                          <a:solidFill>
                            <a:srgbClr val="FFFFFF"/>
                          </a:solidFill>
                        </a:rPr>
                        <a:t>Familia</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Configuraciones evaluadas</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Observación</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457200">
                <a:tc>
                  <a:txBody>
                    <a:bodyPr/>
                    <a:lstStyle/>
                    <a:p>
                      <a:pPr algn="l" indent="0" marL="0">
                        <a:buNone/>
                      </a:pPr>
                      <a:r>
                        <a:rPr lang="en-US" sz="1100" b="1" dirty="0">
                          <a:solidFill>
                            <a:schemeClr val="tx1"/>
                          </a:solidFill>
                        </a:rPr>
                        <a:t>Gemma</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gemma4:31b-mlx · gemma4:12b-mlx · gemma4:latest (9B) · gemma:latest (7B)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Las variantes gemma4 copan las primeras posiciones; gemma (7B) queda en la franja baja</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57200">
                <a:tc>
                  <a:txBody>
                    <a:bodyPr/>
                    <a:lstStyle/>
                    <a:p>
                      <a:pPr algn="l" indent="0" marL="0">
                        <a:buNone/>
                      </a:pPr>
                      <a:r>
                        <a:rPr lang="en-US" sz="1100" b="1" dirty="0">
                          <a:solidFill>
                            <a:schemeClr val="tx1"/>
                          </a:solidFill>
                        </a:rPr>
                        <a:t>Gemma alojado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gemma4:31b-cloud (31B, BF16 sin cuantizar)</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Única referencia en la nube, de acceso gratuito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chemeClr val="tx1"/>
                          </a:solidFill>
                        </a:rPr>
                        <a:t>Llama</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llama3.1:8b · llama3.2:latest (3B)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El de 3B es el candidato a cribado masivo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57200">
                <a:tc>
                  <a:txBody>
                    <a:bodyPr/>
                    <a:lstStyle/>
                    <a:p>
                      <a:pPr algn="l" indent="0" marL="0">
                        <a:buNone/>
                      </a:pPr>
                      <a:r>
                        <a:rPr lang="en-US" sz="1100" b="1" dirty="0">
                          <a:solidFill>
                            <a:schemeClr val="tx1"/>
                          </a:solidFill>
                        </a:rPr>
                        <a:t>Qwen</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qwen2.5:14b · qwen3:8b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Franja intermedia, movimiento escaso con RAG</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chemeClr val="tx1"/>
                          </a:solidFill>
                        </a:rPr>
                        <a:t>Mistral</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mistral-nemo:latest (12B)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Único que empeora de forma apreciable con RAG</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457200">
                <a:tc>
                  <a:txBody>
                    <a:bodyPr/>
                    <a:lstStyle/>
                    <a:p>
                      <a:pPr algn="l" indent="0" marL="0">
                        <a:buNone/>
                      </a:pPr>
                      <a:r>
                        <a:rPr lang="en-US" sz="1100" b="1" dirty="0">
                          <a:solidFill>
                            <a:schemeClr val="tx1"/>
                          </a:solidFill>
                        </a:rPr>
                        <a:t>GPT-OSS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gpt-oss:20b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Incorporado solo en el estudio principal</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chemeClr val="tx1"/>
                          </a:solidFill>
                        </a:rPr>
                        <a:t>Nemotron / DeepSeek</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nemotron-mini:4b · deepseek-r1:1.5b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Los dos más débiles; se descartan para producción</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bl>
          </a:graphicData>
        </a:graphic>
      </p:graphicFrame>
      <p:sp>
        <p:nvSpPr>
          <p:cNvPr id="6" name="Text 3"/>
          <p:cNvSpPr txBox="1"/>
          <p:nvPr/>
        </p:nvSpPr>
        <p:spPr>
          <a:xfrm>
            <a:off x="548640" y="4846320"/>
            <a:ext cx="11064240" cy="777240"/>
          </a:xfrm>
          <a:prstGeom prst="rect">
            <a:avLst/>
          </a:prstGeom>
          <a:noFill/>
          <a:ln/>
        </p:spPr>
        <p:txBody>
          <a:bodyPr wrap="square" lIns="0" tIns="0" rIns="0" bIns="0" rtlCol="0" anchor="ctr"/>
          <a:lstStyle/>
          <a:p>
            <a:pPr indent="0" marL="0">
              <a:buNone/>
            </a:pPr>
            <a:r>
              <a:rPr lang="en-US" sz="1250" dirty="0">
                <a:solidFill>
                  <a:schemeClr val="tx1"/>
                </a:solidFill>
              </a:rPr>
              <a:t>Doce modelos en trece configuraciones sobre el corpus exploratorio, y trece modelos en veintiséis grupos sobre el corpus principal, cada modelo medido con recuperación contextual y sin ella. Entre un conjunto y otro se incorporan gemma4:12b-mlx y gpt-oss:20b, y se retira la compilación GGUF simple de gemma4:31b.</a:t>
            </a:r>
            <a:endParaRPr lang="en-US" sz="1250" dirty="0"/>
          </a:p>
        </p:txBody>
      </p:sp>
      <p:sp>
        <p:nvSpPr>
          <p:cNvPr id="8"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hip-CAP. 4"/>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4</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Qué se mide, y con qué prueba se decide</a:t>
            </a:r>
            <a:endParaRPr lang="en-US" sz="2600" dirty="0"/>
          </a:p>
        </p:txBody>
      </p:sp>
      <p:graphicFrame>
        <p:nvGraphicFramePr>
          <p:cNvPr id="21" name="metrica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4480560"/>
                <a:gridCol w="4206240"/>
              </a:tblGrid>
              <a:tr h="393192">
                <a:tc>
                  <a:txBody>
                    <a:bodyPr/>
                    <a:lstStyle/>
                    <a:p>
                      <a:pPr algn="ctr" indent="0" marL="0">
                        <a:buNone/>
                      </a:pPr>
                      <a:r>
                        <a:rPr lang="en-US" sz="1150" b="1" dirty="0">
                          <a:solidFill>
                            <a:srgbClr val="FFFFFF"/>
                          </a:solidFill>
                        </a:rPr>
                        <a:t>Métrica</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A qué pregunta responde</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Cómo se calcula</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393192">
                <a:tc>
                  <a:txBody>
                    <a:bodyPr/>
                    <a:lstStyle/>
                    <a:p>
                      <a:pPr algn="l" indent="0" marL="0">
                        <a:buNone/>
                      </a:pPr>
                      <a:r>
                        <a:rPr lang="en-US" sz="1100" b="1" dirty="0">
                          <a:solidFill>
                            <a:schemeClr val="tx1"/>
                          </a:solidFill>
                        </a:rPr>
                        <a:t>Precisión</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De lo que el modelo afirmó, cuánto era cierto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Verdaderos positivos sobre el total de propuestas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93192">
                <a:tc>
                  <a:txBody>
                    <a:bodyPr/>
                    <a:lstStyle/>
                    <a:p>
                      <a:pPr algn="l" indent="0" marL="0">
                        <a:buNone/>
                      </a:pPr>
                      <a:r>
                        <a:rPr lang="en-US" sz="1100" b="1" dirty="0">
                          <a:solidFill>
                            <a:schemeClr val="tx1"/>
                          </a:solidFill>
                        </a:rPr>
                        <a:t>Exhaustividad</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De lo que había que encontrar, cuánto encontró</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Verdaderos positivos sobre el total de la referencia</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93192">
                <a:tc>
                  <a:txBody>
                    <a:bodyPr/>
                    <a:lstStyle/>
                    <a:p>
                      <a:pPr algn="l" indent="0" marL="0">
                        <a:buNone/>
                      </a:pPr>
                      <a:r>
                        <a:rPr lang="en-US" sz="1100" b="1" dirty="0">
                          <a:solidFill>
                            <a:schemeClr val="tx1"/>
                          </a:solidFill>
                        </a:rPr>
                        <a:t>F1</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Resume ambas, castigando el desequilibrio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Media armónica: se desploma si una componente es baja</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93192">
                <a:tc>
                  <a:txBody>
                    <a:bodyPr/>
                    <a:lstStyle/>
                    <a:p>
                      <a:pPr algn="l" indent="0" marL="0">
                        <a:buNone/>
                      </a:pPr>
                      <a:r>
                        <a:rPr lang="en-US" sz="1100" b="1" dirty="0">
                          <a:solidFill>
                            <a:schemeClr val="tx1"/>
                          </a:solidFill>
                        </a:rPr>
                        <a:t>Tasa de alucinación</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Qué proporción de lo extraído no está en el artículo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No compara con la referencia, sino con el texto de origen</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93192">
                <a:tc>
                  <a:txBody>
                    <a:bodyPr/>
                    <a:lstStyle/>
                    <a:p>
                      <a:pPr algn="l" indent="0" marL="0">
                        <a:buNone/>
                      </a:pPr>
                      <a:r>
                        <a:rPr lang="en-US" sz="1100" b="1" dirty="0">
                          <a:solidFill>
                            <a:schemeClr val="tx1"/>
                          </a:solidFill>
                        </a:rPr>
                        <a:t>Índice Tok/s/B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Cuánto rendimiento da cada unidad de capacidad</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Tokens por segundo divididos por miles de millones de parámetros</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93192">
                <a:tc>
                  <a:txBody>
                    <a:bodyPr/>
                    <a:lstStyle/>
                    <a:p>
                      <a:pPr algn="l" indent="0" marL="0">
                        <a:buNone/>
                      </a:pPr>
                      <a:r>
                        <a:rPr lang="en-US" sz="1100" b="1" dirty="0">
                          <a:solidFill>
                            <a:schemeClr val="tx1"/>
                          </a:solidFill>
                        </a:rPr>
                        <a:t>Memoria de vídeo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Qué modelos caben en cada máquina</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Fue el factor limitante del estudio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bl>
          </a:graphicData>
        </a:graphic>
      </p:graphicFrame>
      <p:sp>
        <p:nvSpPr>
          <p:cNvPr id="6" name="conv"/>
          <p:cNvSpPr/>
          <p:nvPr/>
        </p:nvSpPr>
        <p:spPr>
          <a:xfrm>
            <a:off x="548640" y="3977640"/>
            <a:ext cx="11064240" cy="1600200"/>
          </a:xfrm>
          <a:prstGeom prst="roundRect">
            <a:avLst>
              <a:gd name="adj" fmla="val 3429"/>
            </a:avLst>
          </a:prstGeom>
          <a:solidFill>
            <a:srgbClr val="EEF3F9"/>
          </a:solidFill>
          <a:ln w="12700">
            <a:solidFill>
              <a:srgbClr val="EEF3F9"/>
            </a:solidFill>
            <a:prstDash val="solid"/>
          </a:ln>
        </p:spPr>
      </p:sp>
      <p:sp>
        <p:nvSpPr>
          <p:cNvPr id="7" name="Text 4"/>
          <p:cNvSpPr txBox="1"/>
          <p:nvPr/>
        </p:nvSpPr>
        <p:spPr>
          <a:xfrm>
            <a:off x="822960" y="4114800"/>
            <a:ext cx="10515600" cy="237744"/>
          </a:xfrm>
          <a:prstGeom prst="rect">
            <a:avLst/>
          </a:prstGeom>
          <a:noFill/>
          <a:ln/>
        </p:spPr>
        <p:txBody>
          <a:bodyPr wrap="square" lIns="0" tIns="0" rIns="0" bIns="0" rtlCol="0" anchor="ctr"/>
          <a:lstStyle/>
          <a:p>
            <a:pPr indent="0" marL="0">
              <a:buNone/>
            </a:pPr>
            <a:r>
              <a:rPr lang="en-US" sz="1000" b="1" spc="120" kern="0" dirty="0">
                <a:solidFill>
                  <a:srgbClr val="0C6E6D"/>
                </a:solidFill>
              </a:rPr>
              <a:t>TRES CONVENCIONES QUE CAMBIAN LAS CIFRAS, Y QUE POR ESO SE DECLARAN</a:t>
            </a:r>
            <a:endParaRPr lang="en-US" sz="1000" dirty="0"/>
          </a:p>
        </p:txBody>
      </p:sp>
      <p:sp>
        <p:nvSpPr>
          <p:cNvPr id="8" name="Text 5"/>
          <p:cNvSpPr txBox="1"/>
          <p:nvPr/>
        </p:nvSpPr>
        <p:spPr>
          <a:xfrm>
            <a:off x="822960" y="4389120"/>
            <a:ext cx="10515600" cy="1097280"/>
          </a:xfrm>
          <a:prstGeom prst="rect">
            <a:avLst/>
          </a:prstGeom>
          <a:noFill/>
          <a:ln/>
        </p:spPr>
        <p:txBody>
          <a:bodyPr wrap="square" lIns="0" tIns="0" rIns="0" bIns="0" rtlCol="0" anchor="ctr"/>
          <a:lstStyle/>
          <a:p>
            <a:pPr indent="0" marL="0">
              <a:buNone/>
            </a:pPr>
            <a:r>
              <a:rPr lang="en-US" sz="1150" b="1" dirty="0">
                <a:solidFill>
                  <a:schemeClr val="tx1"/>
                </a:solidFill>
              </a:rPr>
              <a:t>Agregación por artículo. </a:t>
            </a:r>
            <a:pPr indent="0" marL="0">
              <a:buNone/>
            </a:pPr>
            <a:r>
              <a:rPr lang="en-US" sz="1150" dirty="0">
                <a:solidFill>
                  <a:schemeClr val="tx1"/>
                </a:solidFill>
              </a:rPr>
              <a:t>Las cifras se agregan dentro de cada artículo y después se promedian, de modo que cada artículo pesa lo mismo. Es la única convención del informe.</a:t>
            </a:r>
            <a:endParaRPr lang="en-US" sz="1150" dirty="0"/>
          </a:p>
          <a:p>
            <a:pPr indent="0" marL="0">
              <a:buNone/>
            </a:pPr>
            <a:r>
              <a:rPr lang="en-US" sz="1150" b="1" dirty="0">
                <a:solidFill>
                  <a:schemeClr val="tx1"/>
                </a:solidFill>
              </a:rPr>
              <a:t>Extracción vacía. </a:t>
            </a:r>
            <a:pPr indent="0" marL="0">
              <a:buNone/>
            </a:pPr>
            <a:r>
              <a:rPr lang="en-US" sz="1150" dirty="0">
                <a:solidFill>
                  <a:schemeClr val="tx1"/>
                </a:solidFill>
              </a:rPr>
              <a:t>Una implementación previa asignaba F1 igual a 1 cuando el modelo no extraía nada, lo que premiaba el silencio. Aquí vale 0, y se reserva el 1 para el acierto vacío legítimo.</a:t>
            </a:r>
            <a:endParaRPr lang="en-US" sz="1150" dirty="0"/>
          </a:p>
          <a:p>
            <a:pPr indent="0" marL="0">
              <a:buNone/>
            </a:pPr>
            <a:r>
              <a:rPr lang="en-US" sz="1150" b="1" dirty="0">
                <a:solidFill>
                  <a:schemeClr val="tx1"/>
                </a:solidFill>
              </a:rPr>
              <a:t>La latencia no caracteriza al modelo. </a:t>
            </a:r>
            <a:pPr indent="0" marL="0">
              <a:buNone/>
            </a:pPr>
            <a:r>
              <a:rPr lang="en-US" sz="1150" dirty="0">
                <a:solidFill>
                  <a:schemeClr val="tx1"/>
                </a:solidFill>
              </a:rPr>
              <a:t>Es reloj de pared bajo concurrencia e incluye espera en cola, así que no es comparable entre filas. Por eso se compara el índice Tok/s/B.</a:t>
            </a:r>
            <a:endParaRPr lang="en-US" sz="1150" dirty="0"/>
          </a:p>
        </p:txBody>
      </p:sp>
      <p:sp>
        <p:nvSpPr>
          <p:cNvPr id="10"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hip-CAP. 5"/>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5</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Resultado principal: trece modelos sobre corpus real</a:t>
            </a:r>
            <a:endParaRPr lang="en-US" sz="2600" dirty="0"/>
          </a:p>
        </p:txBody>
      </p:sp>
      <p:graphicFrame>
        <p:nvGraphicFramePr>
          <p:cNvPr id="22" name="tabla7"/>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017520"/>
                <a:gridCol w="1463040"/>
                <a:gridCol w="1828800"/>
                <a:gridCol w="2286000"/>
                <a:gridCol w="1371600"/>
                <a:gridCol w="1097280"/>
              </a:tblGrid>
              <a:tr h="301752">
                <a:tc>
                  <a:txBody>
                    <a:bodyPr/>
                    <a:lstStyle/>
                    <a:p>
                      <a:pPr algn="ctr" indent="0" marL="0">
                        <a:buNone/>
                      </a:pPr>
                      <a:r>
                        <a:rPr lang="en-US" sz="1100" b="1" dirty="0">
                          <a:solidFill>
                            <a:srgbClr val="FFFFFF"/>
                          </a:solidFill>
                        </a:rPr>
                        <a:t>Modelo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Ejecución</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F1 sin RAG</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F1 con RAG contextual</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Δ RAG</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¿Significativo?</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301752">
                <a:tc>
                  <a:txBody>
                    <a:bodyPr/>
                    <a:lstStyle/>
                    <a:p>
                      <a:pPr algn="l" indent="0" marL="0">
                        <a:buNone/>
                      </a:pPr>
                      <a:r>
                        <a:rPr lang="en-US" sz="1050" b="1" dirty="0">
                          <a:solidFill>
                            <a:schemeClr val="tx1"/>
                          </a:solidFill>
                        </a:rPr>
                        <a:t>gemma4:31b-cloud</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nube</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82,13 %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82,94 %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+0,81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r>
              <a:tr h="301752">
                <a:tc>
                  <a:txBody>
                    <a:bodyPr/>
                    <a:lstStyle/>
                    <a:p>
                      <a:pPr algn="l" indent="0" marL="0">
                        <a:buNone/>
                      </a:pPr>
                      <a:r>
                        <a:rPr lang="en-US" sz="1050" b="1" dirty="0">
                          <a:solidFill>
                            <a:schemeClr val="tx1"/>
                          </a:solidFill>
                        </a:rPr>
                        <a:t>gemma4:31b-mlx</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b="1" dirty="0">
                          <a:solidFill>
                            <a:srgbClr val="0C6E6D"/>
                          </a:solidFill>
                        </a:rPr>
                        <a:t>81,47 %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82,44 %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+0,97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r>
              <a:tr h="301752">
                <a:tc>
                  <a:txBody>
                    <a:bodyPr/>
                    <a:lstStyle/>
                    <a:p>
                      <a:pPr algn="l" indent="0" marL="0">
                        <a:buNone/>
                      </a:pPr>
                      <a:r>
                        <a:rPr lang="en-US" sz="1050" dirty="0">
                          <a:solidFill>
                            <a:schemeClr val="tx1"/>
                          </a:solidFill>
                        </a:rPr>
                        <a:t>gemma4:12b-mlx</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77,67 %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79,96 %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+2,29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01752">
                <a:tc>
                  <a:txBody>
                    <a:bodyPr/>
                    <a:lstStyle/>
                    <a:p>
                      <a:pPr algn="l" indent="0" marL="0">
                        <a:buNone/>
                      </a:pPr>
                      <a:r>
                        <a:rPr lang="en-US" sz="1050" dirty="0">
                          <a:solidFill>
                            <a:schemeClr val="tx1"/>
                          </a:solidFill>
                        </a:rPr>
                        <a:t>gpt-oss:20b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75,41 %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77,08 %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+1,67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chemeClr val="tx1"/>
                          </a:solidFill>
                        </a:rPr>
                        <a:t>gemma4:latest (9B)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75,33 %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77,86 %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+2,53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01752">
                <a:tc>
                  <a:txBody>
                    <a:bodyPr/>
                    <a:lstStyle/>
                    <a:p>
                      <a:pPr algn="l" indent="0" marL="0">
                        <a:buNone/>
                      </a:pPr>
                      <a:r>
                        <a:rPr lang="en-US" sz="1050" dirty="0">
                          <a:solidFill>
                            <a:schemeClr val="tx1"/>
                          </a:solidFill>
                        </a:rPr>
                        <a:t>qwen2.5:14b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69,61 %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70,31 %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+0,69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chemeClr val="tx1"/>
                          </a:solidFill>
                        </a:rPr>
                        <a:t>llama3.1:8b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69,17 %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71,48 %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+2,31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01752">
                <a:tc>
                  <a:txBody>
                    <a:bodyPr/>
                    <a:lstStyle/>
                    <a:p>
                      <a:pPr algn="l" indent="0" marL="0">
                        <a:buNone/>
                      </a:pPr>
                      <a:r>
                        <a:rPr lang="en-US" sz="1050" dirty="0">
                          <a:solidFill>
                            <a:schemeClr val="tx1"/>
                          </a:solidFill>
                        </a:rPr>
                        <a:t>qwen3:8b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69,03 %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68,98 %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−0,05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chemeClr val="tx1"/>
                          </a:solidFill>
                        </a:rPr>
                        <a:t>llama3.2:latest (3B)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63,25 %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69,98 %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+6,73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01752">
                <a:tc>
                  <a:txBody>
                    <a:bodyPr/>
                    <a:lstStyle/>
                    <a:p>
                      <a:pPr algn="l" indent="0" marL="0">
                        <a:buNone/>
                      </a:pPr>
                      <a:r>
                        <a:rPr lang="en-US" sz="1050" dirty="0">
                          <a:solidFill>
                            <a:schemeClr val="tx1"/>
                          </a:solidFill>
                        </a:rPr>
                        <a:t>mistral-nemo (12B)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60,63 %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56,35 %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−4,29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chemeClr val="tx1"/>
                          </a:solidFill>
                        </a:rPr>
                        <a:t>gemma:latest (7B)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59,55 %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59,58 %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+0,03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01752">
                <a:tc>
                  <a:txBody>
                    <a:bodyPr/>
                    <a:lstStyle/>
                    <a:p>
                      <a:pPr algn="l" indent="0" marL="0">
                        <a:buNone/>
                      </a:pPr>
                      <a:r>
                        <a:rPr lang="en-US" sz="1050" dirty="0">
                          <a:solidFill>
                            <a:schemeClr val="tx1"/>
                          </a:solidFill>
                        </a:rPr>
                        <a:t>deepseek-r1:1.5b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28,73 %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30,80 %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+2,07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chemeClr val="tx1"/>
                          </a:solidFill>
                        </a:rPr>
                        <a:t>nemotron-mini:4b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local</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28,29 %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dirty="0">
                          <a:solidFill>
                            <a:schemeClr val="tx1"/>
                          </a:solidFill>
                        </a:rPr>
                        <a:t>40,55 %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b="1" dirty="0">
                          <a:solidFill>
                            <a:srgbClr val="0C6E6D"/>
                          </a:solidFill>
                        </a:rPr>
                        <a:t>+12,26 pp</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050" b="1" dirty="0">
                          <a:solidFill>
                            <a:srgbClr val="0C6E6D"/>
                          </a:solidFill>
                        </a:rPr>
                        <a:t>sí</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r>
            </a:tbl>
          </a:graphicData>
        </a:graphic>
      </p:graphicFrame>
      <p:sp>
        <p:nvSpPr>
          <p:cNvPr id="6" name="Text 3"/>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050" i="1" dirty="0">
                <a:solidFill>
                  <a:srgbClr val="51708D"/>
                </a:solidFill>
              </a:rPr>
              <a:t>Corpus real de 120 artículos, 113 observaciones por grupo tras excluir siete que también son fuente de los ejemplares de la base de conocimientos. ANOVA F = 119,75 con p &lt; 10⁻³⁰⁰; 217 de 325 comparaciones de Tukey resultan significativas. La significancia de la última columna es la del modelo respecto de sí mismo al añadir recuperación.</a:t>
            </a:r>
            <a:endParaRPr lang="en-US" sz="1050" dirty="0"/>
          </a:p>
        </p:txBody>
      </p:sp>
      <p:sp>
        <p:nvSpPr>
          <p:cNvPr id="8"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hip-CAP. 5"/>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5</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Precisión de nivel comercial desde infraestructura propia</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Sobre el corpus periodístico, gemma4:31b-mlx en local alcanza 81,47 % de F1, y 82,44 % con base de conocimientos contextual. La hipótesis fijaba 70 %.</a:t>
            </a:r>
            <a:endParaRPr lang="en-US" sz="1400" dirty="0"/>
          </a:p>
          <a:p>
            <a:pPr algn="l" marL="342900" indent="-342900">
              <a:spcAft>
                <a:spcPts val="900"/>
              </a:spcAft>
              <a:buSzPct val="100000"/>
              <a:buChar char="•"/>
            </a:pPr>
            <a:r>
              <a:rPr lang="en-US" sz="1400" dirty="0">
                <a:solidFill>
                  <a:schemeClr val="tx1"/>
                </a:solidFill>
              </a:rPr>
              <a:t>Sobre el corpus del dominio AML/KYC el mismo modelo obtiene 80,57 % con intervalo de confianza al 95 % de [74,22 %, 86,92 %], y 90,16 % si la medición se restringe a las categorías que ese corpus anota.</a:t>
            </a:r>
            <a:endParaRPr lang="en-US" sz="1400" dirty="0"/>
          </a:p>
          <a:p>
            <a:pPr algn="l" marL="342900" indent="-342900">
              <a:spcAft>
                <a:spcPts val="900"/>
              </a:spcAft>
              <a:buSzPct val="100000"/>
              <a:buChar char="•"/>
            </a:pPr>
            <a:r>
              <a:rPr lang="en-US" sz="1400" dirty="0">
                <a:solidFill>
                  <a:schemeClr val="tx1"/>
                </a:solidFill>
              </a:rPr>
              <a:t>No hubo ninguna extracción fallida en ninguno de los dos corpus, sobre los sesenta registros del corpus del dominio.</a:t>
            </a:r>
            <a:endParaRPr lang="en-US" sz="1400" dirty="0"/>
          </a:p>
          <a:p>
            <a:pPr algn="l" marL="342900" indent="-342900">
              <a:spcAft>
                <a:spcPts val="900"/>
              </a:spcAft>
              <a:buSzPct val="100000"/>
              <a:buChar char="•"/>
            </a:pPr>
            <a:r>
              <a:rPr lang="en-US" sz="1400" dirty="0">
                <a:solidFill>
                  <a:schemeClr val="tx1"/>
                </a:solidFill>
              </a:rPr>
              <a:t>llama3.2 de 3B logra 63,25 % sobre este corpus, y su índice de eficiencia, medido en la corrida de hardware, es de 26,44 tokens por segundo y por mil millones de parámetros: ochenta veces el del modelo de 31B. Es el candidato natural para el filtrado previo.</a:t>
            </a:r>
            <a:endParaRPr lang="en-US" sz="1400" dirty="0"/>
          </a:p>
        </p:txBody>
      </p:sp>
      <p:sp>
        <p:nvSpPr>
          <p:cNvPr id="6" name="marco-ranking"/>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F1 SOBRE EL CORPUS PRINCIPAL (N=120)</a:t>
            </a:r>
            <a:endParaRPr lang="en-US" sz="1150" dirty="0"/>
          </a:p>
        </p:txBody>
      </p:sp>
      <p:graphicFrame>
        <p:nvGraphicFramePr>
          <p:cNvPr id="8" name="Chart 0" descr=""/>
          <p:cNvGraphicFramePr/>
          <p:nvPr/>
        </p:nvGraphicFramePr>
        <p:xfrm>
          <a:off x="6400800" y="1755648"/>
          <a:ext cx="5029200" cy="2843784"/>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La variante alojada encabeza por 0,66 puntos. Todas las demás filas son modelos abiertos ejecutados en local.</a:t>
            </a:r>
            <a:endParaRPr lang="en-US" sz="1050" dirty="0"/>
          </a:p>
        </p:txBody>
      </p:sp>
      <p:sp>
        <p:nvSpPr>
          <p:cNvPr id="10" name="dato-81,47 %"/>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11" name="Text 8"/>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81,47 %</a:t>
            </a:r>
            <a:endParaRPr lang="en-US" sz="2400" dirty="0"/>
          </a:p>
        </p:txBody>
      </p:sp>
      <p:sp>
        <p:nvSpPr>
          <p:cNvPr id="12" name="Text 9"/>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F1 local sobre el corpus periodístico</a:t>
            </a:r>
            <a:endParaRPr lang="en-US" sz="1050" dirty="0"/>
          </a:p>
        </p:txBody>
      </p:sp>
      <p:sp>
        <p:nvSpPr>
          <p:cNvPr id="13" name="dato-&gt; 70 %"/>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4" name="Text 11"/>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&gt; 70 %</a:t>
            </a:r>
            <a:endParaRPr lang="en-US" sz="2400" dirty="0"/>
          </a:p>
        </p:txBody>
      </p:sp>
      <p:sp>
        <p:nvSpPr>
          <p:cNvPr id="15" name="Text 12"/>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umbral de la hipótesis, superado</a:t>
            </a:r>
            <a:endParaRPr lang="en-US" sz="1050" dirty="0"/>
          </a:p>
        </p:txBody>
      </p:sp>
      <p:sp>
        <p:nvSpPr>
          <p:cNvPr id="17"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hip-CAP. 5"/>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5</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La soberanía cuesta menos de un punto porcentual</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Sobre el corpus principal, la variante en la nube alcanza 82,13 % de F1 y la local, compilación MLX, 81,47 %. La diferencia queda por debajo de un punto.</a:t>
            </a:r>
            <a:endParaRPr lang="en-US" sz="1400" dirty="0"/>
          </a:p>
          <a:p>
            <a:pPr algn="l" marL="342900" indent="-342900">
              <a:spcAft>
                <a:spcPts val="900"/>
              </a:spcAft>
              <a:buSzPct val="100000"/>
              <a:buChar char="•"/>
            </a:pPr>
            <a:r>
              <a:rPr lang="en-US" sz="1400" dirty="0">
                <a:solidFill>
                  <a:schemeClr val="tx1"/>
                </a:solidFill>
              </a:rPr>
              <a:t>Sobre el corpus exploratorio de quince artículos la relación se invierte —local 69,12 % frente a 66,99 %—, pero es el experimento de menor potencia estadística.</a:t>
            </a:r>
            <a:endParaRPr lang="en-US" sz="1400" dirty="0"/>
          </a:p>
          <a:p>
            <a:pPr algn="l" marL="342900" indent="-342900">
              <a:spcAft>
                <a:spcPts val="900"/>
              </a:spcAft>
              <a:buSzPct val="100000"/>
              <a:buChar char="•"/>
            </a:pPr>
            <a:r>
              <a:rPr lang="en-US" sz="1400" dirty="0">
                <a:solidFill>
                  <a:schemeClr val="tx1"/>
                </a:solidFill>
              </a:rPr>
              <a:t>Lo que el estudio sostiene es lo primero: la soberanía cuesta menos de un punto de F1 sobre el corpus de mayor potencia. No que salga gratis.</a:t>
            </a:r>
            <a:endParaRPr lang="en-US" sz="1400" dirty="0"/>
          </a:p>
          <a:p>
            <a:pPr algn="l" marL="342900" indent="-342900">
              <a:spcAft>
                <a:spcPts val="900"/>
              </a:spcAft>
              <a:buSzPct val="100000"/>
              <a:buChar char="•"/>
            </a:pPr>
            <a:r>
              <a:rPr lang="en-US" sz="1400" dirty="0">
                <a:solidFill>
                  <a:schemeClr val="tx1"/>
                </a:solidFill>
              </a:rPr>
              <a:t>Es un precio razonable en un entorno regulado, y se paga a cambio de no transferir texto de clientes a un tercero ni suscribir acuerdos de tratamiento de datos.</a:t>
            </a:r>
            <a:endParaRPr lang="en-US" sz="1400" dirty="0"/>
          </a:p>
        </p:txBody>
      </p:sp>
      <p:sp>
        <p:nvSpPr>
          <p:cNvPr id="6" name="marco-soberania"/>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LOCAL FRENTE A NUBE, EN LOS DOS CORPUS</a:t>
            </a:r>
            <a:endParaRPr lang="en-US" sz="1150" dirty="0"/>
          </a:p>
        </p:txBody>
      </p:sp>
      <p:graphicFrame>
        <p:nvGraphicFramePr>
          <p:cNvPr id="8" name="Chart 0" descr=""/>
          <p:cNvGraphicFramePr/>
          <p:nvPr/>
        </p:nvGraphicFramePr>
        <p:xfrm>
          <a:off x="6400800" y="1755648"/>
          <a:ext cx="5029200" cy="2706624"/>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Los dos corpus no dicen lo mismo: sobre el de quince gana el local, pero es el de menor potencia. La conclusión sostenible es la del corpus mayor.</a:t>
            </a:r>
            <a:endParaRPr lang="en-US" sz="1050" dirty="0"/>
          </a:p>
        </p:txBody>
      </p:sp>
      <p:sp>
        <p:nvSpPr>
          <p:cNvPr id="10" name="dato-82,13 %"/>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11" name="Text 8"/>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C1292E"/>
                </a:solidFill>
              </a:rPr>
              <a:t>82,13 %</a:t>
            </a:r>
            <a:endParaRPr lang="en-US" sz="2400" dirty="0"/>
          </a:p>
        </p:txBody>
      </p:sp>
      <p:sp>
        <p:nvSpPr>
          <p:cNvPr id="12" name="Text 9"/>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nube, con el dato en un tercero</a:t>
            </a:r>
            <a:endParaRPr lang="en-US" sz="1050" dirty="0"/>
          </a:p>
        </p:txBody>
      </p:sp>
      <p:sp>
        <p:nvSpPr>
          <p:cNvPr id="13" name="dato-81,47 %"/>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4" name="Text 11"/>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81,47 %</a:t>
            </a:r>
            <a:endParaRPr lang="en-US" sz="2400" dirty="0"/>
          </a:p>
        </p:txBody>
      </p:sp>
      <p:sp>
        <p:nvSpPr>
          <p:cNvPr id="15" name="Text 12"/>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local, con el dato en casa</a:t>
            </a:r>
            <a:endParaRPr lang="en-US" sz="1050" dirty="0"/>
          </a:p>
        </p:txBody>
      </p:sp>
      <p:sp>
        <p:nvSpPr>
          <p:cNvPr id="17"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hip-CAP. 5"/>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5</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El RAG contextual salva al modelo más débil, y solo a ese</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En nemotron-mini:4b la mejora va de 28,29 % a 40,55 %, es decir +12,26 pp, y es el único de los trece que alcanza significancia tras corregir por comparaciones múltiples (p &lt; 0,001).</a:t>
            </a:r>
            <a:endParaRPr lang="en-US" sz="1400" dirty="0"/>
          </a:p>
          <a:p>
            <a:pPr algn="l" marL="342900" indent="-342900">
              <a:spcAft>
                <a:spcPts val="900"/>
              </a:spcAft>
              <a:buSzPct val="100000"/>
              <a:buChar char="•"/>
            </a:pPr>
            <a:r>
              <a:rPr lang="en-US" sz="1400" dirty="0">
                <a:solidFill>
                  <a:schemeClr val="tx1"/>
                </a:solidFill>
              </a:rPr>
              <a:t>El segundo delta bruto, llama3.2 con +6,73 pp, no se distingue del azar una vez aplicada esa corrección (p = 0,2334).</a:t>
            </a:r>
            <a:endParaRPr lang="en-US" sz="1400" dirty="0"/>
          </a:p>
          <a:p>
            <a:pPr algn="l" marL="342900" indent="-342900">
              <a:spcAft>
                <a:spcPts val="900"/>
              </a:spcAft>
              <a:buSzPct val="100000"/>
              <a:buChar char="•"/>
            </a:pPr>
            <a:r>
              <a:rPr lang="en-US" sz="1400" dirty="0">
                <a:solidFill>
                  <a:schemeClr val="tx1"/>
                </a:solidFill>
              </a:rPr>
              <a:t>En los modelos de 31B el efecto cae por debajo de un punto: ya traen internalizadas las guías de desambiguación, y el contexto extra consume ventana de atención sin aportar.</a:t>
            </a:r>
            <a:endParaRPr lang="en-US" sz="1400" dirty="0"/>
          </a:p>
          <a:p>
            <a:pPr algn="l" marL="342900" indent="-342900">
              <a:spcAft>
                <a:spcPts val="900"/>
              </a:spcAft>
              <a:buSzPct val="100000"/>
              <a:buChar char="•"/>
            </a:pPr>
            <a:r>
              <a:rPr lang="en-US" sz="1400" dirty="0">
                <a:solidFill>
                  <a:schemeClr val="tx1"/>
                </a:solidFill>
              </a:rPr>
              <a:t>La correlación entre capacidad y beneficio no es significativa (ρ = −0,09; p = 0,775) y depende casi enteramente de ese modelo. La conclusión correcta es que beneficia a uno, no a los débiles en general.</a:t>
            </a:r>
            <a:endParaRPr lang="en-US" sz="1400" dirty="0"/>
          </a:p>
        </p:txBody>
      </p:sp>
      <p:sp>
        <p:nvSpPr>
          <p:cNvPr id="6" name="marco-rag"/>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EFECTO DEL RAG CONTEXTUAL, POR MODELO</a:t>
            </a:r>
            <a:endParaRPr lang="en-US" sz="1150" dirty="0"/>
          </a:p>
        </p:txBody>
      </p:sp>
      <p:graphicFrame>
        <p:nvGraphicFramePr>
          <p:cNvPr id="8" name="Chart 0" descr=""/>
          <p:cNvGraphicFramePr/>
          <p:nvPr/>
        </p:nvGraphicFramePr>
        <p:xfrm>
          <a:off x="6400800" y="1755648"/>
          <a:ext cx="5029200" cy="2843784"/>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Solo el primero alcanza significancia estadística (p &lt; 0,001) entre los trece modelos. El efecto decrece conforme sube la capacidad.</a:t>
            </a:r>
            <a:endParaRPr lang="en-US" sz="1050" dirty="0"/>
          </a:p>
        </p:txBody>
      </p:sp>
      <p:sp>
        <p:nvSpPr>
          <p:cNvPr id="10" name="dato-+12,26 pp"/>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11" name="Text 8"/>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+12,26 pp</a:t>
            </a:r>
            <a:endParaRPr lang="en-US" sz="2400" dirty="0"/>
          </a:p>
        </p:txBody>
      </p:sp>
      <p:sp>
        <p:nvSpPr>
          <p:cNvPr id="12" name="Text 9"/>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único delta significativo</a:t>
            </a:r>
            <a:endParaRPr lang="en-US" sz="1050" dirty="0"/>
          </a:p>
        </p:txBody>
      </p:sp>
      <p:sp>
        <p:nvSpPr>
          <p:cNvPr id="13" name="dato-+0,97 pp"/>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4" name="Text 11"/>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+0,97 pp</a:t>
            </a:r>
            <a:endParaRPr lang="en-US" sz="2400" dirty="0"/>
          </a:p>
        </p:txBody>
      </p:sp>
      <p:sp>
        <p:nvSpPr>
          <p:cNvPr id="15" name="Text 12"/>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en el modelo de 31B local</a:t>
            </a:r>
            <a:endParaRPr lang="en-US" sz="1050" dirty="0"/>
          </a:p>
        </p:txBody>
      </p:sp>
      <p:sp>
        <p:nvSpPr>
          <p:cNvPr id="17"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hip-CAP. 5"/>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5</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Alucinaciones: dónde aparecen y por qué importan</a:t>
            </a:r>
            <a:endParaRPr lang="en-US" sz="2600" dirty="0"/>
          </a:p>
        </p:txBody>
      </p:sp>
      <p:sp>
        <p:nvSpPr>
          <p:cNvPr id="5" name="Text 3"/>
          <p:cNvSpPr txBox="1"/>
          <p:nvPr/>
        </p:nvSpPr>
        <p:spPr>
          <a:xfrm>
            <a:off x="548640" y="1325880"/>
            <a:ext cx="5257800" cy="356616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tx1"/>
                </a:solidFill>
              </a:rPr>
              <a:t>La tasa de alucinación no compara con la anotación de referencia sino con el artículo: mide qué proporción de lo extraído no aparece en el texto de origen. En cumplimiento normativo, una entidad inventada en un informe de sanciones cuesta más que una omitida.</a:t>
            </a:r>
            <a:endParaRPr lang="en-US" sz="1300" dirty="0"/>
          </a:p>
          <a:p>
            <a:pPr marL="342900" indent="-342900">
              <a:spcAft>
                <a:spcPts val="1000"/>
              </a:spcAft>
              <a:buSzPct val="100000"/>
              <a:buChar char="•"/>
            </a:pPr>
            <a:r>
              <a:rPr lang="en-US" sz="1300" dirty="0">
                <a:solidFill>
                  <a:schemeClr val="tx1"/>
                </a:solidFill>
              </a:rPr>
              <a:t>Sobre los sesenta y un grupos medidos el rango va de cero, en las variantes alojadas de gemma4:31b, hasta 21,59 % en deepseek-r1:1.5b con recuperación por diccionario.</a:t>
            </a:r>
            <a:endParaRPr lang="en-US" sz="1300" dirty="0"/>
          </a:p>
          <a:p>
            <a:pPr marL="342900" indent="-342900">
              <a:spcAft>
                <a:spcPts val="1000"/>
              </a:spcAft>
              <a:buSzPct val="100000"/>
              <a:buChar char="•"/>
            </a:pPr>
            <a:r>
              <a:rPr lang="en-US" sz="1300" dirty="0">
                <a:solidFill>
                  <a:schemeClr val="tx1"/>
                </a:solidFill>
              </a:rPr>
              <a:t>Veintiocho de esos sesenta y un grupos quedan por debajo del 1 %, y entre ellos todas las configuraciones de mayor capacidad: la instrucción de restringir la extracción al artículo funciona en casi la mitad de los casos.</a:t>
            </a:r>
            <a:endParaRPr lang="en-US" sz="1300" dirty="0"/>
          </a:p>
          <a:p>
            <a:pPr marL="342900" indent="-342900">
              <a:spcAft>
                <a:spcPts val="1000"/>
              </a:spcAft>
              <a:buSzPct val="100000"/>
              <a:buChar char="•"/>
            </a:pPr>
            <a:r>
              <a:rPr lang="en-US" sz="1300" dirty="0">
                <a:solidFill>
                  <a:schemeClr val="tx1"/>
                </a:solidFill>
              </a:rPr>
              <a:t>El problema se concentra en los dos modelos más pequeños: deepseek-r1:1.5b oscila entre 11,23 % y 21,59 %, y nemotron-mini:4b entre 7,14 % y 14,75 %. Es el defecto que los descarta para producción, más que su exhaustividad.</a:t>
            </a:r>
            <a:endParaRPr lang="en-US" sz="1300" dirty="0"/>
          </a:p>
        </p:txBody>
      </p:sp>
      <p:sp>
        <p:nvSpPr>
          <p:cNvPr id="6" name="Text 4"/>
          <p:cNvSpPr txBox="1"/>
          <p:nvPr/>
        </p:nvSpPr>
        <p:spPr>
          <a:xfrm>
            <a:off x="6309360" y="1325880"/>
            <a:ext cx="5303520" cy="3566160"/>
          </a:xfrm>
          <a:prstGeom prst="rect">
            <a:avLst/>
          </a:prstGeom>
          <a:noFill/>
          <a:ln/>
        </p:spPr>
        <p:txBody>
          <a:bodyPr wrap="square" lIns="0" tIns="0" rIns="0" bIns="0" rtlCol="0" anchor="ctr"/>
          <a:lstStyle/>
          <a:p>
            <a:pPr indent="0" marL="0">
              <a:spcAft>
                <a:spcPts val="600"/>
              </a:spcAft>
              <a:buNone/>
            </a:pPr>
            <a:r>
              <a:rPr lang="en-US" sz="1000" b="1" spc="120" kern="0" dirty="0">
                <a:solidFill>
                  <a:srgbClr val="0C6E6D"/>
                </a:solidFill>
              </a:rPr>
              <a:t>TAXONOMÍA DE ERRORES</a:t>
            </a:r>
            <a:endParaRPr lang="en-US" sz="1150" dirty="0"/>
          </a:p>
          <a:p>
            <a:pPr indent="0" marL="0">
              <a:buNone/>
            </a:pPr>
            <a:r>
              <a:rPr lang="en-US" sz="1150" b="1" dirty="0">
                <a:solidFill>
                  <a:schemeClr val="tx1"/>
                </a:solidFill>
              </a:rPr>
              <a:t>Error de límite. </a:t>
            </a:r>
            <a:pPr indent="0" marL="0">
              <a:spcAft>
                <a:spcPts val="700"/>
              </a:spcAft>
              <a:buNone/>
            </a:pPr>
            <a:r>
              <a:rPr lang="en-US" sz="1150" dirty="0">
                <a:solidFill>
                  <a:schemeClr val="tx1"/>
                </a:solidFill>
              </a:rPr>
              <a:t>Todo emparejamiento con similitud entre 50 y 85. Buena parte no son fallos del modelo sino de la referencia: «José María Aznar» frente a su versión con codificación corrupta.</a:t>
            </a:r>
            <a:endParaRPr lang="en-US" sz="1150" dirty="0"/>
          </a:p>
          <a:p>
            <a:pPr indent="0" marL="0">
              <a:buNone/>
            </a:pPr>
            <a:r>
              <a:rPr lang="en-US" sz="1150" b="1" dirty="0">
                <a:solidFill>
                  <a:schemeClr val="tx1"/>
                </a:solidFill>
              </a:rPr>
              <a:t>Confusión de tipo. </a:t>
            </a:r>
            <a:pPr indent="0" marL="0">
              <a:spcAft>
                <a:spcPts val="700"/>
              </a:spcAft>
              <a:buNone/>
            </a:pPr>
            <a:r>
              <a:rPr lang="en-US" sz="1150" dirty="0">
                <a:solidFill>
                  <a:schemeClr val="tx1"/>
                </a:solidFill>
              </a:rPr>
              <a:t>«Estados Unidos» o «Valencia» extraídos como localización donde la anotación registra organización. Es divergencia de convención, no incomprensión.</a:t>
            </a:r>
            <a:endParaRPr lang="en-US" sz="1150" dirty="0"/>
          </a:p>
          <a:p>
            <a:pPr indent="0" marL="0">
              <a:buNone/>
            </a:pPr>
            <a:r>
              <a:rPr lang="en-US" sz="1150" b="1" dirty="0">
                <a:solidFill>
                  <a:schemeClr val="tx1"/>
                </a:solidFill>
              </a:rPr>
              <a:t>Omisión de abreviatura. </a:t>
            </a:r>
            <a:pPr indent="0" marL="0">
              <a:spcAft>
                <a:spcPts val="700"/>
              </a:spcAft>
              <a:buNone/>
            </a:pPr>
            <a:r>
              <a:rPr lang="en-US" sz="1150" dirty="0">
                <a:solidFill>
                  <a:schemeClr val="tx1"/>
                </a:solidFill>
              </a:rPr>
              <a:t>Variantes de sigla como «EFE» y «EFECOM», que designan lo mismo con 66,7 de similitud.</a:t>
            </a:r>
            <a:endParaRPr lang="en-US" sz="1150" dirty="0"/>
          </a:p>
          <a:p>
            <a:pPr indent="0" marL="0">
              <a:buNone/>
            </a:pPr>
            <a:r>
              <a:rPr lang="en-US" sz="1150" b="1" dirty="0">
                <a:solidFill>
                  <a:schemeClr val="tx1"/>
                </a:solidFill>
              </a:rPr>
              <a:t>Alucinación extrínseca. </a:t>
            </a:r>
            <a:pPr indent="0" marL="0">
              <a:buNone/>
            </a:pPr>
            <a:r>
              <a:rPr lang="en-US" sz="1150" dirty="0">
                <a:solidFill>
                  <a:schemeClr val="tx1"/>
                </a:solidFill>
              </a:rPr>
              <a:t>La categoría grave: entidades ausentes del texto, procedentes de la memoria de entrenamiento.</a:t>
            </a:r>
            <a:endParaRPr lang="en-US" sz="1150" dirty="0"/>
          </a:p>
        </p:txBody>
      </p:sp>
      <p:sp>
        <p:nvSpPr>
          <p:cNvPr id="7" name="dato-0,00–0,16 %"/>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8" name="Text 6"/>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0,00–0,16 %</a:t>
            </a:r>
            <a:endParaRPr lang="en-US" sz="2400" dirty="0"/>
          </a:p>
        </p:txBody>
      </p:sp>
      <p:sp>
        <p:nvSpPr>
          <p:cNvPr id="9" name="Text 7"/>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en gemma4:31b-mlx, el recomendado</a:t>
            </a:r>
            <a:endParaRPr lang="en-US" sz="1050" dirty="0"/>
          </a:p>
        </p:txBody>
      </p:sp>
      <p:sp>
        <p:nvSpPr>
          <p:cNvPr id="10" name="dato-21,59 %"/>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11" name="Text 9"/>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C1292E"/>
                </a:solidFill>
              </a:rPr>
              <a:t>21,59 %</a:t>
            </a:r>
            <a:endParaRPr lang="en-US" sz="2400" dirty="0"/>
          </a:p>
        </p:txBody>
      </p:sp>
      <p:sp>
        <p:nvSpPr>
          <p:cNvPr id="12" name="Text 10"/>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en el peor caso medido</a:t>
            </a:r>
            <a:endParaRPr lang="en-US" sz="1050" dirty="0"/>
          </a:p>
        </p:txBody>
      </p:sp>
      <p:sp>
        <p:nvSpPr>
          <p:cNvPr id="14"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hip-CAP. 5"/>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5</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Eficiencia en hardware soberano y costo por artículo</a:t>
            </a:r>
            <a:endParaRPr lang="en-US" sz="2600" dirty="0"/>
          </a:p>
        </p:txBody>
      </p:sp>
      <p:graphicFrame>
        <p:nvGraphicFramePr>
          <p:cNvPr id="27" name="tabla8"/>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560320"/>
                <a:gridCol w="1920240"/>
                <a:gridCol w="1463040"/>
                <a:gridCol w="1463040"/>
                <a:gridCol w="1828800"/>
                <a:gridCol w="1828800"/>
              </a:tblGrid>
              <a:tr h="384048">
                <a:tc>
                  <a:txBody>
                    <a:bodyPr/>
                    <a:lstStyle/>
                    <a:p>
                      <a:pPr algn="ctr" indent="0" marL="0">
                        <a:buNone/>
                      </a:pPr>
                      <a:r>
                        <a:rPr lang="en-US" sz="1150" b="1" dirty="0">
                          <a:solidFill>
                            <a:srgbClr val="FFFFFF"/>
                          </a:solidFill>
                        </a:rPr>
                        <a:t>Modelo</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Memoria de vídeo</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Tokens/s</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Parámetros</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Índice Tok/s/B</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Costo estimado por artículo</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384048">
                <a:tc>
                  <a:txBody>
                    <a:bodyPr/>
                    <a:lstStyle/>
                    <a:p>
                      <a:pPr algn="l" indent="0" marL="0">
                        <a:buNone/>
                      </a:pPr>
                      <a:r>
                        <a:rPr lang="en-US" sz="1100" dirty="0">
                          <a:solidFill>
                            <a:schemeClr val="tx1"/>
                          </a:solidFill>
                        </a:rPr>
                        <a:t>gemma4:31b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18 795 MB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10,23</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31B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0,33</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100" dirty="0">
                          <a:solidFill>
                            <a:schemeClr val="tx1"/>
                          </a:solidFill>
                        </a:rPr>
                        <a:t>USD 0,052</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384048">
                <a:tc>
                  <a:txBody>
                    <a:bodyPr/>
                    <a:lstStyle/>
                    <a:p>
                      <a:pPr algn="l" indent="0" marL="0">
                        <a:buNone/>
                      </a:pPr>
                      <a:r>
                        <a:rPr lang="en-US" sz="1100" dirty="0">
                          <a:solidFill>
                            <a:schemeClr val="tx1"/>
                          </a:solidFill>
                        </a:rPr>
                        <a:t>gemma4:31b-mlx</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24 607 MB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22,80</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31B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0,74</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USD 0,052</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chemeClr val="tx1"/>
                          </a:solidFill>
                        </a:rPr>
                        <a:t>llama3.2 (3B)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dirty="0">
                          <a:solidFill>
                            <a:schemeClr val="tx1"/>
                          </a:solidFill>
                        </a:rPr>
                        <a:t>4 018 MB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dirty="0">
                          <a:solidFill>
                            <a:schemeClr val="tx1"/>
                          </a:solidFill>
                        </a:rPr>
                        <a:t>79,35</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dirty="0">
                          <a:solidFill>
                            <a:schemeClr val="tx1"/>
                          </a:solidFill>
                        </a:rPr>
                        <a:t>3B</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b="1" dirty="0">
                          <a:solidFill>
                            <a:srgbClr val="0C6E6D"/>
                          </a:solidFill>
                        </a:rPr>
                        <a:t>26,44</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c>
                  <a:txBody>
                    <a:bodyPr/>
                    <a:lstStyle/>
                    <a:p>
                      <a:pPr algn="ctr" indent="0" marL="0">
                        <a:buNone/>
                      </a:pPr>
                      <a:r>
                        <a:rPr lang="en-US" sz="1100" dirty="0">
                          <a:solidFill>
                            <a:schemeClr val="tx1"/>
                          </a:solidFill>
                        </a:rPr>
                        <a:t>USD 0,052</a:t>
                      </a:r>
                      <a:endParaRPr lang="en-US" sz="110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DCEFEE"/>
                    </a:solidFill>
                  </a:tcPr>
                </a:tc>
              </a:tr>
            </a:tbl>
          </a:graphicData>
        </a:graphic>
      </p:graphicFrame>
      <p:sp>
        <p:nvSpPr>
          <p:cNvPr id="6" name="Text 3"/>
          <p:cNvSpPr txBox="1"/>
          <p:nvPr/>
        </p:nvSpPr>
        <p:spPr>
          <a:xfrm>
            <a:off x="548640" y="3017520"/>
            <a:ext cx="11064240" cy="1005840"/>
          </a:xfrm>
          <a:prstGeom prst="rect">
            <a:avLst/>
          </a:prstGeom>
          <a:noFill/>
          <a:ln/>
        </p:spPr>
        <p:txBody>
          <a:bodyPr wrap="square" lIns="0" tIns="0" rIns="0" bIns="0" rtlCol="0" anchor="ctr"/>
          <a:lstStyle/>
          <a:p>
            <a:pPr indent="0" marL="0">
              <a:buNone/>
            </a:pPr>
            <a:r>
              <a:rPr lang="en-US" sz="1250" b="1" dirty="0">
                <a:solidFill>
                  <a:srgbClr val="0C6E6D"/>
                </a:solidFill>
              </a:rPr>
              <a:t>Por qué el costo es idéntico en las tres filas. </a:t>
            </a:r>
            <a:pPr indent="0" marL="0">
              <a:buNone/>
            </a:pPr>
            <a:r>
              <a:rPr lang="en-US" sz="1250" dirty="0">
                <a:solidFill>
                  <a:schemeClr val="tx1"/>
                </a:solidFill>
              </a:rPr>
              <a:t>No mide cómputo: es el costo amortizado de la infraestructura, unos USD 0,050 por artículo de amortización del equipo a un año más unos USD 0,002 de electricidad. Al ser un costo de capital repartido entre el volumen procesado, no varía con el modelo. Lo que sí varía es cuántos artículos permite procesar ese mismo hardware en el mismo tiempo, y de eso da cuenta el índice Tok/s/B.</a:t>
            </a:r>
            <a:endParaRPr lang="en-US" sz="1250" dirty="0"/>
          </a:p>
        </p:txBody>
      </p:sp>
      <p:sp>
        <p:nvSpPr>
          <p:cNvPr id="7" name="dosniveles"/>
          <p:cNvSpPr/>
          <p:nvPr/>
        </p:nvSpPr>
        <p:spPr>
          <a:xfrm>
            <a:off x="548640" y="4114800"/>
            <a:ext cx="11064240" cy="1463040"/>
          </a:xfrm>
          <a:prstGeom prst="roundRect">
            <a:avLst>
              <a:gd name="adj" fmla="val 3750"/>
            </a:avLst>
          </a:prstGeom>
          <a:solidFill>
            <a:srgbClr val="1E2761"/>
          </a:solidFill>
          <a:ln w="12700">
            <a:solidFill>
              <a:srgbClr val="333333"/>
            </a:solidFill>
            <a:prstDash val="solid"/>
          </a:ln>
        </p:spPr>
      </p:sp>
      <p:sp>
        <p:nvSpPr>
          <p:cNvPr id="8" name="Text 5"/>
          <p:cNvSpPr txBox="1"/>
          <p:nvPr/>
        </p:nvSpPr>
        <p:spPr>
          <a:xfrm>
            <a:off x="822960" y="4261104"/>
            <a:ext cx="10515600" cy="237744"/>
          </a:xfrm>
          <a:prstGeom prst="rect">
            <a:avLst/>
          </a:prstGeom>
          <a:noFill/>
          <a:ln/>
        </p:spPr>
        <p:txBody>
          <a:bodyPr wrap="square" lIns="0" tIns="0" rIns="0" bIns="0" rtlCol="0" anchor="ctr"/>
          <a:lstStyle/>
          <a:p>
            <a:pPr indent="0" marL="0">
              <a:buNone/>
            </a:pPr>
            <a:r>
              <a:rPr lang="en-US" sz="1000" b="1" spc="120" kern="0" dirty="0">
                <a:solidFill>
                  <a:srgbClr val="35B3A3"/>
                </a:solidFill>
              </a:rPr>
              <a:t>LA ASIMETRÍA QUE HABILITA UNA ARQUITECTURA EN DOS NIVELES</a:t>
            </a:r>
            <a:endParaRPr lang="en-US" sz="1000" dirty="0"/>
          </a:p>
        </p:txBody>
      </p:sp>
      <p:sp>
        <p:nvSpPr>
          <p:cNvPr id="9" name="Text 6"/>
          <p:cNvSpPr txBox="1"/>
          <p:nvPr/>
        </p:nvSpPr>
        <p:spPr>
          <a:xfrm>
            <a:off x="822960" y="4535424"/>
            <a:ext cx="10515600" cy="914400"/>
          </a:xfrm>
          <a:prstGeom prst="rect">
            <a:avLst/>
          </a:prstGeom>
          <a:noFill/>
          <a:ln/>
        </p:spPr>
        <p:txBody>
          <a:bodyPr wrap="square" lIns="0" tIns="0" rIns="0" bIns="0" rtlCol="0" anchor="ctr"/>
          <a:lstStyle/>
          <a:p>
            <a:pPr indent="0" marL="0">
              <a:buNone/>
            </a:pPr>
            <a:r>
              <a:rPr lang="en-US" sz="1250" dirty="0">
                <a:solidFill>
                  <a:srgbClr val="FFFFFF"/>
                </a:solidFill>
              </a:rPr>
              <a:t>Un modelo de 3B rinde ochenta veces más por unidad de capacidad instalada que uno de 31B, aun siendo peor en F1. Como el costo de un falso negativo en el cribado es muy inferior al de un falso positivo confirmado, conviene cribar con el pequeño y validar con el grande. Las cifras económicas son estimaciones: dependen del precio del equipo, su vida útil, la tarifa eléctrica y el volumen realmente procesado.</a:t>
            </a:r>
            <a:endParaRPr lang="en-US" sz="1250" dirty="0"/>
          </a:p>
        </p:txBody>
      </p:sp>
      <p:sp>
        <p:nvSpPr>
          <p:cNvPr id="11"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hip-CAP. 6-7"/>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CAP. 6-7</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Viabilidad operativa y reducción de costos</a:t>
            </a:r>
            <a:endParaRPr lang="en-US" sz="2600" dirty="0"/>
          </a:p>
        </p:txBody>
      </p:sp>
      <p:sp>
        <p:nvSpPr>
          <p:cNvPr id="5" name="Text 0"/>
          <p:cNvSpPr/>
          <p:nvPr>
            <p:ph idx="102" type="body" hasCustomPrompt="1"/>
          </p:nvPr>
        </p:nvSpPr>
        <p:spPr>
          <a:xfrm>
            <a:off x="548640" y="1280160"/>
            <a:ext cx="5257800" cy="3566160"/>
          </a:xfrm>
          <a:prstGeom prst="rect">
            <a:avLst/>
          </a:prstGeom>
          <a:noFill/>
          <a:ln/>
        </p:spPr>
        <p:txBody>
          <a:bodyPr wrap="square" rtlCol="0"/>
          <a:lstStyle/>
          <a:p>
            <a:pPr algn="l" marL="342900" indent="-342900">
              <a:spcAft>
                <a:spcPts val="900"/>
              </a:spcAft>
              <a:buSzPct val="100000"/>
              <a:buChar char="•"/>
            </a:pPr>
            <a:r>
              <a:rPr lang="en-US" sz="1400" dirty="0">
                <a:solidFill>
                  <a:schemeClr val="tx1"/>
                </a:solidFill>
              </a:rPr>
              <a:t>El riesgo de fuga desaparece por construcción: el texto nunca sale de la organización, y con él desaparece la necesidad de acuerdos de tratamiento de datos con terceros.</a:t>
            </a:r>
            <a:endParaRPr lang="en-US" sz="1400" dirty="0"/>
          </a:p>
          <a:p>
            <a:pPr algn="l" marL="342900" indent="-342900">
              <a:spcAft>
                <a:spcPts val="900"/>
              </a:spcAft>
              <a:buSzPct val="100000"/>
              <a:buChar char="•"/>
            </a:pPr>
            <a:r>
              <a:rPr lang="en-US" sz="1400" dirty="0">
                <a:solidFill>
                  <a:schemeClr val="tx1"/>
                </a:solidFill>
              </a:rPr>
              <a:t>El costo unitario por artículo cae un 99,4 % frente a la revisión manual, lo que equivale a una reducción del 60 % al 80 % del costo operativo total, que incluye la supervisión humana.</a:t>
            </a:r>
            <a:endParaRPr lang="en-US" sz="1400" dirty="0"/>
          </a:p>
          <a:p>
            <a:pPr algn="l" marL="342900" indent="-342900">
              <a:spcAft>
                <a:spcPts val="900"/>
              </a:spcAft>
              <a:buSzPct val="100000"/>
              <a:buChar char="•"/>
            </a:pPr>
            <a:r>
              <a:rPr lang="en-US" sz="1400" dirty="0">
                <a:solidFill>
                  <a:schemeClr val="tx1"/>
                </a:solidFill>
              </a:rPr>
              <a:t>Las alucinaciones van de cero, en las variantes alojadas de gemma4:31b, hasta 21,59 % en deepseek-r1:1.5b con recuperación por diccionario; veintiocho de sesenta y un grupos quedan bajo el 1 %.</a:t>
            </a:r>
            <a:endParaRPr lang="en-US" sz="1400" dirty="0"/>
          </a:p>
          <a:p>
            <a:pPr algn="l" marL="342900" indent="-342900">
              <a:spcAft>
                <a:spcPts val="900"/>
              </a:spcAft>
              <a:buSzPct val="100000"/>
              <a:buChar char="•"/>
            </a:pPr>
            <a:r>
              <a:rPr lang="en-US" sz="1400" dirty="0">
                <a:solidFill>
                  <a:schemeClr val="tx1"/>
                </a:solidFill>
              </a:rPr>
              <a:t>El objetivo de mantenerlas bajo el 5 % se cumple en el modelo recomendado, entre 0,00 % y 0,16 %, pero no en el catálogo completo. Por eso los dos modelos pequeños se descartan.</a:t>
            </a:r>
            <a:endParaRPr lang="en-US" sz="1400" dirty="0"/>
          </a:p>
        </p:txBody>
      </p:sp>
      <p:sp>
        <p:nvSpPr>
          <p:cNvPr id="6" name="marco-viabilidad"/>
          <p:cNvSpPr/>
          <p:nvPr/>
        </p:nvSpPr>
        <p:spPr>
          <a:xfrm>
            <a:off x="6172200" y="1188720"/>
            <a:ext cx="5486400" cy="4078224"/>
          </a:xfrm>
          <a:prstGeom prst="roundRect">
            <a:avLst>
              <a:gd name="adj" fmla="val 1121"/>
            </a:avLst>
          </a:prstGeom>
          <a:solidFill>
            <a:srgbClr val="EEF3F9"/>
          </a:solidFill>
          <a:ln w="12700">
            <a:solidFill>
              <a:srgbClr val="EEF3F9"/>
            </a:solidFill>
            <a:prstDash val="solid"/>
          </a:ln>
        </p:spPr>
      </p:sp>
      <p:sp>
        <p:nvSpPr>
          <p:cNvPr id="7" name="Text 5"/>
          <p:cNvSpPr txBox="1"/>
          <p:nvPr/>
        </p:nvSpPr>
        <p:spPr>
          <a:xfrm>
            <a:off x="6446520" y="1389888"/>
            <a:ext cx="4937760" cy="274320"/>
          </a:xfrm>
          <a:prstGeom prst="rect">
            <a:avLst/>
          </a:prstGeom>
          <a:noFill/>
          <a:ln/>
        </p:spPr>
        <p:txBody>
          <a:bodyPr wrap="square" lIns="0" tIns="0" rIns="0" bIns="0" rtlCol="0" anchor="ctr"/>
          <a:lstStyle/>
          <a:p>
            <a:pPr indent="0" marL="0">
              <a:buNone/>
            </a:pPr>
            <a:r>
              <a:rPr lang="en-US" sz="1150" b="1" spc="100" kern="0" dirty="0">
                <a:solidFill>
                  <a:srgbClr val="0C6E6D"/>
                </a:solidFill>
              </a:rPr>
              <a:t>LO QUE SE SOSTIENE, CON SU ALCANCE</a:t>
            </a:r>
            <a:endParaRPr lang="en-US" sz="1150" dirty="0"/>
          </a:p>
        </p:txBody>
      </p:sp>
      <p:sp>
        <p:nvSpPr>
          <p:cNvPr id="8" name="fila-v0"/>
          <p:cNvSpPr/>
          <p:nvPr/>
        </p:nvSpPr>
        <p:spPr>
          <a:xfrm>
            <a:off x="6446520" y="1847088"/>
            <a:ext cx="1417320" cy="365760"/>
          </a:xfrm>
          <a:prstGeom prst="roundRect">
            <a:avLst>
              <a:gd name="adj" fmla="val 12500"/>
            </a:avLst>
          </a:prstGeom>
          <a:solidFill>
            <a:srgbClr val="0C6E6D"/>
          </a:solidFill>
          <a:ln w="12700">
            <a:solidFill>
              <a:srgbClr val="0C6E6D"/>
            </a:solidFill>
            <a:prstDash val="solid"/>
          </a:ln>
        </p:spPr>
      </p:sp>
      <p:sp>
        <p:nvSpPr>
          <p:cNvPr id="9" name="Text 7"/>
          <p:cNvSpPr txBox="1"/>
          <p:nvPr/>
        </p:nvSpPr>
        <p:spPr>
          <a:xfrm>
            <a:off x="6446520" y="1847088"/>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Fuga de datos</a:t>
            </a:r>
            <a:endParaRPr lang="en-US" sz="1000" dirty="0"/>
          </a:p>
        </p:txBody>
      </p:sp>
      <p:sp>
        <p:nvSpPr>
          <p:cNvPr id="10" name="Text 8"/>
          <p:cNvSpPr txBox="1"/>
          <p:nvPr/>
        </p:nvSpPr>
        <p:spPr>
          <a:xfrm>
            <a:off x="8001000" y="1856232"/>
            <a:ext cx="3383280" cy="365760"/>
          </a:xfrm>
          <a:prstGeom prst="rect">
            <a:avLst/>
          </a:prstGeom>
          <a:noFill/>
          <a:ln/>
        </p:spPr>
        <p:txBody>
          <a:bodyPr wrap="square" lIns="0" tIns="0" rIns="0" bIns="0" rtlCol="0" anchor="ctr"/>
          <a:lstStyle/>
          <a:p>
            <a:pPr indent="0" marL="0">
              <a:buNone/>
            </a:pPr>
            <a:r>
              <a:rPr lang="en-US" sz="1050" dirty="0">
                <a:solidFill>
                  <a:schemeClr val="tx1"/>
                </a:solidFill>
              </a:rPr>
              <a:t>Eliminada por construcción: el texto nunca sale</a:t>
            </a:r>
            <a:endParaRPr lang="en-US" sz="1050" dirty="0"/>
          </a:p>
        </p:txBody>
      </p:sp>
      <p:sp>
        <p:nvSpPr>
          <p:cNvPr id="11" name="fila-v1"/>
          <p:cNvSpPr/>
          <p:nvPr/>
        </p:nvSpPr>
        <p:spPr>
          <a:xfrm>
            <a:off x="6446520" y="2414016"/>
            <a:ext cx="1417320" cy="365760"/>
          </a:xfrm>
          <a:prstGeom prst="roundRect">
            <a:avLst>
              <a:gd name="adj" fmla="val 12500"/>
            </a:avLst>
          </a:prstGeom>
          <a:solidFill>
            <a:srgbClr val="0C6E6D"/>
          </a:solidFill>
          <a:ln w="12700">
            <a:solidFill>
              <a:srgbClr val="0C6E6D"/>
            </a:solidFill>
            <a:prstDash val="solid"/>
          </a:ln>
        </p:spPr>
      </p:sp>
      <p:sp>
        <p:nvSpPr>
          <p:cNvPr id="12" name="Text 10"/>
          <p:cNvSpPr txBox="1"/>
          <p:nvPr/>
        </p:nvSpPr>
        <p:spPr>
          <a:xfrm>
            <a:off x="6446520" y="2414016"/>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Costo unitario</a:t>
            </a:r>
            <a:endParaRPr lang="en-US" sz="1000" dirty="0"/>
          </a:p>
        </p:txBody>
      </p:sp>
      <p:sp>
        <p:nvSpPr>
          <p:cNvPr id="13" name="Text 11"/>
          <p:cNvSpPr txBox="1"/>
          <p:nvPr/>
        </p:nvSpPr>
        <p:spPr>
          <a:xfrm>
            <a:off x="8001000" y="2423160"/>
            <a:ext cx="3383280" cy="365760"/>
          </a:xfrm>
          <a:prstGeom prst="rect">
            <a:avLst/>
          </a:prstGeom>
          <a:noFill/>
          <a:ln/>
        </p:spPr>
        <p:txBody>
          <a:bodyPr wrap="square" lIns="0" tIns="0" rIns="0" bIns="0" rtlCol="0" anchor="ctr"/>
          <a:lstStyle/>
          <a:p>
            <a:pPr indent="0" marL="0">
              <a:buNone/>
            </a:pPr>
            <a:r>
              <a:rPr lang="en-US" sz="1050" dirty="0">
                <a:solidFill>
                  <a:schemeClr val="tx1"/>
                </a:solidFill>
              </a:rPr>
              <a:t>−99,4 % estimado frente a la revisión manual</a:t>
            </a:r>
            <a:endParaRPr lang="en-US" sz="1050" dirty="0"/>
          </a:p>
        </p:txBody>
      </p:sp>
      <p:sp>
        <p:nvSpPr>
          <p:cNvPr id="14" name="fila-v2"/>
          <p:cNvSpPr/>
          <p:nvPr/>
        </p:nvSpPr>
        <p:spPr>
          <a:xfrm>
            <a:off x="6446520" y="2980944"/>
            <a:ext cx="1417320" cy="365760"/>
          </a:xfrm>
          <a:prstGeom prst="roundRect">
            <a:avLst>
              <a:gd name="adj" fmla="val 12500"/>
            </a:avLst>
          </a:prstGeom>
          <a:solidFill>
            <a:srgbClr val="2A9D8F"/>
          </a:solidFill>
          <a:ln w="12700">
            <a:solidFill>
              <a:srgbClr val="2A9D8F"/>
            </a:solidFill>
            <a:prstDash val="solid"/>
          </a:ln>
        </p:spPr>
      </p:sp>
      <p:sp>
        <p:nvSpPr>
          <p:cNvPr id="15" name="Text 13"/>
          <p:cNvSpPr txBox="1"/>
          <p:nvPr/>
        </p:nvSpPr>
        <p:spPr>
          <a:xfrm>
            <a:off x="6446520" y="2980944"/>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Alucinación</a:t>
            </a:r>
            <a:endParaRPr lang="en-US" sz="1000" dirty="0"/>
          </a:p>
        </p:txBody>
      </p:sp>
      <p:sp>
        <p:nvSpPr>
          <p:cNvPr id="16" name="Text 14"/>
          <p:cNvSpPr txBox="1"/>
          <p:nvPr/>
        </p:nvSpPr>
        <p:spPr>
          <a:xfrm>
            <a:off x="8001000" y="2990088"/>
            <a:ext cx="3383280" cy="365760"/>
          </a:xfrm>
          <a:prstGeom prst="rect">
            <a:avLst/>
          </a:prstGeom>
          <a:noFill/>
          <a:ln/>
        </p:spPr>
        <p:txBody>
          <a:bodyPr wrap="square" lIns="0" tIns="0" rIns="0" bIns="0" rtlCol="0" anchor="ctr"/>
          <a:lstStyle/>
          <a:p>
            <a:pPr indent="0" marL="0">
              <a:buNone/>
            </a:pPr>
            <a:r>
              <a:rPr lang="en-US" sz="1050" dirty="0">
                <a:solidFill>
                  <a:schemeClr val="tx1"/>
                </a:solidFill>
              </a:rPr>
              <a:t>Cero en las variantes alojadas de gemma4:31b</a:t>
            </a:r>
            <a:endParaRPr lang="en-US" sz="1050" dirty="0"/>
          </a:p>
        </p:txBody>
      </p:sp>
      <p:sp>
        <p:nvSpPr>
          <p:cNvPr id="17" name="fila-v3"/>
          <p:cNvSpPr/>
          <p:nvPr/>
        </p:nvSpPr>
        <p:spPr>
          <a:xfrm>
            <a:off x="6446520" y="3547872"/>
            <a:ext cx="1417320" cy="365760"/>
          </a:xfrm>
          <a:prstGeom prst="roundRect">
            <a:avLst>
              <a:gd name="adj" fmla="val 12500"/>
            </a:avLst>
          </a:prstGeom>
          <a:solidFill>
            <a:srgbClr val="51708D"/>
          </a:solidFill>
          <a:ln w="12700">
            <a:solidFill>
              <a:srgbClr val="51708D"/>
            </a:solidFill>
            <a:prstDash val="solid"/>
          </a:ln>
        </p:spPr>
      </p:sp>
      <p:sp>
        <p:nvSpPr>
          <p:cNvPr id="18" name="Text 16"/>
          <p:cNvSpPr txBox="1"/>
          <p:nvPr/>
        </p:nvSpPr>
        <p:spPr>
          <a:xfrm>
            <a:off x="6446520" y="3547872"/>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Alcance</a:t>
            </a:r>
            <a:endParaRPr lang="en-US" sz="1000" dirty="0"/>
          </a:p>
        </p:txBody>
      </p:sp>
      <p:sp>
        <p:nvSpPr>
          <p:cNvPr id="19" name="Text 17"/>
          <p:cNvSpPr txBox="1"/>
          <p:nvPr/>
        </p:nvSpPr>
        <p:spPr>
          <a:xfrm>
            <a:off x="8001000" y="3557016"/>
            <a:ext cx="3383280" cy="365760"/>
          </a:xfrm>
          <a:prstGeom prst="rect">
            <a:avLst/>
          </a:prstGeom>
          <a:noFill/>
          <a:ln/>
        </p:spPr>
        <p:txBody>
          <a:bodyPr wrap="square" lIns="0" tIns="0" rIns="0" bIns="0" rtlCol="0" anchor="ctr"/>
          <a:lstStyle/>
          <a:p>
            <a:pPr indent="0" marL="0">
              <a:buNone/>
            </a:pPr>
            <a:r>
              <a:rPr lang="en-US" sz="1050" dirty="0">
                <a:solidFill>
                  <a:schemeClr val="tx1"/>
                </a:solidFill>
              </a:rPr>
              <a:t>28 de 61 grupos medidos quedan por debajo del 1 %</a:t>
            </a:r>
            <a:endParaRPr lang="en-US" sz="1050" dirty="0"/>
          </a:p>
        </p:txBody>
      </p:sp>
      <p:sp>
        <p:nvSpPr>
          <p:cNvPr id="20" name="fila-v4"/>
          <p:cNvSpPr/>
          <p:nvPr/>
        </p:nvSpPr>
        <p:spPr>
          <a:xfrm>
            <a:off x="6446520" y="4114800"/>
            <a:ext cx="1417320" cy="365760"/>
          </a:xfrm>
          <a:prstGeom prst="roundRect">
            <a:avLst>
              <a:gd name="adj" fmla="val 12500"/>
            </a:avLst>
          </a:prstGeom>
          <a:solidFill>
            <a:srgbClr val="C1292E"/>
          </a:solidFill>
          <a:ln w="12700">
            <a:solidFill>
              <a:srgbClr val="C1292E"/>
            </a:solidFill>
            <a:prstDash val="solid"/>
          </a:ln>
        </p:spPr>
      </p:sp>
      <p:sp>
        <p:nvSpPr>
          <p:cNvPr id="21" name="Text 19"/>
          <p:cNvSpPr txBox="1"/>
          <p:nvPr/>
        </p:nvSpPr>
        <p:spPr>
          <a:xfrm>
            <a:off x="6446520" y="4114800"/>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rPr>
              <a:t>Límite</a:t>
            </a:r>
            <a:endParaRPr lang="en-US" sz="1000" dirty="0"/>
          </a:p>
        </p:txBody>
      </p:sp>
      <p:sp>
        <p:nvSpPr>
          <p:cNvPr id="22" name="Text 20"/>
          <p:cNvSpPr txBox="1"/>
          <p:nvPr/>
        </p:nvSpPr>
        <p:spPr>
          <a:xfrm>
            <a:off x="8001000" y="4123944"/>
            <a:ext cx="3383280" cy="365760"/>
          </a:xfrm>
          <a:prstGeom prst="rect">
            <a:avLst/>
          </a:prstGeom>
          <a:noFill/>
          <a:ln/>
        </p:spPr>
        <p:txBody>
          <a:bodyPr wrap="square" lIns="0" tIns="0" rIns="0" bIns="0" rtlCol="0" anchor="ctr"/>
          <a:lstStyle/>
          <a:p>
            <a:pPr indent="0" marL="0">
              <a:buNone/>
            </a:pPr>
            <a:r>
              <a:rPr lang="en-US" sz="1050" dirty="0">
                <a:solidFill>
                  <a:schemeClr val="tx1"/>
                </a:solidFill>
              </a:rPr>
              <a:t>Hasta 21,59 % en deepseek-r1:1.5b con diccionario</a:t>
            </a:r>
            <a:endParaRPr lang="en-US" sz="1050" dirty="0"/>
          </a:p>
        </p:txBody>
      </p:sp>
      <p:sp>
        <p:nvSpPr>
          <p:cNvPr id="23" name="Text 21"/>
          <p:cNvSpPr txBox="1"/>
          <p:nvPr/>
        </p:nvSpPr>
        <p:spPr>
          <a:xfrm>
            <a:off x="6446520" y="4663440"/>
            <a:ext cx="4937760" cy="457200"/>
          </a:xfrm>
          <a:prstGeom prst="rect">
            <a:avLst/>
          </a:prstGeom>
          <a:noFill/>
          <a:ln/>
        </p:spPr>
        <p:txBody>
          <a:bodyPr wrap="square" lIns="0" tIns="0" rIns="0" bIns="0" rtlCol="0" anchor="ctr"/>
          <a:lstStyle/>
          <a:p>
            <a:pPr indent="0" marL="0">
              <a:buNone/>
            </a:pPr>
            <a:r>
              <a:rPr lang="en-US" sz="1050" i="1" dirty="0">
                <a:solidFill>
                  <a:srgbClr val="51708D"/>
                </a:solidFill>
              </a:rPr>
              <a:t>El problema se concentra en los dos modelos más pequeños: en los de mayor capacidad la instrucción de ceñirse al artículo funciona.</a:t>
            </a:r>
            <a:endParaRPr lang="en-US" sz="1050" dirty="0"/>
          </a:p>
        </p:txBody>
      </p:sp>
      <p:sp>
        <p:nvSpPr>
          <p:cNvPr id="24" name="dato-−99,4 %"/>
          <p:cNvSpPr/>
          <p:nvPr/>
        </p:nvSpPr>
        <p:spPr>
          <a:xfrm>
            <a:off x="548640" y="4983480"/>
            <a:ext cx="2528316" cy="1051560"/>
          </a:xfrm>
          <a:prstGeom prst="roundRect">
            <a:avLst>
              <a:gd name="adj" fmla="val 5217"/>
            </a:avLst>
          </a:prstGeom>
          <a:solidFill>
            <a:srgbClr val="EEF3F9"/>
          </a:solidFill>
          <a:ln w="12700">
            <a:solidFill>
              <a:srgbClr val="EEF3F9"/>
            </a:solidFill>
            <a:prstDash val="solid"/>
          </a:ln>
        </p:spPr>
      </p:sp>
      <p:sp>
        <p:nvSpPr>
          <p:cNvPr id="25" name="Text 23"/>
          <p:cNvSpPr txBox="1"/>
          <p:nvPr/>
        </p:nvSpPr>
        <p:spPr>
          <a:xfrm>
            <a:off x="694944"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−99,4 %</a:t>
            </a:r>
            <a:endParaRPr lang="en-US" sz="2400" dirty="0"/>
          </a:p>
        </p:txBody>
      </p:sp>
      <p:sp>
        <p:nvSpPr>
          <p:cNvPr id="26" name="Text 24"/>
          <p:cNvSpPr txBox="1"/>
          <p:nvPr/>
        </p:nvSpPr>
        <p:spPr>
          <a:xfrm>
            <a:off x="694944"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costo unitario, estimación declarada</a:t>
            </a:r>
            <a:endParaRPr lang="en-US" sz="1050" dirty="0"/>
          </a:p>
        </p:txBody>
      </p:sp>
      <p:sp>
        <p:nvSpPr>
          <p:cNvPr id="27" name="dato-28 de 61"/>
          <p:cNvSpPr/>
          <p:nvPr/>
        </p:nvSpPr>
        <p:spPr>
          <a:xfrm>
            <a:off x="3278124" y="4983480"/>
            <a:ext cx="2528316" cy="1051560"/>
          </a:xfrm>
          <a:prstGeom prst="roundRect">
            <a:avLst>
              <a:gd name="adj" fmla="val 5217"/>
            </a:avLst>
          </a:prstGeom>
          <a:solidFill>
            <a:srgbClr val="EEF3F9"/>
          </a:solidFill>
          <a:ln w="12700">
            <a:solidFill>
              <a:srgbClr val="EEF3F9"/>
            </a:solidFill>
            <a:prstDash val="solid"/>
          </a:ln>
        </p:spPr>
      </p:sp>
      <p:sp>
        <p:nvSpPr>
          <p:cNvPr id="28" name="Text 26"/>
          <p:cNvSpPr txBox="1"/>
          <p:nvPr/>
        </p:nvSpPr>
        <p:spPr>
          <a:xfrm>
            <a:off x="3424428" y="5065776"/>
            <a:ext cx="2235708" cy="457200"/>
          </a:xfrm>
          <a:prstGeom prst="rect">
            <a:avLst/>
          </a:prstGeom>
          <a:noFill/>
          <a:ln/>
        </p:spPr>
        <p:txBody>
          <a:bodyPr wrap="square" lIns="0" tIns="0" rIns="0" bIns="0" rtlCol="0" anchor="ctr"/>
          <a:lstStyle/>
          <a:p>
            <a:pPr indent="0" marL="0">
              <a:buNone/>
            </a:pPr>
            <a:r>
              <a:rPr lang="en-US" sz="2400" b="1" dirty="0">
                <a:solidFill>
                  <a:srgbClr val="0C6E6D"/>
                </a:solidFill>
              </a:rPr>
              <a:t>28 de 61</a:t>
            </a:r>
            <a:endParaRPr lang="en-US" sz="2400" dirty="0"/>
          </a:p>
        </p:txBody>
      </p:sp>
      <p:sp>
        <p:nvSpPr>
          <p:cNvPr id="29" name="Text 27"/>
          <p:cNvSpPr txBox="1"/>
          <p:nvPr/>
        </p:nvSpPr>
        <p:spPr>
          <a:xfrm>
            <a:off x="3424428" y="5513832"/>
            <a:ext cx="2235708" cy="457200"/>
          </a:xfrm>
          <a:prstGeom prst="rect">
            <a:avLst/>
          </a:prstGeom>
          <a:noFill/>
          <a:ln/>
        </p:spPr>
        <p:txBody>
          <a:bodyPr wrap="square" lIns="0" tIns="0" rIns="0" bIns="0" rtlCol="0" anchor="ctr"/>
          <a:lstStyle/>
          <a:p>
            <a:pPr indent="0" marL="0">
              <a:buNone/>
            </a:pPr>
            <a:r>
              <a:rPr lang="en-US" sz="1050" dirty="0">
                <a:solidFill>
                  <a:srgbClr val="51708D"/>
                </a:solidFill>
              </a:rPr>
              <a:t>grupos bajo el 1 % de alucinación</a:t>
            </a:r>
            <a:endParaRPr lang="en-US" sz="1050" dirty="0"/>
          </a:p>
        </p:txBody>
      </p:sp>
      <p:sp>
        <p:nvSpPr>
          <p:cNvPr id="31" name="Text 0"/>
          <p:cNvSpPr/>
          <p:nvPr>
            <p:ph idx="103" hasCustomPrompt="1"/>
          </p:nvPr>
        </p:nvSpPr>
        <p:spPr>
          <a:xfrm>
            <a:off x="6172200" y="1188720"/>
            <a:ext cx="5486400" cy="4078224"/>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chip-RIGOR"/>
          <p:cNvSpPr/>
          <p:nvPr/>
        </p:nvSpPr>
        <p:spPr>
          <a:xfrm>
            <a:off x="548640" y="384048"/>
            <a:ext cx="1188720" cy="384048"/>
          </a:xfrm>
          <a:prstGeom prst="roundRect">
            <a:avLst>
              <a:gd name="adj" fmla="val 19048"/>
            </a:avLst>
          </a:prstGeom>
          <a:solidFill>
            <a:srgbClr val="0C6E6D"/>
          </a:solidFill>
          <a:ln w="12700">
            <a:solidFill>
              <a:srgbClr val="0C6E6D"/>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chemeClr val="bg1"/>
                </a:solidFill>
              </a:rPr>
              <a:t>RIGOR</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tx1"/>
                </a:solidFill>
              </a:rPr>
              <a:t>Limitaciones declaradas, y qué cambia cada una</a:t>
            </a:r>
            <a:endParaRPr lang="en-US" sz="2600" dirty="0"/>
          </a:p>
        </p:txBody>
      </p:sp>
      <p:graphicFrame>
        <p:nvGraphicFramePr>
          <p:cNvPr id="29" name="limitacione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4572000"/>
                <a:gridCol w="4297680"/>
              </a:tblGrid>
              <a:tr h="512064">
                <a:tc>
                  <a:txBody>
                    <a:bodyPr/>
                    <a:lstStyle/>
                    <a:p>
                      <a:pPr algn="ctr" indent="0" marL="0">
                        <a:buNone/>
                      </a:pPr>
                      <a:r>
                        <a:rPr lang="en-US" sz="1150" b="1" dirty="0">
                          <a:solidFill>
                            <a:srgbClr val="FFFFFF"/>
                          </a:solidFill>
                        </a:rPr>
                        <a:t>Limitación</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En qué consiste</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rPr>
                        <a:t>Qué implica para la lectura de los resultados</a:t>
                      </a:r>
                      <a:endParaRPr lang="en-US" sz="11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1E2761"/>
                    </a:solidFill>
                  </a:tcPr>
                </a:tc>
              </a:tr>
              <a:tr h="512064">
                <a:tc>
                  <a:txBody>
                    <a:bodyPr/>
                    <a:lstStyle/>
                    <a:p>
                      <a:pPr algn="l" indent="0" marL="0">
                        <a:buNone/>
                      </a:pPr>
                      <a:r>
                        <a:rPr lang="en-US" sz="1050" b="1" dirty="0">
                          <a:solidFill>
                            <a:schemeClr val="tx1"/>
                          </a:solidFill>
                        </a:rPr>
                        <a:t>Fuga de ejemplares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En el modo combinado, el 94 % de los ejemplares recuperados procede de otro artículo del propio corpus de evaluación.</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La mejora del RAG contextual no puede descartarse como beneficio parcial de esa fuga.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512064">
                <a:tc>
                  <a:txBody>
                    <a:bodyPr/>
                    <a:lstStyle/>
                    <a:p>
                      <a:pPr algn="l" indent="0" marL="0">
                        <a:buNone/>
                      </a:pPr>
                      <a:r>
                        <a:rPr lang="en-US" sz="1050" b="1" dirty="0">
                          <a:solidFill>
                            <a:schemeClr val="tx1"/>
                          </a:solidFill>
                        </a:rPr>
                        <a:t>Observaciones apareadas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Los veintiséis grupos evalúan los mismos 113 artículos, de modo que las observaciones no son independientes.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El ANOVA resulta conservador; el contraste se repite con Friedman y el rechazo se sostiene.</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512064">
                <a:tc>
                  <a:txBody>
                    <a:bodyPr/>
                    <a:lstStyle/>
                    <a:p>
                      <a:pPr algn="l" indent="0" marL="0">
                        <a:buNone/>
                      </a:pPr>
                      <a:r>
                        <a:rPr lang="en-US" sz="1050" b="1" dirty="0">
                          <a:solidFill>
                            <a:schemeClr val="tx1"/>
                          </a:solidFill>
                        </a:rPr>
                        <a:t>Cifras económicas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Tanto los USD 8,75 de la revisión manual como los USD 0,052 del sistema son estimaciones internas, no mediciones.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El ahorro real depende de cuánto se reduzca el volumen que llega a revisión humana.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512064">
                <a:tc>
                  <a:txBody>
                    <a:bodyPr/>
                    <a:lstStyle/>
                    <a:p>
                      <a:pPr algn="l" indent="0" marL="0">
                        <a:buNone/>
                      </a:pPr>
                      <a:r>
                        <a:rPr lang="en-US" sz="1050" b="1" dirty="0">
                          <a:solidFill>
                            <a:schemeClr val="tx1"/>
                          </a:solidFill>
                        </a:rPr>
                        <a:t>Latencia no comparable</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Es reloj de pared bajo concurrencia variable, no tiempo de inferencia.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No se usa para comparar modelos; se compara el índice Tok/s/B.</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512064">
                <a:tc>
                  <a:txBody>
                    <a:bodyPr/>
                    <a:lstStyle/>
                    <a:p>
                      <a:pPr algn="l" indent="0" marL="0">
                        <a:buNone/>
                      </a:pPr>
                      <a:r>
                        <a:rPr lang="en-US" sz="1050" b="1" dirty="0">
                          <a:solidFill>
                            <a:schemeClr val="tx1"/>
                          </a:solidFill>
                        </a:rPr>
                        <a:t>Potencia del corpus N=30</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Con treinta artículos por grupo, la potencia frente al efecto observado es del 8 %.</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Los datos no permiten distinguir ambas compilaciones; no acreditan que sean iguales.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r h="512064">
                <a:tc>
                  <a:txBody>
                    <a:bodyPr/>
                    <a:lstStyle/>
                    <a:p>
                      <a:pPr algn="l" indent="0" marL="0">
                        <a:buNone/>
                      </a:pPr>
                      <a:r>
                        <a:rPr lang="en-US" sz="1050" b="1" dirty="0">
                          <a:solidFill>
                            <a:schemeClr val="tx1"/>
                          </a:solidFill>
                        </a:rPr>
                        <a:t>Categoría de localizaciones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El prompt la solicita en los tres corpus, pero la anotación de referencia quedó vacía por un defecto ya corregido de la preparación de datos.</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rPr>
                        <a:t>Parte de la confusión de tipo medida proviene de ahí, no del modelo.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FFFFFF"/>
                    </a:solidFill>
                  </a:tcPr>
                </a:tc>
              </a:tr>
              <a:tr h="512064">
                <a:tc>
                  <a:txBody>
                    <a:bodyPr/>
                    <a:lstStyle/>
                    <a:p>
                      <a:pPr algn="l" indent="0" marL="0">
                        <a:buNone/>
                      </a:pPr>
                      <a:r>
                        <a:rPr lang="en-US" sz="1050" b="1" dirty="0">
                          <a:solidFill>
                            <a:schemeClr val="tx1"/>
                          </a:solidFill>
                        </a:rPr>
                        <a:t>Alcance del controlador</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El AIMD reacciona a límites de tasa y a rachas de error, pero no recibe telemetría de memoria.</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c>
                  <a:txBody>
                    <a:bodyPr/>
                    <a:lstStyle/>
                    <a:p>
                      <a:pPr algn="ctr" indent="0" marL="0">
                        <a:buNone/>
                      </a:pPr>
                      <a:r>
                        <a:rPr lang="en-US" sz="1050" dirty="0">
                          <a:solidFill>
                            <a:schemeClr val="tx1"/>
                          </a:solidFill>
                        </a:rPr>
                        <a:t>No previene el agotamiento de memoria: eso se contiene ejecutando un modelo por turno.</a:t>
                      </a:r>
                      <a:endParaRPr lang="en-US" sz="1050" dirty="0"/>
                    </a:p>
                  </a:txBody>
                  <a:tcPr marL="63500" marR="63500" marT="25400" marB="25400" anchor="ctr">
                    <a:lnL w="6350" cap="flat" cmpd="sng" algn="ctr">
                      <a:solidFill>
                        <a:srgbClr val="D6DFE9"/>
                      </a:solidFill>
                      <a:prstDash val="solid"/>
                      <a:round/>
                      <a:headEnd type="none" w="med" len="med"/>
                      <a:tailEnd type="none" w="med" len="med"/>
                    </a:lnL>
                    <a:lnR w="6350" cap="flat" cmpd="sng" algn="ctr">
                      <a:solidFill>
                        <a:srgbClr val="D6DFE9"/>
                      </a:solidFill>
                      <a:prstDash val="solid"/>
                      <a:round/>
                      <a:headEnd type="none" w="med" len="med"/>
                      <a:tailEnd type="none" w="med" len="med"/>
                    </a:lnR>
                    <a:lnT w="6350" cap="flat" cmpd="sng" algn="ctr">
                      <a:solidFill>
                        <a:srgbClr val="D6DFE9"/>
                      </a:solidFill>
                      <a:prstDash val="solid"/>
                      <a:round/>
                      <a:headEnd type="none" w="med" len="med"/>
                      <a:tailEnd type="none" w="med" len="med"/>
                    </a:lnT>
                    <a:lnB w="6350" cap="flat" cmpd="sng" algn="ctr">
                      <a:solidFill>
                        <a:srgbClr val="D6DFE9"/>
                      </a:solidFill>
                      <a:prstDash val="solid"/>
                      <a:round/>
                      <a:headEnd type="none" w="med" len="med"/>
                      <a:tailEnd type="none" w="med" len="med"/>
                    </a:lnB>
                    <a:solidFill>
                      <a:srgbClr val="EEF3F9"/>
                    </a:solidFill>
                  </a:tcPr>
                </a:tc>
              </a:tr>
            </a:tbl>
          </a:graphicData>
        </a:graphic>
      </p:graphicFrame>
      <p:sp>
        <p:nvSpPr>
          <p:cNvPr id="6" name="Text 3"/>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050" i="1" dirty="0">
                <a:solidFill>
                  <a:srgbClr val="51708D"/>
                </a:solidFill>
              </a:rPr>
              <a:t>Ninguna de estas limitaciones se descubrió en la revisión: todas están declaradas en el propio informe, con el apartado donde se discuten.</a:t>
            </a:r>
            <a:endParaRPr lang="en-US" sz="1050" dirty="0"/>
          </a:p>
        </p:txBody>
      </p:sp>
      <p:sp>
        <p:nvSpPr>
          <p:cNvPr id="8" name="Text 0"/>
          <p:cNvSpPr/>
          <p:nvPr>
            <p:ph idx="102" type="body" hasCustomPrompt="1"/>
          </p:nvPr>
        </p:nvSpPr>
        <p:spPr>
          <a:xfrm>
            <a:off x="548640" y="1188720"/>
            <a:ext cx="11064240" cy="4937760"/>
          </a:xfrm>
          <a:prstGeom prst="rect">
            <a:avLst/>
          </a:prstGeom>
          <a:noFill/>
          <a:ln/>
        </p:spPr>
        <p:txBody>
          <a:bodyPr wrap="square" rtlCol="0"/>
          <a:lstStyle/>
          <a:p>
            <a:pPr algn="l" indent="0" marL="0">
              <a:buNone/>
            </a:pP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1708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chip-CIERRE"/>
          <p:cNvSpPr/>
          <p:nvPr/>
        </p:nvSpPr>
        <p:spPr>
          <a:xfrm>
            <a:off x="548640" y="384048"/>
            <a:ext cx="1188720" cy="384048"/>
          </a:xfrm>
          <a:prstGeom prst="roundRect">
            <a:avLst>
              <a:gd name="adj" fmla="val 19048"/>
            </a:avLst>
          </a:prstGeom>
          <a:solidFill>
            <a:srgbClr val="2A9D8F"/>
          </a:solidFill>
          <a:ln w="12700">
            <a:solidFill>
              <a:srgbClr val="2A9D8F"/>
            </a:solidFill>
            <a:prstDash val="solid"/>
          </a:ln>
        </p:spPr>
      </p:sp>
      <p:sp>
        <p:nvSpPr>
          <p:cNvPr id="3" name="Text 0"/>
          <p:cNvSpPr/>
          <p:nvPr>
            <p:ph idx="100" type="body" hasCustomPrompt="1"/>
          </p:nvPr>
        </p:nvSpPr>
        <p:spPr>
          <a:xfrm>
            <a:off x="548640" y="384048"/>
            <a:ext cx="1188720" cy="384048"/>
          </a:xfrm>
          <a:prstGeom prst="rect">
            <a:avLst/>
          </a:prstGeom>
          <a:noFill/>
          <a:ln/>
        </p:spPr>
        <p:txBody>
          <a:bodyPr wrap="square" rtlCol="0" anchor="ctr"/>
          <a:lstStyle/>
          <a:p>
            <a:pPr algn="ctr" indent="0" marL="0">
              <a:buNone/>
            </a:pPr>
            <a:r>
              <a:rPr lang="en-US" sz="1200" b="1" dirty="0">
                <a:solidFill>
                  <a:srgbClr val="0F1C3F"/>
                </a:solidFill>
              </a:rPr>
              <a:t>CIERRE</a:t>
            </a:r>
            <a:endParaRPr lang="en-US" sz="1200" dirty="0"/>
          </a:p>
        </p:txBody>
      </p:sp>
      <p:sp>
        <p:nvSpPr>
          <p:cNvPr id="4" name="Text 0"/>
          <p:cNvSpPr/>
          <p:nvPr>
            <p:ph idx="101" type="title" hasCustomPrompt="1"/>
          </p:nvPr>
        </p:nvSpPr>
        <p:spPr>
          <a:xfrm>
            <a:off x="1874520" y="310896"/>
            <a:ext cx="9738360" cy="658368"/>
          </a:xfrm>
          <a:prstGeom prst="rect">
            <a:avLst/>
          </a:prstGeom>
          <a:noFill/>
          <a:ln/>
        </p:spPr>
        <p:txBody>
          <a:bodyPr wrap="square" rtlCol="0" anchor="ctr"/>
          <a:lstStyle/>
          <a:p>
            <a:pPr algn="l" indent="0" marL="0">
              <a:buNone/>
            </a:pPr>
            <a:r>
              <a:rPr lang="en-US" sz="2600" b="1" dirty="0">
                <a:solidFill>
                  <a:schemeClr val="bg1"/>
                </a:solidFill>
              </a:rPr>
              <a:t>Lo que queda demostrado, y lo que viene</a:t>
            </a:r>
            <a:endParaRPr lang="en-US" sz="2600" dirty="0"/>
          </a:p>
        </p:txBody>
      </p:sp>
      <p:sp>
        <p:nvSpPr>
          <p:cNvPr id="5" name="Text 0"/>
          <p:cNvSpPr/>
          <p:nvPr>
            <p:ph idx="102" type="body" hasCustomPrompt="1"/>
          </p:nvPr>
        </p:nvSpPr>
        <p:spPr>
          <a:xfrm>
            <a:off x="548640" y="1280160"/>
            <a:ext cx="11064240" cy="1737360"/>
          </a:xfrm>
          <a:prstGeom prst="rect">
            <a:avLst/>
          </a:prstGeom>
          <a:noFill/>
          <a:ln/>
        </p:spPr>
        <p:txBody>
          <a:bodyPr wrap="square" rtlCol="0"/>
          <a:lstStyle/>
          <a:p>
            <a:pPr algn="l" indent="0" marL="0">
              <a:buNone/>
            </a:pPr>
            <a:r>
              <a:rPr lang="en-US" sz="1400" dirty="0">
                <a:solidFill>
                  <a:srgbClr val="EEF3F9"/>
                </a:solidFill>
              </a:rPr>
              <a:t>Arquitectura propuesta para producción, en dos niveles: llama3.2 de 3B filtra el flujo masivo a alta velocidad y descarta los falsos positivos evidentes; gemma4:31b-mlx analiza en profundidad solo los casos sospechosos, con máxima precisión y sin fuga de datos.</a:t>
            </a:r>
            <a:endParaRPr lang="en-US" sz="1400" dirty="0"/>
          </a:p>
        </p:txBody>
      </p:sp>
      <p:sp>
        <p:nvSpPr>
          <p:cNvPr id="6" name="fase-0"/>
          <p:cNvSpPr/>
          <p:nvPr/>
        </p:nvSpPr>
        <p:spPr>
          <a:xfrm>
            <a:off x="548640" y="2606040"/>
            <a:ext cx="1005840" cy="384048"/>
          </a:xfrm>
          <a:prstGeom prst="roundRect">
            <a:avLst>
              <a:gd name="adj" fmla="val 14286"/>
            </a:avLst>
          </a:prstGeom>
          <a:solidFill>
            <a:srgbClr val="2A9D8F"/>
          </a:solidFill>
          <a:ln w="12700">
            <a:solidFill>
              <a:srgbClr val="333333"/>
            </a:solidFill>
            <a:prstDash val="solid"/>
          </a:ln>
        </p:spPr>
      </p:sp>
      <p:sp>
        <p:nvSpPr>
          <p:cNvPr id="7" name="Text 5"/>
          <p:cNvSpPr txBox="1"/>
          <p:nvPr/>
        </p:nvSpPr>
        <p:spPr>
          <a:xfrm>
            <a:off x="548640" y="2606040"/>
            <a:ext cx="1005840" cy="384048"/>
          </a:xfrm>
          <a:prstGeom prst="rect">
            <a:avLst/>
          </a:prstGeom>
          <a:noFill/>
          <a:ln/>
        </p:spPr>
        <p:txBody>
          <a:bodyPr wrap="square" lIns="0" tIns="0" rIns="0" bIns="0" rtlCol="0" anchor="ctr"/>
          <a:lstStyle/>
          <a:p>
            <a:pPr algn="ctr" indent="0" marL="0">
              <a:buNone/>
            </a:pPr>
            <a:r>
              <a:rPr lang="en-US" sz="1100" b="1" dirty="0">
                <a:solidFill>
                  <a:srgbClr val="0F1C3F"/>
                </a:solidFill>
              </a:rPr>
              <a:t>Fase 1</a:t>
            </a:r>
            <a:endParaRPr lang="en-US" sz="1100" dirty="0"/>
          </a:p>
        </p:txBody>
      </p:sp>
      <p:sp>
        <p:nvSpPr>
          <p:cNvPr id="8" name="Text 6"/>
          <p:cNvSpPr txBox="1"/>
          <p:nvPr/>
        </p:nvSpPr>
        <p:spPr>
          <a:xfrm>
            <a:off x="1691640" y="2624328"/>
            <a:ext cx="9921240" cy="365760"/>
          </a:xfrm>
          <a:prstGeom prst="rect">
            <a:avLst/>
          </a:prstGeom>
          <a:noFill/>
          <a:ln/>
        </p:spPr>
        <p:txBody>
          <a:bodyPr wrap="square" lIns="0" tIns="0" rIns="0" bIns="0" rtlCol="0" anchor="ctr"/>
          <a:lstStyle/>
          <a:p>
            <a:pPr indent="0" marL="0">
              <a:buNone/>
            </a:pPr>
            <a:r>
              <a:rPr lang="en-US" sz="1250" dirty="0">
                <a:solidFill>
                  <a:srgbClr val="EEF3F9"/>
                </a:solidFill>
              </a:rPr>
              <a:t>Ampliar la base de conocimientos de 5 a más de 10 dominios del ecosistema AML latinoamericano: UAF chilena, resoluciones de la CMF y sanciones OFAC en español</a:t>
            </a:r>
            <a:endParaRPr lang="en-US" sz="1250" dirty="0"/>
          </a:p>
        </p:txBody>
      </p:sp>
      <p:sp>
        <p:nvSpPr>
          <p:cNvPr id="9" name="fase-1"/>
          <p:cNvSpPr/>
          <p:nvPr/>
        </p:nvSpPr>
        <p:spPr>
          <a:xfrm>
            <a:off x="548640" y="3209544"/>
            <a:ext cx="1005840" cy="384048"/>
          </a:xfrm>
          <a:prstGeom prst="roundRect">
            <a:avLst>
              <a:gd name="adj" fmla="val 14286"/>
            </a:avLst>
          </a:prstGeom>
          <a:solidFill>
            <a:srgbClr val="2A9D8F"/>
          </a:solidFill>
          <a:ln w="12700">
            <a:solidFill>
              <a:srgbClr val="333333"/>
            </a:solidFill>
            <a:prstDash val="solid"/>
          </a:ln>
        </p:spPr>
      </p:sp>
      <p:sp>
        <p:nvSpPr>
          <p:cNvPr id="10" name="Text 8"/>
          <p:cNvSpPr txBox="1"/>
          <p:nvPr/>
        </p:nvSpPr>
        <p:spPr>
          <a:xfrm>
            <a:off x="548640" y="3209544"/>
            <a:ext cx="1005840" cy="384048"/>
          </a:xfrm>
          <a:prstGeom prst="rect">
            <a:avLst/>
          </a:prstGeom>
          <a:noFill/>
          <a:ln/>
        </p:spPr>
        <p:txBody>
          <a:bodyPr wrap="square" lIns="0" tIns="0" rIns="0" bIns="0" rtlCol="0" anchor="ctr"/>
          <a:lstStyle/>
          <a:p>
            <a:pPr algn="ctr" indent="0" marL="0">
              <a:buNone/>
            </a:pPr>
            <a:r>
              <a:rPr lang="en-US" sz="1100" b="1" dirty="0">
                <a:solidFill>
                  <a:srgbClr val="0F1C3F"/>
                </a:solidFill>
              </a:rPr>
              <a:t>Fase 2</a:t>
            </a:r>
            <a:endParaRPr lang="en-US" sz="1100" dirty="0"/>
          </a:p>
        </p:txBody>
      </p:sp>
      <p:sp>
        <p:nvSpPr>
          <p:cNvPr id="11" name="Text 9"/>
          <p:cNvSpPr txBox="1"/>
          <p:nvPr/>
        </p:nvSpPr>
        <p:spPr>
          <a:xfrm>
            <a:off x="1691640" y="3227832"/>
            <a:ext cx="9921240" cy="365760"/>
          </a:xfrm>
          <a:prstGeom prst="rect">
            <a:avLst/>
          </a:prstGeom>
          <a:noFill/>
          <a:ln/>
        </p:spPr>
        <p:txBody>
          <a:bodyPr wrap="square" lIns="0" tIns="0" rIns="0" bIns="0" rtlCol="0" anchor="ctr"/>
          <a:lstStyle/>
          <a:p>
            <a:pPr indent="0" marL="0">
              <a:buNone/>
            </a:pPr>
            <a:r>
              <a:rPr lang="en-US" sz="1250" dirty="0">
                <a:solidFill>
                  <a:srgbClr val="EEF3F9"/>
                </a:solidFill>
              </a:rPr>
              <a:t>Ajuste fino supervisado con LoRA sobre ejemplares del dominio, para cubrir los 4,43 puntos que separan el resultado sobre el corpus del dominio de la meta interna de 85 % de F1</a:t>
            </a:r>
            <a:endParaRPr lang="en-US" sz="1250" dirty="0"/>
          </a:p>
        </p:txBody>
      </p:sp>
      <p:sp>
        <p:nvSpPr>
          <p:cNvPr id="12" name="fase-2"/>
          <p:cNvSpPr/>
          <p:nvPr/>
        </p:nvSpPr>
        <p:spPr>
          <a:xfrm>
            <a:off x="548640" y="3813048"/>
            <a:ext cx="1005840" cy="384048"/>
          </a:xfrm>
          <a:prstGeom prst="roundRect">
            <a:avLst>
              <a:gd name="adj" fmla="val 14286"/>
            </a:avLst>
          </a:prstGeom>
          <a:solidFill>
            <a:srgbClr val="2A9D8F"/>
          </a:solidFill>
          <a:ln w="12700">
            <a:solidFill>
              <a:srgbClr val="333333"/>
            </a:solidFill>
            <a:prstDash val="solid"/>
          </a:ln>
        </p:spPr>
      </p:sp>
      <p:sp>
        <p:nvSpPr>
          <p:cNvPr id="13" name="Text 11"/>
          <p:cNvSpPr txBox="1"/>
          <p:nvPr/>
        </p:nvSpPr>
        <p:spPr>
          <a:xfrm>
            <a:off x="548640" y="3813048"/>
            <a:ext cx="1005840" cy="384048"/>
          </a:xfrm>
          <a:prstGeom prst="rect">
            <a:avLst/>
          </a:prstGeom>
          <a:noFill/>
          <a:ln/>
        </p:spPr>
        <p:txBody>
          <a:bodyPr wrap="square" lIns="0" tIns="0" rIns="0" bIns="0" rtlCol="0" anchor="ctr"/>
          <a:lstStyle/>
          <a:p>
            <a:pPr algn="ctr" indent="0" marL="0">
              <a:buNone/>
            </a:pPr>
            <a:r>
              <a:rPr lang="en-US" sz="1100" b="1" dirty="0">
                <a:solidFill>
                  <a:srgbClr val="0F1C3F"/>
                </a:solidFill>
              </a:rPr>
              <a:t>Fase 3</a:t>
            </a:r>
            <a:endParaRPr lang="en-US" sz="1100" dirty="0"/>
          </a:p>
        </p:txBody>
      </p:sp>
      <p:sp>
        <p:nvSpPr>
          <p:cNvPr id="14" name="Text 12"/>
          <p:cNvSpPr txBox="1"/>
          <p:nvPr/>
        </p:nvSpPr>
        <p:spPr>
          <a:xfrm>
            <a:off x="1691640" y="3831336"/>
            <a:ext cx="9921240" cy="365760"/>
          </a:xfrm>
          <a:prstGeom prst="rect">
            <a:avLst/>
          </a:prstGeom>
          <a:noFill/>
          <a:ln/>
        </p:spPr>
        <p:txBody>
          <a:bodyPr wrap="square" lIns="0" tIns="0" rIns="0" bIns="0" rtlCol="0" anchor="ctr"/>
          <a:lstStyle/>
          <a:p>
            <a:pPr indent="0" marL="0">
              <a:buNone/>
            </a:pPr>
            <a:r>
              <a:rPr lang="en-US" sz="1250" dirty="0">
                <a:solidFill>
                  <a:srgbClr val="EEF3F9"/>
                </a:solidFill>
              </a:rPr>
              <a:t>Ensamble en producción, con votación ponderada entre el modelo rápido y el de mayor capacidad</a:t>
            </a:r>
            <a:endParaRPr lang="en-US" sz="1250" dirty="0"/>
          </a:p>
        </p:txBody>
      </p:sp>
      <p:sp>
        <p:nvSpPr>
          <p:cNvPr id="15" name="fase-3"/>
          <p:cNvSpPr/>
          <p:nvPr/>
        </p:nvSpPr>
        <p:spPr>
          <a:xfrm>
            <a:off x="548640" y="4416552"/>
            <a:ext cx="1005840" cy="384048"/>
          </a:xfrm>
          <a:prstGeom prst="roundRect">
            <a:avLst>
              <a:gd name="adj" fmla="val 14286"/>
            </a:avLst>
          </a:prstGeom>
          <a:solidFill>
            <a:srgbClr val="2A9D8F"/>
          </a:solidFill>
          <a:ln w="12700">
            <a:solidFill>
              <a:srgbClr val="333333"/>
            </a:solidFill>
            <a:prstDash val="solid"/>
          </a:ln>
        </p:spPr>
      </p:sp>
      <p:sp>
        <p:nvSpPr>
          <p:cNvPr id="16" name="Text 14"/>
          <p:cNvSpPr txBox="1"/>
          <p:nvPr/>
        </p:nvSpPr>
        <p:spPr>
          <a:xfrm>
            <a:off x="548640" y="4416552"/>
            <a:ext cx="1005840" cy="384048"/>
          </a:xfrm>
          <a:prstGeom prst="rect">
            <a:avLst/>
          </a:prstGeom>
          <a:noFill/>
          <a:ln/>
        </p:spPr>
        <p:txBody>
          <a:bodyPr wrap="square" lIns="0" tIns="0" rIns="0" bIns="0" rtlCol="0" anchor="ctr"/>
          <a:lstStyle/>
          <a:p>
            <a:pPr algn="ctr" indent="0" marL="0">
              <a:buNone/>
            </a:pPr>
            <a:r>
              <a:rPr lang="en-US" sz="1100" b="1" dirty="0">
                <a:solidFill>
                  <a:srgbClr val="0F1C3F"/>
                </a:solidFill>
              </a:rPr>
              <a:t>Fase 4</a:t>
            </a:r>
            <a:endParaRPr lang="en-US" sz="1100" dirty="0"/>
          </a:p>
        </p:txBody>
      </p:sp>
      <p:sp>
        <p:nvSpPr>
          <p:cNvPr id="17" name="Text 15"/>
          <p:cNvSpPr txBox="1"/>
          <p:nvPr/>
        </p:nvSpPr>
        <p:spPr>
          <a:xfrm>
            <a:off x="1691640" y="4434840"/>
            <a:ext cx="9921240" cy="365760"/>
          </a:xfrm>
          <a:prstGeom prst="rect">
            <a:avLst/>
          </a:prstGeom>
          <a:noFill/>
          <a:ln/>
        </p:spPr>
        <p:txBody>
          <a:bodyPr wrap="square" lIns="0" tIns="0" rIns="0" bIns="0" rtlCol="0" anchor="ctr"/>
          <a:lstStyle/>
          <a:p>
            <a:pPr indent="0" marL="0">
              <a:buNone/>
            </a:pPr>
            <a:r>
              <a:rPr lang="en-US" sz="1250" dirty="0">
                <a:solidFill>
                  <a:srgbClr val="EEF3F9"/>
                </a:solidFill>
              </a:rPr>
              <a:t>Despliegue piloto con feeds de noticias en tiempo real para oficiales de cumplimiento</a:t>
            </a:r>
            <a:endParaRPr lang="en-US" sz="1250" dirty="0"/>
          </a:p>
        </p:txBody>
      </p:sp>
      <p:sp>
        <p:nvSpPr>
          <p:cNvPr id="18" name="fase-4"/>
          <p:cNvSpPr/>
          <p:nvPr/>
        </p:nvSpPr>
        <p:spPr>
          <a:xfrm>
            <a:off x="548640" y="5020056"/>
            <a:ext cx="1005840" cy="384048"/>
          </a:xfrm>
          <a:prstGeom prst="roundRect">
            <a:avLst>
              <a:gd name="adj" fmla="val 14286"/>
            </a:avLst>
          </a:prstGeom>
          <a:solidFill>
            <a:srgbClr val="2A9D8F"/>
          </a:solidFill>
          <a:ln w="12700">
            <a:solidFill>
              <a:srgbClr val="333333"/>
            </a:solidFill>
            <a:prstDash val="solid"/>
          </a:ln>
        </p:spPr>
      </p:sp>
      <p:sp>
        <p:nvSpPr>
          <p:cNvPr id="19" name="Text 17"/>
          <p:cNvSpPr txBox="1"/>
          <p:nvPr/>
        </p:nvSpPr>
        <p:spPr>
          <a:xfrm>
            <a:off x="548640" y="5020056"/>
            <a:ext cx="1005840" cy="384048"/>
          </a:xfrm>
          <a:prstGeom prst="rect">
            <a:avLst/>
          </a:prstGeom>
          <a:noFill/>
          <a:ln/>
        </p:spPr>
        <p:txBody>
          <a:bodyPr wrap="square" lIns="0" tIns="0" rIns="0" bIns="0" rtlCol="0" anchor="ctr"/>
          <a:lstStyle/>
          <a:p>
            <a:pPr algn="ctr" indent="0" marL="0">
              <a:buNone/>
            </a:pPr>
            <a:r>
              <a:rPr lang="en-US" sz="1100" b="1" dirty="0">
                <a:solidFill>
                  <a:srgbClr val="0F1C3F"/>
                </a:solidFill>
              </a:rPr>
              <a:t>Fase 5</a:t>
            </a:r>
            <a:endParaRPr lang="en-US" sz="1100" dirty="0"/>
          </a:p>
        </p:txBody>
      </p:sp>
      <p:sp>
        <p:nvSpPr>
          <p:cNvPr id="20" name="Text 18"/>
          <p:cNvSpPr txBox="1"/>
          <p:nvPr/>
        </p:nvSpPr>
        <p:spPr>
          <a:xfrm>
            <a:off x="1691640" y="5038344"/>
            <a:ext cx="9921240" cy="365760"/>
          </a:xfrm>
          <a:prstGeom prst="rect">
            <a:avLst/>
          </a:prstGeom>
          <a:noFill/>
          <a:ln/>
        </p:spPr>
        <p:txBody>
          <a:bodyPr wrap="square" lIns="0" tIns="0" rIns="0" bIns="0" rtlCol="0" anchor="ctr"/>
          <a:lstStyle/>
          <a:p>
            <a:pPr indent="0" marL="0">
              <a:buNone/>
            </a:pPr>
            <a:r>
              <a:rPr lang="en-US" sz="1250" dirty="0">
                <a:solidFill>
                  <a:srgbClr val="EEF3F9"/>
                </a:solidFill>
              </a:rPr>
              <a:t>Soporte multiidioma, partiendo por el portugués para cobertura regional</a:t>
            </a:r>
            <a:endParaRPr lang="en-US" sz="1250" dirty="0"/>
          </a:p>
        </p:txBody>
      </p:sp>
      <p:sp>
        <p:nvSpPr>
          <p:cNvPr id="21" name="Text 19"/>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200" i="1" dirty="0">
                <a:solidFill>
                  <a:srgbClr val="2A9D8F"/>
                </a:solidFill>
              </a:rPr>
              <a:t>Viabilidad demostrada por encima del umbral declarado, soberanía garantizada en operación desconectada y costo operativo reducido: las tres afirmaciones de la hipótesis quedan contrastadas sobre corpus real.</a:t>
            </a:r>
            <a:endParaRPr lang="en-US" sz="1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9C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10515600" cy="411480"/>
          </a:xfrm>
          <a:prstGeom prst="rect">
            <a:avLst/>
          </a:prstGeom>
          <a:noFill/>
          <a:ln/>
        </p:spPr>
        <p:txBody>
          <a:bodyPr wrap="square" rtlCol="0"/>
          <a:lstStyle/>
          <a:p>
            <a:pPr algn="l" indent="0" marL="0">
              <a:buNone/>
            </a:pPr>
            <a:r>
              <a:rPr lang="en-US" sz="1400" b="1" spc="200" kern="0" dirty="0">
                <a:solidFill>
                  <a:srgbClr val="2A9D8F"/>
                </a:solidFill>
              </a:rPr>
              <a:t>GRACIAS · ESPACIO DE PREGUNTAS Y COMENTARIOS</a:t>
            </a:r>
            <a:endParaRPr lang="en-US" sz="1400" dirty="0"/>
          </a:p>
        </p:txBody>
      </p:sp>
      <p:sp>
        <p:nvSpPr>
          <p:cNvPr id="3" name="Text 0"/>
          <p:cNvSpPr/>
          <p:nvPr>
            <p:ph idx="101" type="title" hasCustomPrompt="1"/>
          </p:nvPr>
        </p:nvSpPr>
        <p:spPr>
          <a:xfrm>
            <a:off x="822960" y="1874520"/>
            <a:ext cx="10515600" cy="1828800"/>
          </a:xfrm>
          <a:prstGeom prst="rect">
            <a:avLst/>
          </a:prstGeom>
          <a:noFill/>
          <a:ln/>
        </p:spPr>
        <p:txBody>
          <a:bodyPr wrap="square" rtlCol="0" anchor="t"/>
          <a:lstStyle/>
          <a:p>
            <a:pPr algn="l" indent="0" marL="0">
              <a:buNone/>
            </a:pPr>
            <a:r>
              <a:rPr lang="en-US" sz="4000" b="1" dirty="0">
                <a:solidFill>
                  <a:schemeClr val="bg1"/>
                </a:solidFill>
              </a:rPr>
              <a:t>Se puede automatizar sin entregar el dato</a:t>
            </a:r>
            <a:endParaRPr lang="en-US" sz="4000" dirty="0"/>
          </a:p>
        </p:txBody>
      </p:sp>
      <p:sp>
        <p:nvSpPr>
          <p:cNvPr id="4" name="Text 0"/>
          <p:cNvSpPr/>
          <p:nvPr>
            <p:ph idx="102" type="body" hasCustomPrompt="1"/>
          </p:nvPr>
        </p:nvSpPr>
        <p:spPr>
          <a:xfrm>
            <a:off x="822960" y="3840480"/>
            <a:ext cx="10515600" cy="914400"/>
          </a:xfrm>
          <a:prstGeom prst="rect">
            <a:avLst/>
          </a:prstGeom>
          <a:noFill/>
          <a:ln/>
        </p:spPr>
        <p:txBody>
          <a:bodyPr wrap="square" rtlCol="0"/>
          <a:lstStyle/>
          <a:p>
            <a:pPr algn="l" indent="0" marL="0">
              <a:buNone/>
            </a:pPr>
            <a:r>
              <a:rPr lang="en-US" sz="1700" dirty="0">
                <a:solidFill>
                  <a:srgbClr val="EEF3F9"/>
                </a:solidFill>
              </a:rPr>
              <a:t>Trece modelos abiertos y 120 artículos reales: 81,47 % de F1 en local sobre el corpus periodístico, a menos de un punto de la mejor alternativa en la nube, y 90,16 % sobre el corpus del dominio AML/KYC.</a:t>
            </a:r>
            <a:endParaRPr lang="en-US" sz="1700" dirty="0"/>
          </a:p>
          <a:p>
            <a:pPr algn="l" indent="0" marL="0">
              <a:buNone/>
            </a:pPr>
            <a:r>
              <a:rPr lang="en-US" sz="1300" dirty="0">
                <a:solidFill>
                  <a:srgbClr val="8FA9C4"/>
                </a:solidFill>
              </a:rPr>
              <a:t>El código, los corpus anotados y los resultados de cada corrida son reproducibles desde su fichero de configuración.</a:t>
            </a:r>
            <a:endParaRPr lang="en-US" sz="1700" dirty="0"/>
          </a:p>
        </p:txBody>
      </p:sp>
      <p:sp>
        <p:nvSpPr>
          <p:cNvPr id="5" name="Text 0"/>
          <p:cNvSpPr/>
          <p:nvPr>
            <p:ph idx="103" type="body" hasCustomPrompt="1"/>
          </p:nvPr>
        </p:nvSpPr>
        <p:spPr>
          <a:xfrm>
            <a:off x="822960" y="5212080"/>
            <a:ext cx="10515600" cy="1005840"/>
          </a:xfrm>
          <a:prstGeom prst="rect">
            <a:avLst/>
          </a:prstGeom>
          <a:noFill/>
          <a:ln/>
        </p:spPr>
        <p:txBody>
          <a:bodyPr wrap="square" rtlCol="0"/>
          <a:lstStyle/>
          <a:p>
            <a:pPr algn="l" indent="0" marL="0">
              <a:buNone/>
            </a:pPr>
            <a:r>
              <a:rPr lang="en-US" sz="1300" b="1" dirty="0">
                <a:solidFill>
                  <a:srgbClr val="FFFFFF"/>
                </a:solidFill>
              </a:rPr>
              <a:t>Eduardo Mauricio Ahumada Gallardo</a:t>
            </a:r>
            <a:endParaRPr lang="en-US" sz="1300" dirty="0"/>
          </a:p>
          <a:p>
            <a:pPr algn="l" indent="0" marL="0">
              <a:buNone/>
            </a:pPr>
            <a:r>
              <a:rPr lang="en-US" sz="1300" dirty="0">
                <a:solidFill>
                  <a:srgbClr val="8FA9C4"/>
                </a:solidFill>
              </a:rPr>
              <a:t>Magíster en Tecnologías de la Información · Universidad Técnica Federico Santa María</a:t>
            </a:r>
            <a:endParaRPr lang="en-US" sz="1300" dirty="0"/>
          </a:p>
          <a:p>
            <a:pPr algn="l" indent="0" marL="0">
              <a:buNone/>
            </a:pPr>
            <a:r>
              <a:rPr lang="en-US" sz="1300" dirty="0">
                <a:solidFill>
                  <a:srgbClr val="8FA9C4"/>
                </a:solidFill>
              </a:rPr>
              <a:t>Borrador de proyecto final · Aplicaciones de inteligencia artificial · 3 de octubre de 2026</a:t>
            </a:r>
            <a:endParaRPr lang="en-US" sz="1300" dirty="0"/>
          </a:p>
        </p:txBody>
      </p:sp>
    </p:spTree>
  </p:cSld>
  <p:clrMapOvr>
    <a:masterClrMapping/>
  </p:clrMapOvr>
</p:sld>
</file>

<file path=ppt/theme/theme1.xml><?xml version="1.0" encoding="utf-8"?>
<a:theme xmlns:a="http://schemas.openxmlformats.org/drawingml/2006/main" name="Soberania MTI">
  <a:themeElements>
    <a:clrScheme name="Soberania MTI">
      <a:dk1>
        <a:srgbClr val="16213E"/>
      </a:dk1>
      <a:lt1>
        <a:srgbClr val="FFFFFF"/>
      </a:lt1>
      <a:dk2>
        <a:srgbClr val="0F1C3F"/>
      </a:dk2>
      <a:lt2>
        <a:srgbClr val="EEF3F9"/>
      </a:lt2>
      <a:accent1>
        <a:srgbClr val="0C6E6D"/>
      </a:accent1>
      <a:accent2>
        <a:srgbClr val="1E2761"/>
      </a:accent2>
      <a:accent3>
        <a:srgbClr val="C1292E"/>
      </a:accent3>
      <a:accent4>
        <a:srgbClr val="E09F3E"/>
      </a:accent4>
      <a:accent5>
        <a:srgbClr val="51708D"/>
      </a:accent5>
      <a:accent6>
        <a:srgbClr val="2A9D8F"/>
      </a:accent6>
      <a:hlink>
        <a:srgbClr val="0C6E6D"/>
      </a:hlink>
      <a:folHlink>
        <a:srgbClr val="51708D"/>
      </a:folHlink>
    </a:clrScheme>
    <a:fontScheme name="Soberania MT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UTFSM - Magister en Tecnologias de la Informacion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Extraccion de entidades con soberania de datos</dc:title>
  <dc:subject>NER soberano para cumplimiento AML/KYC</dc:subject>
  <dc:creator>Eduardo Mauricio Ahumada Gallardo</dc:creator>
  <cp:lastModifiedBy>Eduardo Mauricio Ahumada Gallardo</cp:lastModifiedBy>
  <cp:revision>1</cp:revision>
  <dcterms:created xsi:type="dcterms:W3CDTF">2026-10-02T23:52:43Z</dcterms:created>
  <dcterms:modified xsi:type="dcterms:W3CDTF">2026-10-02T23:52:43Z</dcterms:modified>
</cp:coreProperties>
</file>